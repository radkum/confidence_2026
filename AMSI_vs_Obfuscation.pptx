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88828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1"/>
            <a:ext cx="23044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5936" y="1122363"/>
            <a:ext cx="8789286" cy="2387600"/>
          </a:xfrm>
        </p:spPr>
        <p:txBody>
          <a:bodyPr anchor="b">
            <a:normAutofit/>
          </a:bodyPr>
          <a:lstStyle>
            <a:lvl1pPr algn="l">
              <a:defRPr sz="4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5936" y="3602038"/>
            <a:ext cx="8789286" cy="1655762"/>
          </a:xfrm>
        </p:spPr>
        <p:txBody>
          <a:bodyPr>
            <a:normAutofit/>
          </a:bodyPr>
          <a:lstStyle>
            <a:lvl1pPr marL="0" indent="0" algn="l">
              <a:buNone/>
              <a:defRPr sz="1999" cap="all" baseline="0">
                <a:solidFill>
                  <a:schemeClr val="tx2"/>
                </a:solidFill>
              </a:defRPr>
            </a:lvl1pPr>
            <a:lvl2pPr marL="457063" indent="0" algn="ctr">
              <a:buNone/>
              <a:defRPr sz="19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5668" y="5410202"/>
            <a:ext cx="274248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5936" y="5410202"/>
            <a:ext cx="512355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4334" y="5410200"/>
            <a:ext cx="77088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185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276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4" y="1419227"/>
            <a:ext cx="9903420" cy="2852737"/>
          </a:xfrm>
        </p:spPr>
        <p:txBody>
          <a:bodyPr anchor="b">
            <a:normAutofit/>
          </a:bodyPr>
          <a:lstStyle>
            <a:lvl1pPr>
              <a:defRPr sz="3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114" y="4424362"/>
            <a:ext cx="9903420" cy="1374776"/>
          </a:xfrm>
        </p:spPr>
        <p:txBody>
          <a:bodyPr>
            <a:normAutofit/>
          </a:bodyPr>
          <a:lstStyle>
            <a:lvl1pPr marL="0" indent="0">
              <a:buNone/>
              <a:defRPr sz="1799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724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113" y="2249486"/>
            <a:ext cx="487711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593" y="2249486"/>
            <a:ext cx="487394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707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4" y="619127"/>
            <a:ext cx="990342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9663" y="2249486"/>
            <a:ext cx="464857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399" b="0" cap="all" baseline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113" y="3073398"/>
            <a:ext cx="487712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9141" y="2249485"/>
            <a:ext cx="464539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399" b="0" cap="all" baseline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593" y="3073398"/>
            <a:ext cx="487394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51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687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631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407" y="609601"/>
            <a:ext cx="3855033" cy="1639884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4858" y="592666"/>
            <a:ext cx="5889675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407" y="2249486"/>
            <a:ext cx="3855033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735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6" y="609600"/>
            <a:ext cx="5932963" cy="1639886"/>
          </a:xfrm>
        </p:spPr>
        <p:txBody>
          <a:bodyPr anchor="b"/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78799" y="609602"/>
            <a:ext cx="3665735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113" y="2249486"/>
            <a:ext cx="5932966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802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3" y="4304665"/>
            <a:ext cx="9909774" cy="819355"/>
          </a:xfrm>
        </p:spPr>
        <p:txBody>
          <a:bodyPr anchor="b">
            <a:normAutofit/>
          </a:bodyPr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114" y="606426"/>
            <a:ext cx="9909773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199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067" y="5124020"/>
            <a:ext cx="9908278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873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59" y="609600"/>
            <a:ext cx="9903375" cy="3429000"/>
          </a:xfrm>
        </p:spPr>
        <p:txBody>
          <a:bodyPr anchor="ctr">
            <a:normAutofit/>
          </a:bodyPr>
          <a:lstStyle>
            <a:lvl1pPr>
              <a:defRPr sz="3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113" y="4419600"/>
            <a:ext cx="9901880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304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836" y="609600"/>
            <a:ext cx="9300329" cy="2748429"/>
          </a:xfrm>
        </p:spPr>
        <p:txBody>
          <a:bodyPr anchor="ctr">
            <a:normAutofit/>
          </a:bodyPr>
          <a:lstStyle>
            <a:lvl1pPr>
              <a:defRPr sz="3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196" y="3365557"/>
            <a:ext cx="8750020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114" y="4309919"/>
            <a:ext cx="990342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277" y="732394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4626" y="2764972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929430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3" y="2134042"/>
            <a:ext cx="9903421" cy="2511835"/>
          </a:xfrm>
        </p:spPr>
        <p:txBody>
          <a:bodyPr anchor="b">
            <a:normAutofit/>
          </a:bodyPr>
          <a:lstStyle>
            <a:lvl1pPr>
              <a:defRPr sz="3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067" y="4657655"/>
            <a:ext cx="9901926" cy="1140644"/>
          </a:xfrm>
        </p:spPr>
        <p:txBody>
          <a:bodyPr anchor="t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5294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116" y="609600"/>
            <a:ext cx="990341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113" y="2674463"/>
            <a:ext cx="319606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399" b="0" cap="all" baseline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625" y="3360263"/>
            <a:ext cx="3207899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3591" y="2677635"/>
            <a:ext cx="318355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399" b="0" cap="all" baseline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3040" y="3363435"/>
            <a:ext cx="319499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0397" y="2674463"/>
            <a:ext cx="319413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399" b="0" cap="all" baseline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0397" y="3360263"/>
            <a:ext cx="319413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886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114" y="609600"/>
            <a:ext cx="990341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116" y="4404596"/>
            <a:ext cx="3194408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999" b="0" cap="all" baseline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116" y="2666998"/>
            <a:ext cx="3194408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999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116" y="4980859"/>
            <a:ext cx="3194408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7884" y="4404596"/>
            <a:ext cx="3199567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999" b="0" cap="all" baseline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7884" y="2666998"/>
            <a:ext cx="319810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999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6424" y="4980857"/>
            <a:ext cx="3199567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0523" y="4404595"/>
            <a:ext cx="318991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999" b="0" cap="all" baseline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0398" y="2666998"/>
            <a:ext cx="319413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999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0397" y="4980855"/>
            <a:ext cx="319413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2481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2559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0046" y="609600"/>
            <a:ext cx="2004489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113" y="609600"/>
            <a:ext cx="7746572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784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88828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4" y="1"/>
            <a:ext cx="12050749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116" y="618518"/>
            <a:ext cx="990341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115" y="2249487"/>
            <a:ext cx="990341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4979" y="5883277"/>
            <a:ext cx="27424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114" y="5883276"/>
            <a:ext cx="62376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3645" y="5883275"/>
            <a:ext cx="7708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9807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  <p:sldLayoutId id="2147483796" r:id="rId17"/>
  </p:sldLayoutIdLs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3599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adkum/AmsiProviderScanDisruption" TargetMode="External"/><Relationship Id="rId2" Type="http://schemas.openxmlformats.org/officeDocument/2006/relationships/hyperlink" Target="https://crates.io/crates/ps-parser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learn.microsoft.com/en-us/windows/win32/AMSI" TargetMode="External"/><Relationship Id="rId5" Type="http://schemas.openxmlformats.org/officeDocument/2006/relationships/hyperlink" Target="https://github.com/radkum/confidence_2026" TargetMode="External"/><Relationship Id="rId4" Type="http://schemas.openxmlformats.org/officeDocument/2006/relationships/hyperlink" Target="https://github.com/radkum/sysmon-r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560320"/>
            <a:ext cx="12188952" cy="1737360"/>
          </a:xfrm>
          <a:prstGeom prst="rect">
            <a:avLst/>
          </a:prstGeom>
          <a:solidFill>
            <a:srgbClr val="D85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69748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AMSI vs. Obfuscation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520440"/>
            <a:ext cx="121889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0" i="1">
                <a:solidFill>
                  <a:srgbClr val="FFFFFF"/>
                </a:solidFill>
              </a:rPr>
              <a:t>A Cat-and-Mouse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0102" y="4937760"/>
            <a:ext cx="220874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 dirty="0">
                <a:solidFill>
                  <a:srgbClr val="EBDDC3"/>
                </a:solidFill>
              </a:rPr>
              <a:t>Radosław Kumorek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25178" y="5440680"/>
            <a:ext cx="493859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 i="0" dirty="0">
                <a:solidFill>
                  <a:schemeClr val="tx1">
                    <a:lumMod val="95000"/>
                  </a:schemeClr>
                </a:solidFill>
              </a:rPr>
              <a:t>Two-layer defense against PowerShell-based AMSI bypass</a:t>
            </a:r>
          </a:p>
          <a:p>
            <a:pPr algn="ctr"/>
            <a:r>
              <a:rPr sz="1500" b="0" i="0" dirty="0">
                <a:solidFill>
                  <a:schemeClr val="tx1">
                    <a:lumMod val="95000"/>
                  </a:schemeClr>
                </a:solidFill>
              </a:rPr>
              <a:t>Static </a:t>
            </a:r>
            <a:r>
              <a:rPr sz="1500" b="0" i="0" dirty="0" err="1">
                <a:solidFill>
                  <a:schemeClr val="tx1">
                    <a:lumMod val="95000"/>
                  </a:schemeClr>
                </a:solidFill>
              </a:rPr>
              <a:t>deobfuscation</a:t>
            </a:r>
            <a:r>
              <a:rPr sz="1500" b="0" i="0" dirty="0">
                <a:solidFill>
                  <a:schemeClr val="tx1">
                    <a:lumMod val="95000"/>
                  </a:schemeClr>
                </a:solidFill>
              </a:rPr>
              <a:t> (Rust) + kernel behavioral telemetry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D85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315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486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EBDDC3"/>
                </a:solidFill>
              </a:rPr>
              <a:t>~45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137160" cy="640080"/>
          </a:xfrm>
          <a:prstGeom prst="rect">
            <a:avLst/>
          </a:prstGeom>
          <a:solidFill>
            <a:srgbClr val="D85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I. Script-based threats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19072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Why PowerShell? Stats, real-world droppers.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9376" y="1371600"/>
            <a:ext cx="6492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 dirty="0">
                <a:solidFill>
                  <a:schemeClr val="tx1">
                    <a:lumMod val="85000"/>
                  </a:schemeClr>
                </a:solidFill>
              </a:rPr>
              <a:t>2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48840"/>
            <a:ext cx="137160" cy="640080"/>
          </a:xfrm>
          <a:prstGeom prst="rect">
            <a:avLst/>
          </a:prstGeom>
          <a:solidFill>
            <a:srgbClr val="D85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14884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II. AMSI in 8 minutes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496312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What it is, how it scans, where providers plug 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9375" y="2148840"/>
            <a:ext cx="6492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 dirty="0">
                <a:solidFill>
                  <a:schemeClr val="tx1">
                    <a:lumMod val="85000"/>
                  </a:schemeClr>
                </a:solidFill>
              </a:rPr>
              <a:t>8 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926080"/>
            <a:ext cx="137160" cy="640080"/>
          </a:xfrm>
          <a:prstGeom prst="rect">
            <a:avLst/>
          </a:prstGeom>
          <a:solidFill>
            <a:srgbClr val="D85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92608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III. Bypass + obfuscation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73552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Common techniques, AmsiProviderScanDisruption.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9375" y="2926080"/>
            <a:ext cx="731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 dirty="0">
                <a:solidFill>
                  <a:schemeClr val="tx1">
                    <a:lumMod val="85000"/>
                  </a:schemeClr>
                </a:solidFill>
              </a:rPr>
              <a:t>12 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703320"/>
            <a:ext cx="137160" cy="640080"/>
          </a:xfrm>
          <a:prstGeom prst="rect">
            <a:avLst/>
          </a:prstGeom>
          <a:solidFill>
            <a:srgbClr val="D85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370332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IV. Detection — two layers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050791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Static deobfuscation + kernel behavioral.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9375" y="3703320"/>
            <a:ext cx="731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 dirty="0">
                <a:solidFill>
                  <a:schemeClr val="tx1">
                    <a:lumMod val="85000"/>
                  </a:schemeClr>
                </a:solidFill>
              </a:rPr>
              <a:t>10 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480560"/>
            <a:ext cx="137160" cy="640080"/>
          </a:xfrm>
          <a:prstGeom prst="rect">
            <a:avLst/>
          </a:prstGeom>
          <a:solidFill>
            <a:srgbClr val="D85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448056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V. Live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28032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AABBCC"/>
                </a:solidFill>
              </a:rPr>
              <a:t>5 acts on real bypass samples.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9376" y="4480560"/>
            <a:ext cx="7315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 dirty="0">
                <a:solidFill>
                  <a:schemeClr val="tx1">
                    <a:lumMod val="85000"/>
                  </a:schemeClr>
                </a:solidFill>
              </a:rPr>
              <a:t>8 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257800"/>
            <a:ext cx="137160" cy="640080"/>
          </a:xfrm>
          <a:prstGeom prst="rect">
            <a:avLst/>
          </a:prstGeom>
          <a:solidFill>
            <a:srgbClr val="D85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7280" y="525780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VI. Q&amp;A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605272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009373" y="5257800"/>
            <a:ext cx="7315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 dirty="0">
                <a:solidFill>
                  <a:schemeClr val="tx1">
                    <a:lumMod val="85000"/>
                  </a:schemeClr>
                </a:solidFill>
              </a:rPr>
              <a:t>3 min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D85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315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Why scripts are dangerous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488595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Skrypty</a:t>
            </a:r>
            <a:r>
              <a:rPr sz="2200" b="1" i="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≠ </a:t>
            </a:r>
            <a:r>
              <a:rPr sz="2200" b="1" i="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exploity</a:t>
            </a:r>
            <a:r>
              <a:rPr sz="2200" b="1" i="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. </a:t>
            </a:r>
            <a:r>
              <a:rPr sz="2200" b="1" i="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Są</a:t>
            </a:r>
            <a:r>
              <a:rPr sz="2200" b="1" i="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</a:t>
            </a:r>
            <a:r>
              <a:rPr sz="2200" b="1" i="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jeszcze</a:t>
            </a:r>
            <a:r>
              <a:rPr sz="2200" b="1" i="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</a:t>
            </a:r>
            <a:r>
              <a:rPr sz="2200" b="1" i="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gorsze</a:t>
            </a:r>
            <a:r>
              <a:rPr sz="2200" b="1" i="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657600" cy="4206240"/>
          </a:xfrm>
          <a:prstGeom prst="rect">
            <a:avLst/>
          </a:prstGeom>
          <a:solidFill>
            <a:srgbClr val="2A3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9512" y="2012557"/>
            <a:ext cx="299460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 dirty="0" err="1">
                <a:solidFill>
                  <a:schemeClr val="accent2"/>
                </a:solidFill>
              </a:rPr>
              <a:t>Bliskość</a:t>
            </a:r>
            <a:r>
              <a:rPr sz="2800" b="1" i="0" dirty="0">
                <a:solidFill>
                  <a:schemeClr val="accent2"/>
                </a:solidFill>
              </a:rPr>
              <a:t> </a:t>
            </a:r>
            <a:r>
              <a:rPr sz="2800" b="1" i="0" dirty="0" err="1">
                <a:solidFill>
                  <a:schemeClr val="accent2"/>
                </a:solidFill>
              </a:rPr>
              <a:t>systemu</a:t>
            </a:r>
            <a:endParaRPr sz="2800" b="1" i="0" dirty="0">
              <a:solidFill>
                <a:schemeClr val="accent2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69362" y="2765028"/>
            <a:ext cx="2799036" cy="29956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dirty="0">
                <a:solidFill>
                  <a:srgbClr val="FFFFFF"/>
                </a:solidFill>
              </a:rPr>
              <a:t>• PowerShell, WMI, J</a:t>
            </a:r>
            <a:r>
              <a:rPr lang="en-US" dirty="0">
                <a:solidFill>
                  <a:srgbClr val="FFFFFF"/>
                </a:solidFill>
              </a:rPr>
              <a:t>s</a:t>
            </a:r>
            <a:r>
              <a:rPr dirty="0">
                <a:solidFill>
                  <a:srgbClr val="FFFFFF"/>
                </a:solidFill>
              </a:rPr>
              <a:t>cript</a:t>
            </a:r>
            <a:endParaRPr lang="en-US" dirty="0">
              <a:solidFill>
                <a:srgbClr val="FFFFFF"/>
              </a:solidFill>
            </a:endParaRPr>
          </a:p>
          <a:p>
            <a:pPr algn="l">
              <a:spcAft>
                <a:spcPts val="400"/>
              </a:spcAft>
            </a:pPr>
            <a:endParaRPr dirty="0">
              <a:solidFill>
                <a:srgbClr val="FFFFFF"/>
              </a:solidFill>
            </a:endParaRPr>
          </a:p>
          <a:p>
            <a:pPr algn="l">
              <a:spcAft>
                <a:spcPts val="400"/>
              </a:spcAft>
            </a:pPr>
            <a:r>
              <a:rPr dirty="0">
                <a:solidFill>
                  <a:srgbClr val="FFFFFF"/>
                </a:solidFill>
              </a:rPr>
              <a:t>• </a:t>
            </a:r>
            <a:r>
              <a:rPr dirty="0" err="1">
                <a:solidFill>
                  <a:srgbClr val="FFFFFF"/>
                </a:solidFill>
              </a:rPr>
              <a:t>Pełen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dostęp</a:t>
            </a:r>
            <a:r>
              <a:rPr dirty="0">
                <a:solidFill>
                  <a:srgbClr val="FFFFFF"/>
                </a:solidFill>
              </a:rPr>
              <a:t> do .NET</a:t>
            </a:r>
            <a:endParaRPr lang="en-US" dirty="0">
              <a:solidFill>
                <a:srgbClr val="FFFFFF"/>
              </a:solidFill>
            </a:endParaRPr>
          </a:p>
          <a:p>
            <a:pPr algn="l">
              <a:spcAft>
                <a:spcPts val="400"/>
              </a:spcAft>
            </a:pPr>
            <a:endParaRPr dirty="0">
              <a:solidFill>
                <a:srgbClr val="FFFFFF"/>
              </a:solidFill>
            </a:endParaRPr>
          </a:p>
          <a:p>
            <a:pPr algn="l">
              <a:spcAft>
                <a:spcPts val="400"/>
              </a:spcAft>
            </a:pPr>
            <a:r>
              <a:rPr dirty="0">
                <a:solidFill>
                  <a:srgbClr val="FFFFFF"/>
                </a:solidFill>
              </a:rPr>
              <a:t>• Reflection bez </a:t>
            </a:r>
            <a:r>
              <a:rPr dirty="0" err="1">
                <a:solidFill>
                  <a:srgbClr val="FFFFFF"/>
                </a:solidFill>
              </a:rPr>
              <a:t>kompilacji</a:t>
            </a:r>
            <a:endParaRPr lang="en-US" dirty="0">
              <a:solidFill>
                <a:srgbClr val="FFFFFF"/>
              </a:solidFill>
            </a:endParaRPr>
          </a:p>
          <a:p>
            <a:pPr algn="l">
              <a:spcAft>
                <a:spcPts val="400"/>
              </a:spcAft>
            </a:pPr>
            <a:endParaRPr dirty="0">
              <a:solidFill>
                <a:srgbClr val="FFFFFF"/>
              </a:solidFill>
            </a:endParaRPr>
          </a:p>
          <a:p>
            <a:pPr algn="l">
              <a:spcAft>
                <a:spcPts val="400"/>
              </a:spcAft>
            </a:pPr>
            <a:r>
              <a:rPr dirty="0">
                <a:solidFill>
                  <a:srgbClr val="FFFFFF"/>
                </a:solidFill>
              </a:rPr>
              <a:t>• Living off the land</a:t>
            </a:r>
            <a:endParaRPr lang="en-US" dirty="0">
              <a:solidFill>
                <a:srgbClr val="FFFFFF"/>
              </a:solidFill>
            </a:endParaRPr>
          </a:p>
          <a:p>
            <a:pPr algn="l">
              <a:spcAft>
                <a:spcPts val="400"/>
              </a:spcAft>
            </a:pPr>
            <a:endParaRPr dirty="0">
              <a:solidFill>
                <a:srgbClr val="FFFFFF"/>
              </a:solidFill>
            </a:endParaRPr>
          </a:p>
          <a:p>
            <a:pPr algn="l">
              <a:spcAft>
                <a:spcPts val="400"/>
              </a:spcAft>
            </a:pPr>
            <a:r>
              <a:rPr dirty="0">
                <a:solidFill>
                  <a:srgbClr val="FFFFFF"/>
                </a:solidFill>
              </a:rPr>
              <a:t>• </a:t>
            </a:r>
            <a:r>
              <a:rPr dirty="0" err="1">
                <a:solidFill>
                  <a:srgbClr val="FFFFFF"/>
                </a:solidFill>
              </a:rPr>
              <a:t>Może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wołać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WinAPI</a:t>
            </a:r>
            <a:r>
              <a:rPr dirty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828800"/>
            <a:ext cx="3657600" cy="4206240"/>
          </a:xfrm>
          <a:prstGeom prst="rect">
            <a:avLst/>
          </a:prstGeom>
          <a:solidFill>
            <a:srgbClr val="2A3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96885" y="2045454"/>
            <a:ext cx="264258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 dirty="0">
                <a:solidFill>
                  <a:schemeClr val="accent2"/>
                </a:solidFill>
              </a:rPr>
              <a:t>Brak </a:t>
            </a:r>
            <a:r>
              <a:rPr sz="2800" b="1" i="0" dirty="0" err="1">
                <a:solidFill>
                  <a:schemeClr val="accent2"/>
                </a:solidFill>
              </a:rPr>
              <a:t>wymagań</a:t>
            </a:r>
            <a:endParaRPr sz="2800" b="1" i="0" dirty="0">
              <a:solidFill>
                <a:schemeClr val="accent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996885" y="2764264"/>
            <a:ext cx="2624949" cy="29956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dirty="0">
                <a:solidFill>
                  <a:srgbClr val="FFFFFF"/>
                </a:solidFill>
              </a:rPr>
              <a:t>• Nie </a:t>
            </a:r>
            <a:r>
              <a:rPr dirty="0" err="1">
                <a:solidFill>
                  <a:srgbClr val="FFFFFF"/>
                </a:solidFill>
              </a:rPr>
              <a:t>wymaga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kompilacji</a:t>
            </a:r>
            <a:endParaRPr lang="en-US" dirty="0">
              <a:solidFill>
                <a:srgbClr val="FFFFFF"/>
              </a:solidFill>
            </a:endParaRPr>
          </a:p>
          <a:p>
            <a:pPr algn="l">
              <a:spcAft>
                <a:spcPts val="400"/>
              </a:spcAft>
            </a:pPr>
            <a:endParaRPr dirty="0">
              <a:solidFill>
                <a:srgbClr val="FFFFFF"/>
              </a:solidFill>
            </a:endParaRPr>
          </a:p>
          <a:p>
            <a:pPr algn="l">
              <a:spcAft>
                <a:spcPts val="400"/>
              </a:spcAft>
            </a:pPr>
            <a:r>
              <a:rPr dirty="0">
                <a:solidFill>
                  <a:srgbClr val="FFFFFF"/>
                </a:solidFill>
              </a:rPr>
              <a:t>• Brak </a:t>
            </a:r>
            <a:r>
              <a:rPr dirty="0" err="1">
                <a:solidFill>
                  <a:srgbClr val="FFFFFF"/>
                </a:solidFill>
              </a:rPr>
              <a:t>pliku</a:t>
            </a:r>
            <a:r>
              <a:rPr dirty="0">
                <a:solidFill>
                  <a:srgbClr val="FFFFFF"/>
                </a:solidFill>
              </a:rPr>
              <a:t> PE </a:t>
            </a:r>
            <a:r>
              <a:rPr dirty="0" err="1">
                <a:solidFill>
                  <a:srgbClr val="FFFFFF"/>
                </a:solidFill>
              </a:rPr>
              <a:t>na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dysku</a:t>
            </a:r>
            <a:endParaRPr lang="en-US" dirty="0">
              <a:solidFill>
                <a:srgbClr val="FFFFFF"/>
              </a:solidFill>
            </a:endParaRPr>
          </a:p>
          <a:p>
            <a:pPr algn="l">
              <a:spcAft>
                <a:spcPts val="400"/>
              </a:spcAft>
            </a:pPr>
            <a:endParaRPr dirty="0">
              <a:solidFill>
                <a:srgbClr val="FFFFFF"/>
              </a:solidFill>
            </a:endParaRPr>
          </a:p>
          <a:p>
            <a:pPr algn="l">
              <a:spcAft>
                <a:spcPts val="400"/>
              </a:spcAft>
            </a:pPr>
            <a:r>
              <a:rPr dirty="0">
                <a:solidFill>
                  <a:srgbClr val="FFFFFF"/>
                </a:solidFill>
              </a:rPr>
              <a:t>• Fileless / in-memory</a:t>
            </a:r>
            <a:endParaRPr lang="en-US" dirty="0">
              <a:solidFill>
                <a:srgbClr val="FFFFFF"/>
              </a:solidFill>
            </a:endParaRPr>
          </a:p>
          <a:p>
            <a:pPr algn="l">
              <a:spcAft>
                <a:spcPts val="400"/>
              </a:spcAft>
            </a:pPr>
            <a:endParaRPr dirty="0">
              <a:solidFill>
                <a:srgbClr val="FFFFFF"/>
              </a:solidFill>
            </a:endParaRPr>
          </a:p>
          <a:p>
            <a:pPr algn="l">
              <a:spcAft>
                <a:spcPts val="400"/>
              </a:spcAft>
            </a:pPr>
            <a:r>
              <a:rPr dirty="0">
                <a:solidFill>
                  <a:srgbClr val="FFFFFF"/>
                </a:solidFill>
              </a:rPr>
              <a:t>• </a:t>
            </a:r>
            <a:r>
              <a:rPr dirty="0" err="1">
                <a:solidFill>
                  <a:srgbClr val="FFFFFF"/>
                </a:solidFill>
              </a:rPr>
              <a:t>Łatwy</a:t>
            </a:r>
            <a:r>
              <a:rPr dirty="0">
                <a:solidFill>
                  <a:srgbClr val="FFFFFF"/>
                </a:solidFill>
              </a:rPr>
              <a:t> do </a:t>
            </a:r>
            <a:r>
              <a:rPr dirty="0" err="1">
                <a:solidFill>
                  <a:srgbClr val="FFFFFF"/>
                </a:solidFill>
              </a:rPr>
              <a:t>dostarczenia</a:t>
            </a:r>
            <a:endParaRPr lang="en-US" dirty="0">
              <a:solidFill>
                <a:srgbClr val="FFFFFF"/>
              </a:solidFill>
            </a:endParaRPr>
          </a:p>
          <a:p>
            <a:pPr algn="l">
              <a:spcAft>
                <a:spcPts val="400"/>
              </a:spcAft>
            </a:pPr>
            <a:endParaRPr dirty="0">
              <a:solidFill>
                <a:srgbClr val="FFFFFF"/>
              </a:solidFill>
            </a:endParaRPr>
          </a:p>
          <a:p>
            <a:pPr algn="l">
              <a:spcAft>
                <a:spcPts val="400"/>
              </a:spcAft>
            </a:pPr>
            <a:r>
              <a:rPr dirty="0">
                <a:solidFill>
                  <a:srgbClr val="FFFFFF"/>
                </a:solidFill>
              </a:rPr>
              <a:t>• ≠ Fileless (ale </a:t>
            </a:r>
            <a:r>
              <a:rPr dirty="0" err="1">
                <a:solidFill>
                  <a:srgbClr val="FFFFFF"/>
                </a:solidFill>
              </a:rPr>
              <a:t>ułatwia</a:t>
            </a:r>
            <a:r>
              <a:rPr dirty="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828800"/>
            <a:ext cx="3200400" cy="4206240"/>
          </a:xfrm>
          <a:prstGeom prst="rect">
            <a:avLst/>
          </a:prstGeom>
          <a:solidFill>
            <a:srgbClr val="2A3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2107009"/>
            <a:ext cx="327442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 dirty="0" err="1">
                <a:solidFill>
                  <a:schemeClr val="accent2"/>
                </a:solidFill>
              </a:rPr>
              <a:t>Trudność</a:t>
            </a:r>
            <a:r>
              <a:rPr sz="2600" b="1" i="0" dirty="0">
                <a:solidFill>
                  <a:schemeClr val="accent2"/>
                </a:solidFill>
              </a:rPr>
              <a:t> w </a:t>
            </a:r>
            <a:r>
              <a:rPr sz="2600" b="1" i="0" dirty="0" err="1">
                <a:solidFill>
                  <a:schemeClr val="accent2"/>
                </a:solidFill>
              </a:rPr>
              <a:t>detekcji</a:t>
            </a:r>
            <a:endParaRPr sz="2600" b="1" i="0" dirty="0">
              <a:solidFill>
                <a:schemeClr val="accent2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823960" y="2782552"/>
            <a:ext cx="2422394" cy="29956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dirty="0">
                <a:solidFill>
                  <a:srgbClr val="FFFFFF"/>
                </a:solidFill>
              </a:rPr>
              <a:t>• </a:t>
            </a:r>
            <a:r>
              <a:rPr dirty="0" err="1">
                <a:solidFill>
                  <a:srgbClr val="FFFFFF"/>
                </a:solidFill>
              </a:rPr>
              <a:t>Zaufany</a:t>
            </a:r>
            <a:r>
              <a:rPr dirty="0">
                <a:solidFill>
                  <a:srgbClr val="FFFFFF"/>
                </a:solidFill>
              </a:rPr>
              <a:t> interpreter</a:t>
            </a:r>
            <a:endParaRPr lang="en-US" dirty="0">
              <a:solidFill>
                <a:srgbClr val="FFFFFF"/>
              </a:solidFill>
            </a:endParaRPr>
          </a:p>
          <a:p>
            <a:pPr algn="l">
              <a:spcAft>
                <a:spcPts val="400"/>
              </a:spcAft>
            </a:pPr>
            <a:endParaRPr dirty="0">
              <a:solidFill>
                <a:srgbClr val="FFFFFF"/>
              </a:solidFill>
            </a:endParaRPr>
          </a:p>
          <a:p>
            <a:pPr algn="l">
              <a:spcAft>
                <a:spcPts val="400"/>
              </a:spcAft>
            </a:pPr>
            <a:r>
              <a:rPr dirty="0">
                <a:solidFill>
                  <a:srgbClr val="FFFFFF"/>
                </a:solidFill>
              </a:rPr>
              <a:t>• Code = data (IEX)</a:t>
            </a:r>
            <a:endParaRPr lang="en-US" dirty="0">
              <a:solidFill>
                <a:srgbClr val="FFFFFF"/>
              </a:solidFill>
            </a:endParaRPr>
          </a:p>
          <a:p>
            <a:pPr algn="l">
              <a:spcAft>
                <a:spcPts val="400"/>
              </a:spcAft>
            </a:pPr>
            <a:endParaRPr dirty="0">
              <a:solidFill>
                <a:srgbClr val="FFFFFF"/>
              </a:solidFill>
            </a:endParaRPr>
          </a:p>
          <a:p>
            <a:pPr algn="l">
              <a:spcAft>
                <a:spcPts val="400"/>
              </a:spcAft>
            </a:pPr>
            <a:r>
              <a:rPr dirty="0">
                <a:solidFill>
                  <a:srgbClr val="FFFFFF"/>
                </a:solidFill>
              </a:rPr>
              <a:t>• </a:t>
            </a:r>
            <a:r>
              <a:rPr dirty="0" err="1">
                <a:solidFill>
                  <a:srgbClr val="FFFFFF"/>
                </a:solidFill>
              </a:rPr>
              <a:t>Obfuskacja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err="1">
                <a:solidFill>
                  <a:srgbClr val="FFFFFF"/>
                </a:solidFill>
              </a:rPr>
              <a:t>trywialna</a:t>
            </a:r>
            <a:endParaRPr lang="en-US" dirty="0">
              <a:solidFill>
                <a:srgbClr val="FFFFFF"/>
              </a:solidFill>
            </a:endParaRPr>
          </a:p>
          <a:p>
            <a:pPr algn="l">
              <a:spcAft>
                <a:spcPts val="400"/>
              </a:spcAft>
            </a:pPr>
            <a:endParaRPr dirty="0">
              <a:solidFill>
                <a:srgbClr val="FFFFFF"/>
              </a:solidFill>
            </a:endParaRPr>
          </a:p>
          <a:p>
            <a:pPr algn="l">
              <a:spcAft>
                <a:spcPts val="400"/>
              </a:spcAft>
            </a:pPr>
            <a:r>
              <a:rPr dirty="0">
                <a:solidFill>
                  <a:srgbClr val="FFFFFF"/>
                </a:solidFill>
              </a:rPr>
              <a:t>• </a:t>
            </a:r>
            <a:r>
              <a:rPr dirty="0" err="1">
                <a:solidFill>
                  <a:srgbClr val="FFFFFF"/>
                </a:solidFill>
              </a:rPr>
              <a:t>Statyka</a:t>
            </a:r>
            <a:r>
              <a:rPr dirty="0">
                <a:solidFill>
                  <a:srgbClr val="FFFFFF"/>
                </a:solidFill>
              </a:rPr>
              <a:t> ma </a:t>
            </a:r>
            <a:r>
              <a:rPr dirty="0" err="1">
                <a:solidFill>
                  <a:srgbClr val="FFFFFF"/>
                </a:solidFill>
              </a:rPr>
              <a:t>pułap</a:t>
            </a:r>
            <a:endParaRPr lang="en-US" dirty="0">
              <a:solidFill>
                <a:srgbClr val="FFFFFF"/>
              </a:solidFill>
            </a:endParaRPr>
          </a:p>
          <a:p>
            <a:pPr algn="l">
              <a:spcAft>
                <a:spcPts val="400"/>
              </a:spcAft>
            </a:pPr>
            <a:endParaRPr dirty="0">
              <a:solidFill>
                <a:srgbClr val="FFFFFF"/>
              </a:solidFill>
            </a:endParaRPr>
          </a:p>
          <a:p>
            <a:pPr algn="l">
              <a:spcAft>
                <a:spcPts val="400"/>
              </a:spcAft>
            </a:pPr>
            <a:r>
              <a:rPr dirty="0">
                <a:solidFill>
                  <a:srgbClr val="FFFFFF"/>
                </a:solidFill>
              </a:rPr>
              <a:t>• → Halting problem!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D85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I.2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315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PowerShell — primary vector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06263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 dirty="0">
                <a:solidFill>
                  <a:schemeClr val="tx1">
                    <a:lumMod val="85000"/>
                  </a:schemeClr>
                </a:solidFill>
              </a:rPr>
              <a:t>PowerShell jest </a:t>
            </a:r>
            <a:r>
              <a:rPr sz="1500" b="0" i="0" dirty="0" err="1">
                <a:solidFill>
                  <a:schemeClr val="tx1">
                    <a:lumMod val="85000"/>
                  </a:schemeClr>
                </a:solidFill>
              </a:rPr>
              <a:t>preinstalowany</a:t>
            </a:r>
            <a:r>
              <a:rPr sz="1500" b="0" i="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sz="1500" b="0" i="0" dirty="0" err="1">
                <a:solidFill>
                  <a:schemeClr val="tx1">
                    <a:lumMod val="85000"/>
                  </a:schemeClr>
                </a:solidFill>
              </a:rPr>
              <a:t>na</a:t>
            </a:r>
            <a:r>
              <a:rPr sz="1500" b="0" i="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sz="1500" b="0" i="0" dirty="0" err="1">
                <a:solidFill>
                  <a:schemeClr val="tx1">
                    <a:lumMod val="85000"/>
                  </a:schemeClr>
                </a:solidFill>
              </a:rPr>
              <a:t>każdym</a:t>
            </a:r>
            <a:r>
              <a:rPr sz="1500" b="0" i="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sz="1500" b="0" i="0" dirty="0" err="1">
                <a:solidFill>
                  <a:schemeClr val="tx1">
                    <a:lumMod val="85000"/>
                  </a:schemeClr>
                </a:solidFill>
              </a:rPr>
              <a:t>Windowsie</a:t>
            </a:r>
            <a:r>
              <a:rPr sz="1500" b="0" i="0" dirty="0">
                <a:solidFill>
                  <a:schemeClr val="tx1">
                    <a:lumMod val="85000"/>
                  </a:schemeClr>
                </a:solidFill>
              </a:rPr>
              <a:t> od </a:t>
            </a:r>
            <a:r>
              <a:rPr sz="1500" b="0" i="0" dirty="0" err="1">
                <a:solidFill>
                  <a:schemeClr val="tx1">
                    <a:lumMod val="85000"/>
                  </a:schemeClr>
                </a:solidFill>
              </a:rPr>
              <a:t>ery</a:t>
            </a:r>
            <a:r>
              <a:rPr sz="1500" b="0" i="0" dirty="0">
                <a:solidFill>
                  <a:schemeClr val="tx1">
                    <a:lumMod val="85000"/>
                  </a:schemeClr>
                </a:solidFill>
              </a:rPr>
              <a:t> Win 7 SP1.</a:t>
            </a:r>
          </a:p>
          <a:p>
            <a:pPr algn="l"/>
            <a:r>
              <a:rPr sz="1500" b="0" i="0" dirty="0" err="1">
                <a:solidFill>
                  <a:schemeClr val="tx1">
                    <a:lumMod val="85000"/>
                  </a:schemeClr>
                </a:solidFill>
              </a:rPr>
              <a:t>Dla</a:t>
            </a:r>
            <a:r>
              <a:rPr sz="1500" b="0" i="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sz="1500" b="0" i="0" dirty="0" err="1">
                <a:solidFill>
                  <a:schemeClr val="tx1">
                    <a:lumMod val="85000"/>
                  </a:schemeClr>
                </a:solidFill>
              </a:rPr>
              <a:t>atakującego</a:t>
            </a:r>
            <a:r>
              <a:rPr sz="1500" b="0" i="0" dirty="0">
                <a:solidFill>
                  <a:schemeClr val="tx1">
                    <a:lumMod val="85000"/>
                  </a:schemeClr>
                </a:solidFill>
              </a:rPr>
              <a:t>: </a:t>
            </a:r>
            <a:r>
              <a:rPr sz="1500" b="0" i="0" dirty="0" err="1">
                <a:solidFill>
                  <a:schemeClr val="tx1">
                    <a:lumMod val="85000"/>
                  </a:schemeClr>
                </a:solidFill>
              </a:rPr>
              <a:t>zaufany</a:t>
            </a:r>
            <a:r>
              <a:rPr sz="1500" b="0" i="0" dirty="0">
                <a:solidFill>
                  <a:schemeClr val="tx1">
                    <a:lumMod val="85000"/>
                  </a:schemeClr>
                </a:solidFill>
              </a:rPr>
              <a:t> binary, </a:t>
            </a:r>
            <a:r>
              <a:rPr sz="1500" b="0" i="0" dirty="0" err="1">
                <a:solidFill>
                  <a:schemeClr val="tx1">
                    <a:lumMod val="85000"/>
                  </a:schemeClr>
                </a:solidFill>
              </a:rPr>
              <a:t>podpisany</a:t>
            </a:r>
            <a:r>
              <a:rPr sz="1500" b="0" i="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sz="1500" b="0" i="0" dirty="0" err="1">
                <a:solidFill>
                  <a:schemeClr val="tx1">
                    <a:lumMod val="85000"/>
                  </a:schemeClr>
                </a:solidFill>
              </a:rPr>
              <a:t>przez</a:t>
            </a:r>
            <a:r>
              <a:rPr sz="1500" b="0" i="0" dirty="0">
                <a:solidFill>
                  <a:schemeClr val="tx1">
                    <a:lumMod val="85000"/>
                  </a:schemeClr>
                </a:solidFill>
              </a:rPr>
              <a:t> Microsoft, z </a:t>
            </a:r>
            <a:r>
              <a:rPr sz="1500" b="0" i="0" dirty="0" err="1">
                <a:solidFill>
                  <a:schemeClr val="tx1">
                    <a:lumMod val="85000"/>
                  </a:schemeClr>
                </a:solidFill>
              </a:rPr>
              <a:t>pełnym</a:t>
            </a:r>
            <a:r>
              <a:rPr sz="1500" b="0" i="0" dirty="0">
                <a:solidFill>
                  <a:schemeClr val="tx1">
                    <a:lumMod val="85000"/>
                  </a:schemeClr>
                </a:solidFill>
              </a:rPr>
              <a:t> .NET runtime.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232313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 dirty="0" err="1">
                <a:solidFill>
                  <a:schemeClr val="accent2"/>
                </a:solidFill>
              </a:rPr>
              <a:t>Typowe</a:t>
            </a:r>
            <a:r>
              <a:rPr sz="2800" b="1" i="0" dirty="0">
                <a:solidFill>
                  <a:schemeClr val="accent2"/>
                </a:solidFill>
              </a:rPr>
              <a:t> role: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63758"/>
            <a:ext cx="6974730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000" dirty="0">
                <a:solidFill>
                  <a:srgbClr val="FFFFFF"/>
                </a:solidFill>
              </a:rPr>
              <a:t>Dropper / loader   —  </a:t>
            </a:r>
            <a:r>
              <a:rPr sz="2000" dirty="0" err="1">
                <a:solidFill>
                  <a:srgbClr val="FFFFFF"/>
                </a:solidFill>
              </a:rPr>
              <a:t>pobiera</a:t>
            </a:r>
            <a:r>
              <a:rPr sz="2000" dirty="0">
                <a:solidFill>
                  <a:srgbClr val="FFFFFF"/>
                </a:solidFill>
              </a:rPr>
              <a:t> payload, </a:t>
            </a:r>
            <a:r>
              <a:rPr sz="2000" dirty="0" err="1">
                <a:solidFill>
                  <a:srgbClr val="FFFFFF"/>
                </a:solidFill>
              </a:rPr>
              <a:t>ładuje</a:t>
            </a:r>
            <a:r>
              <a:rPr sz="2000" dirty="0">
                <a:solidFill>
                  <a:srgbClr val="FFFFFF"/>
                </a:solidFill>
              </a:rPr>
              <a:t> go w </a:t>
            </a:r>
            <a:r>
              <a:rPr sz="2000" dirty="0" err="1">
                <a:solidFill>
                  <a:srgbClr val="FFFFFF"/>
                </a:solidFill>
              </a:rPr>
              <a:t>pamięci</a:t>
            </a:r>
            <a:endParaRPr lang="en-US" sz="2000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FFFFFF"/>
                </a:solidFill>
              </a:rPr>
              <a:t>Post-exploit       —  </a:t>
            </a:r>
            <a:r>
              <a:rPr lang="fr-FR" sz="2000" dirty="0" err="1">
                <a:solidFill>
                  <a:srgbClr val="FFFFFF"/>
                </a:solidFill>
              </a:rPr>
              <a:t>lateral</a:t>
            </a:r>
            <a:r>
              <a:rPr lang="fr-FR" sz="2000" dirty="0">
                <a:solidFill>
                  <a:srgbClr val="FFFFFF"/>
                </a:solidFill>
              </a:rPr>
              <a:t> </a:t>
            </a:r>
            <a:r>
              <a:rPr lang="fr-FR" sz="2000" dirty="0" err="1">
                <a:solidFill>
                  <a:srgbClr val="FFFFFF"/>
                </a:solidFill>
              </a:rPr>
              <a:t>movement</a:t>
            </a:r>
            <a:r>
              <a:rPr lang="fr-FR" sz="2000" dirty="0">
                <a:solidFill>
                  <a:srgbClr val="FFFFFF"/>
                </a:solidFill>
              </a:rPr>
              <a:t>, </a:t>
            </a:r>
            <a:r>
              <a:rPr lang="fr-FR" sz="2000" dirty="0" err="1">
                <a:solidFill>
                  <a:srgbClr val="FFFFFF"/>
                </a:solidFill>
              </a:rPr>
              <a:t>persistence</a:t>
            </a:r>
            <a:r>
              <a:rPr lang="fr-FR" sz="2000" dirty="0">
                <a:solidFill>
                  <a:srgbClr val="FFFFFF"/>
                </a:solidFill>
              </a:rPr>
              <a:t>, </a:t>
            </a:r>
            <a:r>
              <a:rPr lang="fr-FR" sz="2000" dirty="0" err="1">
                <a:solidFill>
                  <a:srgbClr val="FFFFFF"/>
                </a:solidFill>
              </a:rPr>
              <a:t>recon</a:t>
            </a:r>
            <a:endParaRPr lang="fr-FR" sz="2000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Credential dumper  —  Invoke-</a:t>
            </a:r>
            <a:r>
              <a:rPr lang="en-US" sz="2000" dirty="0" err="1">
                <a:solidFill>
                  <a:srgbClr val="FFFFFF"/>
                </a:solidFill>
              </a:rPr>
              <a:t>Mimikatz</a:t>
            </a:r>
            <a:r>
              <a:rPr lang="en-US" sz="2000" dirty="0">
                <a:solidFill>
                  <a:srgbClr val="FFFFFF"/>
                </a:solidFill>
              </a:rPr>
              <a:t>, LSASS access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</a:rPr>
              <a:t>Ransomware stager  —  encrypt + exfiltrate + ransom note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029200"/>
            <a:ext cx="10698480" cy="1371600"/>
          </a:xfrm>
          <a:prstGeom prst="rect">
            <a:avLst/>
          </a:prstGeom>
          <a:solidFill>
            <a:srgbClr val="2A3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1" dirty="0" err="1">
                <a:solidFill>
                  <a:srgbClr val="94B6D2"/>
                </a:solidFill>
              </a:rPr>
              <a:t>Przykład</a:t>
            </a:r>
            <a:r>
              <a:rPr sz="1200" b="0" i="1" dirty="0">
                <a:solidFill>
                  <a:srgbClr val="94B6D2"/>
                </a:solidFill>
              </a:rPr>
              <a:t> — </a:t>
            </a:r>
            <a:r>
              <a:rPr sz="1200" b="0" i="1" dirty="0" err="1">
                <a:solidFill>
                  <a:srgbClr val="94B6D2"/>
                </a:solidFill>
              </a:rPr>
              <a:t>klasyczny</a:t>
            </a:r>
            <a:r>
              <a:rPr sz="1200" b="0" i="1" dirty="0">
                <a:solidFill>
                  <a:srgbClr val="94B6D2"/>
                </a:solidFill>
              </a:rPr>
              <a:t> dropper: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powershell -nop -w hidden -enc &lt;base64&gt;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553228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1100" b="0" i="1" dirty="0">
                <a:solidFill>
                  <a:schemeClr val="tx1">
                    <a:lumMod val="85000"/>
                  </a:schemeClr>
                </a:solidFill>
              </a:rPr>
              <a:t>Where: </a:t>
            </a:r>
            <a:r>
              <a:rPr sz="1100" b="0" i="1" dirty="0">
                <a:solidFill>
                  <a:schemeClr val="tx1">
                    <a:lumMod val="85000"/>
                  </a:schemeClr>
                </a:solidFill>
              </a:rPr>
              <a:t>-</a:t>
            </a:r>
            <a:r>
              <a:rPr sz="1100" b="0" i="1" dirty="0" err="1">
                <a:solidFill>
                  <a:schemeClr val="tx1">
                    <a:lumMod val="85000"/>
                  </a:schemeClr>
                </a:solidFill>
              </a:rPr>
              <a:t>nop</a:t>
            </a:r>
            <a:r>
              <a:rPr sz="1100" b="0" i="1" dirty="0">
                <a:solidFill>
                  <a:schemeClr val="tx1">
                    <a:lumMod val="85000"/>
                  </a:schemeClr>
                </a:solidFill>
              </a:rPr>
              <a:t> = </a:t>
            </a:r>
            <a:r>
              <a:rPr sz="1100" b="0" i="1" dirty="0" err="1">
                <a:solidFill>
                  <a:schemeClr val="tx1">
                    <a:lumMod val="85000"/>
                  </a:schemeClr>
                </a:solidFill>
              </a:rPr>
              <a:t>NoProfile</a:t>
            </a:r>
            <a:r>
              <a:rPr sz="1100" b="0" i="1" dirty="0">
                <a:solidFill>
                  <a:schemeClr val="tx1">
                    <a:lumMod val="85000"/>
                  </a:schemeClr>
                </a:solidFill>
              </a:rPr>
              <a:t>,  -w hidden = no console window,  -enc = base64-encoded command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D85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315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AMSI — Anti-Malware Scan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Microsoft-owy interfejs zaproponowany w Windows 10 (2015).</a:t>
            </a:r>
          </a:p>
          <a:p>
            <a:pPr algn="l"/>
            <a:r>
              <a:rPr sz="1600" b="0" i="0">
                <a:solidFill>
                  <a:srgbClr val="FFFFFF"/>
                </a:solidFill>
              </a:rPr>
              <a:t>Pozwala AV-om skanować *zawartość* skryptu PRZED jego wykonaniem.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99445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 dirty="0">
                <a:solidFill>
                  <a:schemeClr val="accent2"/>
                </a:solidFill>
              </a:rPr>
              <a:t>Co AMSI </a:t>
            </a:r>
            <a:r>
              <a:rPr sz="1800" b="1" i="0" dirty="0" err="1">
                <a:solidFill>
                  <a:schemeClr val="accent2"/>
                </a:solidFill>
              </a:rPr>
              <a:t>skanuje</a:t>
            </a:r>
            <a:r>
              <a:rPr sz="1800" b="1" i="0" dirty="0">
                <a:solidFill>
                  <a:schemeClr val="accent2"/>
                </a:solidFill>
              </a:rPr>
              <a:t>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10058400" cy="2514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dirty="0">
                <a:solidFill>
                  <a:srgbClr val="D85218"/>
                </a:solidFill>
              </a:rPr>
              <a:t>▸ </a:t>
            </a:r>
            <a:r>
              <a:rPr sz="1500" dirty="0">
                <a:solidFill>
                  <a:srgbClr val="FFFFFF"/>
                </a:solidFill>
              </a:rPr>
              <a:t>PowerShell — </a:t>
            </a:r>
            <a:r>
              <a:rPr sz="1500" dirty="0" err="1">
                <a:solidFill>
                  <a:srgbClr val="FFFFFF"/>
                </a:solidFill>
              </a:rPr>
              <a:t>całe</a:t>
            </a:r>
            <a:r>
              <a:rPr sz="1500" dirty="0">
                <a:solidFill>
                  <a:srgbClr val="FFFFFF"/>
                </a:solidFill>
              </a:rPr>
              <a:t> </a:t>
            </a:r>
            <a:r>
              <a:rPr sz="1500" dirty="0" err="1">
                <a:solidFill>
                  <a:srgbClr val="FFFFFF"/>
                </a:solidFill>
              </a:rPr>
              <a:t>bloki</a:t>
            </a:r>
            <a:r>
              <a:rPr sz="1500" dirty="0">
                <a:solidFill>
                  <a:srgbClr val="FFFFFF"/>
                </a:solidFill>
              </a:rPr>
              <a:t> </a:t>
            </a:r>
            <a:r>
              <a:rPr sz="1500" dirty="0" err="1">
                <a:solidFill>
                  <a:srgbClr val="FFFFFF"/>
                </a:solidFill>
              </a:rPr>
              <a:t>skryptów</a:t>
            </a:r>
            <a:r>
              <a:rPr sz="1500" dirty="0">
                <a:solidFill>
                  <a:srgbClr val="FFFFFF"/>
                </a:solidFill>
              </a:rPr>
              <a:t>, </a:t>
            </a:r>
            <a:r>
              <a:rPr sz="1500" dirty="0" err="1">
                <a:solidFill>
                  <a:srgbClr val="FFFFFF"/>
                </a:solidFill>
              </a:rPr>
              <a:t>dynamiczne</a:t>
            </a:r>
            <a:r>
              <a:rPr sz="1500" dirty="0">
                <a:solidFill>
                  <a:srgbClr val="FFFFFF"/>
                </a:solidFill>
              </a:rPr>
              <a:t> `Invoke-Expression`</a:t>
            </a:r>
          </a:p>
          <a:p>
            <a:pPr algn="l"/>
            <a:r>
              <a:rPr sz="1500" b="1" dirty="0">
                <a:solidFill>
                  <a:srgbClr val="D85218"/>
                </a:solidFill>
              </a:rPr>
              <a:t>▸ </a:t>
            </a:r>
            <a:r>
              <a:rPr sz="1500" dirty="0">
                <a:solidFill>
                  <a:srgbClr val="FFFFFF"/>
                </a:solidFill>
              </a:rPr>
              <a:t>JScript / VBScript — Windows Script Host</a:t>
            </a:r>
          </a:p>
          <a:p>
            <a:pPr algn="l"/>
            <a:r>
              <a:rPr sz="1500" b="1" dirty="0">
                <a:solidFill>
                  <a:srgbClr val="D85218"/>
                </a:solidFill>
              </a:rPr>
              <a:t>▸ </a:t>
            </a:r>
            <a:r>
              <a:rPr sz="1500" dirty="0">
                <a:solidFill>
                  <a:srgbClr val="FFFFFF"/>
                </a:solidFill>
              </a:rPr>
              <a:t>WMI — </a:t>
            </a:r>
            <a:r>
              <a:rPr sz="1500" dirty="0" err="1">
                <a:solidFill>
                  <a:srgbClr val="FFFFFF"/>
                </a:solidFill>
              </a:rPr>
              <a:t>operacje</a:t>
            </a:r>
            <a:r>
              <a:rPr sz="1500" dirty="0">
                <a:solidFill>
                  <a:srgbClr val="FFFFFF"/>
                </a:solidFill>
              </a:rPr>
              <a:t> </a:t>
            </a:r>
            <a:r>
              <a:rPr sz="1500" dirty="0" err="1">
                <a:solidFill>
                  <a:srgbClr val="FFFFFF"/>
                </a:solidFill>
              </a:rPr>
              <a:t>na</a:t>
            </a:r>
            <a:r>
              <a:rPr sz="1500" dirty="0">
                <a:solidFill>
                  <a:srgbClr val="FFFFFF"/>
                </a:solidFill>
              </a:rPr>
              <a:t> </a:t>
            </a:r>
            <a:r>
              <a:rPr sz="1500" dirty="0" err="1">
                <a:solidFill>
                  <a:srgbClr val="FFFFFF"/>
                </a:solidFill>
              </a:rPr>
              <a:t>obiektach</a:t>
            </a:r>
            <a:r>
              <a:rPr sz="1500" dirty="0">
                <a:solidFill>
                  <a:srgbClr val="FFFFFF"/>
                </a:solidFill>
              </a:rPr>
              <a:t> COM</a:t>
            </a:r>
          </a:p>
          <a:p>
            <a:pPr algn="l"/>
            <a:r>
              <a:rPr sz="1500" b="1" dirty="0">
                <a:solidFill>
                  <a:srgbClr val="D85218"/>
                </a:solidFill>
              </a:rPr>
              <a:t>▸ </a:t>
            </a:r>
            <a:r>
              <a:rPr sz="1500" dirty="0">
                <a:solidFill>
                  <a:srgbClr val="FFFFFF"/>
                </a:solidFill>
              </a:rPr>
              <a:t>Office macros, .NET </a:t>
            </a:r>
            <a:r>
              <a:rPr sz="1500" dirty="0" err="1">
                <a:solidFill>
                  <a:srgbClr val="FFFFFF"/>
                </a:solidFill>
              </a:rPr>
              <a:t>Assembly.Load</a:t>
            </a:r>
            <a:r>
              <a:rPr sz="1500" dirty="0">
                <a:solidFill>
                  <a:srgbClr val="FFFFFF"/>
                </a:solidFill>
              </a:rPr>
              <a:t>()</a:t>
            </a:r>
          </a:p>
          <a:p>
            <a:pPr algn="l"/>
            <a:r>
              <a:rPr sz="1500" b="1" dirty="0">
                <a:solidFill>
                  <a:srgbClr val="D85218"/>
                </a:solidFill>
              </a:rPr>
              <a:t>▸ </a:t>
            </a:r>
            <a:r>
              <a:rPr sz="1500" dirty="0" err="1">
                <a:solidFill>
                  <a:srgbClr val="FFFFFF"/>
                </a:solidFill>
              </a:rPr>
              <a:t>Każda</a:t>
            </a:r>
            <a:r>
              <a:rPr sz="1500" dirty="0">
                <a:solidFill>
                  <a:srgbClr val="FFFFFF"/>
                </a:solidFill>
              </a:rPr>
              <a:t> </a:t>
            </a:r>
            <a:r>
              <a:rPr sz="1500" dirty="0" err="1">
                <a:solidFill>
                  <a:srgbClr val="FFFFFF"/>
                </a:solidFill>
              </a:rPr>
              <a:t>aplikacja</a:t>
            </a:r>
            <a:r>
              <a:rPr sz="1500" dirty="0">
                <a:solidFill>
                  <a:srgbClr val="FFFFFF"/>
                </a:solidFill>
              </a:rPr>
              <a:t> </a:t>
            </a:r>
            <a:r>
              <a:rPr sz="1500" dirty="0" err="1">
                <a:solidFill>
                  <a:srgbClr val="FFFFFF"/>
                </a:solidFill>
              </a:rPr>
              <a:t>może</a:t>
            </a:r>
            <a:r>
              <a:rPr sz="1500" dirty="0">
                <a:solidFill>
                  <a:srgbClr val="FFFFFF"/>
                </a:solidFill>
              </a:rPr>
              <a:t> </a:t>
            </a:r>
            <a:r>
              <a:rPr sz="1500" dirty="0" err="1">
                <a:solidFill>
                  <a:srgbClr val="FFFFFF"/>
                </a:solidFill>
              </a:rPr>
              <a:t>wywołać</a:t>
            </a:r>
            <a:r>
              <a:rPr sz="1500" dirty="0">
                <a:solidFill>
                  <a:srgbClr val="FFFFFF"/>
                </a:solidFill>
              </a:rPr>
              <a:t> `</a:t>
            </a:r>
            <a:r>
              <a:rPr sz="1500" dirty="0" err="1">
                <a:solidFill>
                  <a:srgbClr val="FFFFFF"/>
                </a:solidFill>
              </a:rPr>
              <a:t>AmsiScanBuffer</a:t>
            </a:r>
            <a:r>
              <a:rPr sz="1500" dirty="0">
                <a:solidFill>
                  <a:srgbClr val="FFFFFF"/>
                </a:solidFill>
              </a:rPr>
              <a:t>` </a:t>
            </a:r>
            <a:r>
              <a:rPr sz="1500" dirty="0" err="1">
                <a:solidFill>
                  <a:srgbClr val="FFFFFF"/>
                </a:solidFill>
              </a:rPr>
              <a:t>na</a:t>
            </a:r>
            <a:r>
              <a:rPr sz="1500" dirty="0">
                <a:solidFill>
                  <a:srgbClr val="FFFFFF"/>
                </a:solidFill>
              </a:rPr>
              <a:t> </a:t>
            </a:r>
            <a:r>
              <a:rPr sz="1500" dirty="0" err="1">
                <a:solidFill>
                  <a:srgbClr val="FFFFFF"/>
                </a:solidFill>
              </a:rPr>
              <a:t>własnych</a:t>
            </a:r>
            <a:r>
              <a:rPr sz="1500" dirty="0">
                <a:solidFill>
                  <a:srgbClr val="FFFFFF"/>
                </a:solidFill>
              </a:rPr>
              <a:t> </a:t>
            </a:r>
            <a:r>
              <a:rPr sz="1500" dirty="0" err="1">
                <a:solidFill>
                  <a:srgbClr val="FFFFFF"/>
                </a:solidFill>
              </a:rPr>
              <a:t>buforach</a:t>
            </a:r>
            <a:endParaRPr sz="1500" dirty="0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5486400"/>
            <a:ext cx="10698480" cy="914400"/>
          </a:xfrm>
          <a:prstGeom prst="rect">
            <a:avLst/>
          </a:prstGeom>
          <a:solidFill>
            <a:srgbClr val="2A3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623560"/>
            <a:ext cx="10332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Provider model — każdy AV rejestruje swoje COM DLL w HKLM\…\AMSI\Providers.</a:t>
            </a:r>
          </a:p>
          <a:p>
            <a:pPr algn="l"/>
            <a:r>
              <a:rPr sz="1300" b="0" i="0">
                <a:solidFill>
                  <a:srgbClr val="AABBCC"/>
                </a:solidFill>
              </a:rPr>
              <a:t>AMSI woła wszystkich providerów, jeden 'malicious' = blokada.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D85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II.2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315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AMSI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280160"/>
            <a:ext cx="5760720" cy="640080"/>
          </a:xfrm>
          <a:prstGeom prst="rect">
            <a:avLst/>
          </a:prstGeom>
          <a:solidFill>
            <a:srgbClr val="2A3B4D"/>
          </a:solidFill>
          <a:ln w="25400">
            <a:solidFill>
              <a:srgbClr val="94B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83280" y="1325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94B6D2"/>
                </a:solidFill>
              </a:rPr>
              <a:t>PowerShell.exe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645919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  user invokes a 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920239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778899"/>
                </a:solidFill>
              </a:rPr>
              <a:t>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2057400"/>
            <a:ext cx="5760720" cy="640080"/>
          </a:xfrm>
          <a:prstGeom prst="rect">
            <a:avLst/>
          </a:prstGeom>
          <a:solidFill>
            <a:srgbClr val="2A3B4D"/>
          </a:solidFill>
          <a:ln w="25400">
            <a:solidFill>
              <a:srgbClr val="D85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0" y="21031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D85218"/>
                </a:solidFill>
              </a:rPr>
              <a:t>AMSI.dll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4231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  AmsiScanBuffer(content)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6974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778899"/>
                </a:solidFill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834639"/>
            <a:ext cx="5760720" cy="640080"/>
          </a:xfrm>
          <a:prstGeom prst="rect">
            <a:avLst/>
          </a:prstGeom>
          <a:solidFill>
            <a:srgbClr val="2A3B4D"/>
          </a:solidFill>
          <a:ln w="25400">
            <a:solidFill>
              <a:srgbClr val="7BA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83280" y="2880359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7BA79D"/>
                </a:solidFill>
              </a:rPr>
              <a:t>Registered providers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200399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  enumerated from registry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4747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778899"/>
                </a:solidFill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3611879"/>
            <a:ext cx="5760720" cy="640080"/>
          </a:xfrm>
          <a:prstGeom prst="rect">
            <a:avLst/>
          </a:prstGeom>
          <a:solidFill>
            <a:srgbClr val="2A3B4D"/>
          </a:solidFill>
          <a:ln w="25400">
            <a:solidFill>
              <a:srgbClr val="7BA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83280" y="3657599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7BA79D"/>
                </a:solidFill>
              </a:rPr>
              <a:t>Provider COM DLLs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977639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  each scans, returns verdict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4251959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778899"/>
                </a:solidFill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4389120"/>
            <a:ext cx="5760720" cy="640080"/>
          </a:xfrm>
          <a:prstGeom prst="rect">
            <a:avLst/>
          </a:prstGeom>
          <a:solidFill>
            <a:srgbClr val="2A3B4D"/>
          </a:solidFill>
          <a:ln w="25400">
            <a:solidFill>
              <a:srgbClr val="D85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83280" y="44348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D85218"/>
                </a:solidFill>
              </a:rPr>
              <a:t>Aggregated verdict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7548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  any 'malicious' = block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502920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778899"/>
                </a:solidFill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5166360"/>
            <a:ext cx="5760720" cy="640080"/>
          </a:xfrm>
          <a:prstGeom prst="rect">
            <a:avLst/>
          </a:prstGeom>
          <a:solidFill>
            <a:srgbClr val="2A3B4D"/>
          </a:solidFill>
          <a:ln w="25400">
            <a:solidFill>
              <a:srgbClr val="C05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83280" y="5212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C05040"/>
                </a:solidFill>
              </a:rPr>
              <a:t>PowerShell decision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55321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</a:rPr>
              <a:t>  CLEAN → execute   /   MAL → red error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D85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315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AMSI bypass — taxonomy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657600" cy="5212080"/>
          </a:xfrm>
          <a:prstGeom prst="rect">
            <a:avLst/>
          </a:prstGeom>
          <a:solidFill>
            <a:srgbClr val="2A3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17319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D85218"/>
                </a:solidFill>
              </a:rPr>
              <a:t>Patch w pamięci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31089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VirtualProtect + WriteProcessMemory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Patchuje AmsiScanBuffer entry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Returns AMSI_RESULT_CLEAN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→ Matt Graeber (2016)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→ Tal Liberman variants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Pierwszy znany bypass; nadal działa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280160"/>
            <a:ext cx="3657600" cy="5212080"/>
          </a:xfrm>
          <a:prstGeom prst="rect">
            <a:avLst/>
          </a:prstGeom>
          <a:solidFill>
            <a:srgbClr val="2A3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417319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D85218"/>
                </a:solidFill>
              </a:rPr>
              <a:t>Reflection bypass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874519"/>
            <a:ext cx="31089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[Ref].Assembly.GetType('AmsiUtils')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.GetField('amsiInitFailed')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.SetValue($null, $true)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Wyłącza AMSI session flag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→ One-liner, najprostszy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Patchowany MS 2019, wraca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280160"/>
            <a:ext cx="3657600" cy="5212080"/>
          </a:xfrm>
          <a:prstGeom prst="rect">
            <a:avLst/>
          </a:prstGeom>
          <a:solidFill>
            <a:srgbClr val="2A3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0" y="1417319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D85218"/>
                </a:solidFill>
              </a:rPr>
              <a:t>COM/vtable hijack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874519"/>
            <a:ext cx="31089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DllGetClassObject(provider CLSID)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GetDelegateForFunctionPointer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WriteIntPtr → patch vtable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Każdy COM-side hook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→ AmsiProviderScanDisruption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• Lokalny, in-process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D85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III.2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315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AmsiProviderScanDisruption  — 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94B6D2"/>
                </a:solidFill>
              </a:rPr>
              <a:t>github.com/radkum/AmsiProviderScanDisruption  —  technika opublikowana 5 lat temu.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D85218"/>
                </a:solidFill>
              </a:rPr>
              <a:t>Idea: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10058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D85218"/>
                </a:solidFill>
              </a:rPr>
              <a:t>▸ </a:t>
            </a:r>
            <a:r>
              <a:rPr sz="1400">
                <a:solidFill>
                  <a:srgbClr val="FFFFFF"/>
                </a:solidFill>
              </a:rPr>
              <a:t>Wylistuj registered providerów z HKLM\…\AMSI\Providers</a:t>
            </a:r>
          </a:p>
          <a:p>
            <a:pPr algn="l"/>
            <a:r>
              <a:rPr sz="1400" b="1">
                <a:solidFill>
                  <a:srgbClr val="D85218"/>
                </a:solidFill>
              </a:rPr>
              <a:t>▸ </a:t>
            </a:r>
            <a:r>
              <a:rPr sz="1400">
                <a:solidFill>
                  <a:srgbClr val="FFFFFF"/>
                </a:solidFill>
              </a:rPr>
              <a:t>Załaduj ich COM DLL przez `DllGetClassObject`</a:t>
            </a:r>
          </a:p>
          <a:p>
            <a:pPr algn="l"/>
            <a:r>
              <a:rPr sz="1400" b="1">
                <a:solidFill>
                  <a:srgbClr val="D85218"/>
                </a:solidFill>
              </a:rPr>
              <a:t>▸ </a:t>
            </a:r>
            <a:r>
              <a:rPr sz="1400">
                <a:solidFill>
                  <a:srgbClr val="FFFFFF"/>
                </a:solidFill>
              </a:rPr>
              <a:t>Wyciągnij IAntimalwareProvider COM object</a:t>
            </a:r>
          </a:p>
          <a:p>
            <a:pPr algn="l"/>
            <a:r>
              <a:rPr sz="1400" b="1">
                <a:solidFill>
                  <a:srgbClr val="D85218"/>
                </a:solidFill>
              </a:rPr>
              <a:t>▸ </a:t>
            </a:r>
            <a:r>
              <a:rPr sz="1400">
                <a:solidFill>
                  <a:srgbClr val="FFFFFF"/>
                </a:solidFill>
              </a:rPr>
              <a:t>Patchuj vtable: `IAntimalwareProvider::Scan` → return CLEAN</a:t>
            </a:r>
          </a:p>
          <a:p>
            <a:pPr algn="l"/>
            <a:r>
              <a:rPr sz="1400" b="1">
                <a:solidFill>
                  <a:srgbClr val="D85218"/>
                </a:solidFill>
              </a:rPr>
              <a:t>▸ </a:t>
            </a:r>
            <a:r>
              <a:rPr sz="1400">
                <a:solidFill>
                  <a:srgbClr val="FFFFFF"/>
                </a:solidFill>
              </a:rPr>
              <a:t>Każdy kolejny AMSI scan wraca CLEAN — bez modyfikacji amsi.dll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937760"/>
            <a:ext cx="10698480" cy="1463040"/>
          </a:xfrm>
          <a:prstGeom prst="rect">
            <a:avLst/>
          </a:prstGeom>
          <a:solidFill>
            <a:srgbClr val="2A3B4D"/>
          </a:solidFill>
          <a:ln w="25400">
            <a:solidFill>
              <a:srgbClr val="C05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1">
                <a:solidFill>
                  <a:srgbClr val="C05040"/>
                </a:solidFill>
              </a:rPr>
              <a:t>Co to znaczy dla obrońcy: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4924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Atakujący nie tknął amsi.dll. Wszystkie EDR-y patrzące na patch amsi.dll widzą czysto.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Provider DLL też nietknięty — patch jest w vtable, w pamięci procesu.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Statyczna sygnatura złapie literalny kod. Ewasywna wersja (sample 27) — nie.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D85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III.3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315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Obfuscation — utrudnianie detekcji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931920" cy="411480"/>
          </a:xfrm>
          <a:prstGeom prst="rect">
            <a:avLst/>
          </a:prstGeom>
          <a:solidFill>
            <a:srgbClr val="2A3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D85218"/>
                </a:solidFill>
              </a:rPr>
              <a:t>Base64 encoding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23444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powershell -enc &lt;blob&gt;  /  FromBase64String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3931920" cy="411480"/>
          </a:xfrm>
          <a:prstGeom prst="rect">
            <a:avLst/>
          </a:prstGeom>
          <a:solidFill>
            <a:srgbClr val="2A3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D85218"/>
                </a:solidFill>
              </a:rPr>
              <a:t>String concatenation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73736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'Amsi'+'Init'+'Failed' — naiwna ale skuteczna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3931920" cy="411480"/>
          </a:xfrm>
          <a:prstGeom prst="rect">
            <a:avLst/>
          </a:prstGeom>
          <a:solidFill>
            <a:srgbClr val="2A3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D85218"/>
                </a:solidFill>
              </a:rPr>
              <a:t>-f format operator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"{2}{0}{1}" -f 'Init','Failed','Amsi' → 'AmsiInitFailed'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97480"/>
            <a:ext cx="3931920" cy="411480"/>
          </a:xfrm>
          <a:prstGeom prst="rect">
            <a:avLst/>
          </a:prstGeom>
          <a:solidFill>
            <a:srgbClr val="2A3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7432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D85218"/>
                </a:solidFill>
              </a:rPr>
              <a:t>[char] casts / arrays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74320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[char[]]@(65,109,115,105) -join ''  →  'Amsi'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00400"/>
            <a:ext cx="3931920" cy="411480"/>
          </a:xfrm>
          <a:prstGeom prst="rect">
            <a:avLst/>
          </a:prstGeom>
          <a:solidFill>
            <a:srgbClr val="2A3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2461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D85218"/>
                </a:solidFill>
              </a:rPr>
              <a:t>Custom class method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24612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class C { static [string] X() { 'am' } } ;  [C]::X()+'siInit'+'Failed'  →  'amsiInitFailed'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03320"/>
            <a:ext cx="3931920" cy="411480"/>
          </a:xfrm>
          <a:prstGeom prst="rect">
            <a:avLst/>
          </a:prstGeom>
          <a:solidFill>
            <a:srgbClr val="2A3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749039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D85218"/>
                </a:solidFill>
              </a:rPr>
              <a:t>XOR + byte array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749039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@(0x62,0x6e,0x70,0x6a) | %{[char]($_ -bxor 0x03)}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06240"/>
            <a:ext cx="3931920" cy="411480"/>
          </a:xfrm>
          <a:prstGeom prst="rect">
            <a:avLst/>
          </a:prstGeom>
          <a:solidFill>
            <a:srgbClr val="2A3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42519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D85218"/>
                </a:solidFill>
              </a:rPr>
              <a:t>Backtick obfuscation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25196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Inv`oke-Ex`pression  — backticki ignorowane w identifierach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709160"/>
            <a:ext cx="3931920" cy="411480"/>
          </a:xfrm>
          <a:prstGeom prst="rect">
            <a:avLst/>
          </a:prstGeom>
          <a:solidFill>
            <a:srgbClr val="2A3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47548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D85218"/>
                </a:solidFill>
              </a:rPr>
              <a:t>Reverse string slice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75488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'tpircSekovnI'[-1..-12] -join ''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212080"/>
            <a:ext cx="3931920" cy="411480"/>
          </a:xfrm>
          <a:prstGeom prst="rect">
            <a:avLst/>
          </a:prstGeom>
          <a:solidFill>
            <a:srgbClr val="2A3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525780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D85218"/>
                </a:solidFill>
              </a:rPr>
              <a:t>Env-var indexing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25780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$env:ComSpec[14,15,16,17] -join ''  →  custom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715000"/>
            <a:ext cx="3931920" cy="411480"/>
          </a:xfrm>
          <a:prstGeom prst="rect">
            <a:avLst/>
          </a:prstGeom>
          <a:solidFill>
            <a:srgbClr val="2A3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57607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D85218"/>
                </a:solidFill>
              </a:rPr>
              <a:t>Embedded .NET DLL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576072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[Reflection.Assembly]::Load(FromBase64String(...))  — fileless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217920"/>
            <a:ext cx="3931920" cy="411480"/>
          </a:xfrm>
          <a:prstGeom prst="rect">
            <a:avLst/>
          </a:prstGeom>
          <a:solidFill>
            <a:srgbClr val="2A3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62636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D85218"/>
                </a:solidFill>
              </a:rPr>
              <a:t>Runtime-built names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26364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char-code compare zamiast literałów — niedeobfuskowalne statycznie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D85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315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Two-layer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1">
                <a:solidFill>
                  <a:srgbClr val="D85218"/>
                </a:solidFill>
              </a:rPr>
              <a:t>Statystyka spotyka behaviour. Każda warstwa łapie co druga przepuści.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577840" cy="4754880"/>
          </a:xfrm>
          <a:prstGeom prst="rect">
            <a:avLst/>
          </a:prstGeom>
          <a:solidFill>
            <a:srgbClr val="2A3B4D"/>
          </a:solidFill>
          <a:ln w="25400">
            <a:solidFill>
              <a:srgbClr val="94B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94B6D2"/>
                </a:solidFill>
              </a:rPr>
              <a:t>Layer 1  —  Inline AMSI provider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52120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PowerShell → AMSI → ramsi-com.dll (Rust COM)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                   → ps-parser-cli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521208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D8521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Statyczna deobfuskacja</a:t>
            </a:r>
          </a:p>
          <a:p>
            <a:pPr algn="l"/>
            <a:r>
              <a:rPr sz="1300" b="1">
                <a:solidFill>
                  <a:srgbClr val="D8521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Format operator, char arrays</a:t>
            </a:r>
          </a:p>
          <a:p>
            <a:pPr algn="l"/>
            <a:r>
              <a:rPr sz="1300" b="1">
                <a:solidFill>
                  <a:srgbClr val="D8521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Rekursywny base64 (8 layers)</a:t>
            </a:r>
          </a:p>
          <a:p>
            <a:pPr algn="l"/>
            <a:r>
              <a:rPr sz="1300" b="1">
                <a:solidFill>
                  <a:srgbClr val="D8521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30+ predykatów AMSI bypass</a:t>
            </a:r>
          </a:p>
          <a:p>
            <a:pPr algn="l"/>
            <a:r>
              <a:rPr sz="1300" b="1">
                <a:solidFill>
                  <a:srgbClr val="D8521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Blokuje BEFORE execution</a:t>
            </a:r>
          </a:p>
          <a:p>
            <a:pPr algn="l"/>
            <a:r>
              <a:rPr sz="1300" b="1">
                <a:solidFill>
                  <a:srgbClr val="D8521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Werdykt: Clean / Suspicious / BYPASS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760720"/>
            <a:ext cx="2560320" cy="502920"/>
          </a:xfrm>
          <a:prstGeom prst="rect">
            <a:avLst/>
          </a:prstGeom>
          <a:solidFill>
            <a:srgbClr val="7BA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5806440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96%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585216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detection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5577840" cy="4754880"/>
          </a:xfrm>
          <a:prstGeom prst="rect">
            <a:avLst/>
          </a:prstGeom>
          <a:solidFill>
            <a:srgbClr val="2A3B4D"/>
          </a:solidFill>
          <a:ln w="25400">
            <a:solidFill>
              <a:srgbClr val="C05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73736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C05040"/>
                </a:solidFill>
              </a:rPr>
              <a:t>Layer 2  —  Kernel behavioral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94560"/>
            <a:ext cx="52120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Kernel driver (sysmon-rs, no_std)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→ userspace daemon (sysmon-um)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00400"/>
            <a:ext cx="521208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D8521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PsSetCreateProcessNotifyEx</a:t>
            </a:r>
          </a:p>
          <a:p>
            <a:pPr algn="l"/>
            <a:r>
              <a:rPr sz="1300" b="1">
                <a:solidFill>
                  <a:srgbClr val="D8521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PsSetLoadImageNotify</a:t>
            </a:r>
          </a:p>
          <a:p>
            <a:pPr algn="l"/>
            <a:r>
              <a:rPr sz="1300" b="1">
                <a:solidFill>
                  <a:srgbClr val="D8521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CmRegisterCallback (registry)</a:t>
            </a:r>
          </a:p>
          <a:p>
            <a:pPr algn="l"/>
            <a:r>
              <a:rPr sz="1300" b="1">
                <a:solidFill>
                  <a:srgbClr val="D8521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Filter \AMSI\ in registry path</a:t>
            </a:r>
          </a:p>
          <a:p>
            <a:pPr algn="l"/>
            <a:r>
              <a:rPr sz="1300" b="1">
                <a:solidFill>
                  <a:srgbClr val="D8521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Suspend → evaluate → terminate</a:t>
            </a:r>
          </a:p>
          <a:p>
            <a:pPr algn="l"/>
            <a:r>
              <a:rPr sz="1300" b="1">
                <a:solidFill>
                  <a:srgbClr val="D8521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Werdykt na podstawie behaviour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5760720"/>
            <a:ext cx="3200400" cy="502920"/>
          </a:xfrm>
          <a:prstGeom prst="rect">
            <a:avLst/>
          </a:prstGeom>
          <a:solidFill>
            <a:srgbClr val="7BA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580644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✓ Catches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5852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what static cannot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D85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IV.1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315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Layer 1  —  Static deobfuscation (pure Rust)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D85218"/>
                </a:solidFill>
              </a:rPr>
              <a:t>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502920"/>
          </a:xfrm>
          <a:prstGeom prst="rect">
            <a:avLst/>
          </a:prstGeom>
          <a:solidFill>
            <a:srgbClr val="2A3B4D"/>
          </a:solidFill>
          <a:ln w="25400">
            <a:solidFill>
              <a:srgbClr val="94B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184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94B6D2"/>
                </a:solidFill>
              </a:rPr>
              <a:t>PowerShell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5212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778899"/>
                </a:solidFill>
              </a:rPr>
              <a:t>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40280"/>
            <a:ext cx="5212080" cy="502920"/>
          </a:xfrm>
          <a:prstGeom prst="rect">
            <a:avLst/>
          </a:prstGeom>
          <a:solidFill>
            <a:srgbClr val="2A3B4D"/>
          </a:solidFill>
          <a:ln w="25400">
            <a:solidFill>
              <a:srgbClr val="D85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3042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D85218"/>
                </a:solidFill>
              </a:rPr>
              <a:t>amsi.dll  ::  AmsiScanBuffer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5212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778899"/>
                </a:solidFill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5212080" cy="502920"/>
          </a:xfrm>
          <a:prstGeom prst="rect">
            <a:avLst/>
          </a:prstGeom>
          <a:solidFill>
            <a:srgbClr val="2A3B4D"/>
          </a:solidFill>
          <a:ln w="25400">
            <a:solidFill>
              <a:srgbClr val="7BA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9900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7BA79D"/>
                </a:solidFill>
              </a:rPr>
              <a:t>ramsi-com.dll  (Rust COM provider)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29000"/>
            <a:ext cx="5212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778899"/>
                </a:solidFill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611880"/>
            <a:ext cx="5212080" cy="502920"/>
          </a:xfrm>
          <a:prstGeom prst="rect">
            <a:avLst/>
          </a:prstGeom>
          <a:solidFill>
            <a:srgbClr val="2A3B4D"/>
          </a:solidFill>
          <a:ln w="25400">
            <a:solidFill>
              <a:srgbClr val="7BA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6758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7BA79D"/>
                </a:solidFill>
              </a:rPr>
              <a:t>ps-parser-cli engine  (in-process)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5212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778899"/>
                </a:solidFill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297680"/>
            <a:ext cx="5212080" cy="502920"/>
          </a:xfrm>
          <a:prstGeom prst="rect">
            <a:avLst/>
          </a:prstGeom>
          <a:solidFill>
            <a:srgbClr val="2A3B4D"/>
          </a:solidFill>
          <a:ln w="25400">
            <a:solidFill>
              <a:srgbClr val="C05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361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C05040"/>
                </a:solidFill>
              </a:rPr>
              <a:t>AMSI verdict  →  block / allow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D85218"/>
                </a:solidFill>
              </a:rPr>
              <a:t>ps-parser-cli internals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554480"/>
            <a:ext cx="5486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D8521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pest grammar — recovers AST + evaluates</a:t>
            </a:r>
          </a:p>
          <a:p>
            <a:pPr algn="l"/>
            <a:r>
              <a:rPr sz="1300" b="1">
                <a:solidFill>
                  <a:srgbClr val="D8521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String methods: Replace, ToUpper, …</a:t>
            </a:r>
          </a:p>
          <a:p>
            <a:pPr algn="l"/>
            <a:r>
              <a:rPr sz="1300" b="1">
                <a:solidFill>
                  <a:srgbClr val="D8521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Format operator -f, [char] casts</a:t>
            </a:r>
          </a:p>
          <a:p>
            <a:pPr algn="l"/>
            <a:r>
              <a:rPr sz="1300" b="1">
                <a:solidFill>
                  <a:srgbClr val="D8521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Recursive base64 (up to 8 layers)</a:t>
            </a:r>
          </a:p>
          <a:p>
            <a:pPr algn="l"/>
            <a:r>
              <a:rPr sz="1300" b="1">
                <a:solidFill>
                  <a:srgbClr val="D8521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UTF-16LE projection for .NET DLLs</a:t>
            </a:r>
          </a:p>
          <a:p>
            <a:pPr algn="l"/>
            <a:r>
              <a:rPr sz="1300" b="1">
                <a:solidFill>
                  <a:srgbClr val="D8521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30+ predykatów: amsi.dll, AmsiScanBuffer,</a:t>
            </a:r>
          </a:p>
          <a:p>
            <a:pPr algn="l"/>
            <a:r>
              <a:rPr sz="1300" b="1">
                <a:solidFill>
                  <a:srgbClr val="D8521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  amsiInitFailed, AmsiUtils, ETW, WLDP, …</a:t>
            </a:r>
          </a:p>
          <a:p>
            <a:pPr algn="l"/>
            <a:r>
              <a:rPr sz="1300" b="1">
                <a:solidFill>
                  <a:srgbClr val="D8521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Combo bonuses + scoring algorithm</a:t>
            </a:r>
          </a:p>
          <a:p>
            <a:pPr algn="l"/>
            <a:r>
              <a:rPr sz="1300" b="1">
                <a:solidFill>
                  <a:srgbClr val="D8521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Output: JSON  →  ramsi-com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8521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94B6D2"/>
                </a:solidFill>
              </a:rPr>
              <a:t>4.7 MB statyczna binarka  •  zero .NET dependencies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D85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IV.1b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315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ps-parser  —  safe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D85218"/>
                </a:solidFill>
              </a:rPr>
              <a:t>Pure data transforms execute.  Side-effectful calls return typed errors — never silently skipped.</a:t>
            </a:r>
          </a:p>
          <a:p>
            <a:pPr algn="l"/>
            <a:r>
              <a:rPr sz="1300" b="0" i="1">
                <a:solidFill>
                  <a:srgbClr val="D85218"/>
                </a:solidFill>
              </a:rPr>
              <a:t>API celowo nazwane `safe_eval` — granica zaufania jest wbudowana w architekturę.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5577840" cy="4297680"/>
          </a:xfrm>
          <a:prstGeom prst="rect">
            <a:avLst/>
          </a:prstGeom>
          <a:solidFill>
            <a:srgbClr val="2A3B4D"/>
          </a:solidFill>
          <a:ln w="25400">
            <a:solidFill>
              <a:srgbClr val="7BA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7BA79D"/>
                </a:solidFill>
              </a:rPr>
              <a:t>✓ Evaluated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AABBCC"/>
                </a:solidFill>
              </a:rPr>
              <a:t>whitelist — pure, deterministic, no I/O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String methods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Replace, Substring, Insert, ToUpper/Lower, Trim, Split, PadLeft/Right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72968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Static helpers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47288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[Convert]::FromBase64String, [Text.Encoding]::UTF8.GetString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39896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Operators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14215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+, -, *, /, %, -bxor, -band, -bor, -shl, -shr, -replace, -split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06824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Format operator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81144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"{0}{1}" -f 'foo','bar'  →  'foobar'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737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Variables +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4807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$script:, $global:, $local:, $env:  (via Variables::env())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4068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PS classes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71500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class C { static [string] X() { 'am' } }  →  [C]::X()  ⇒  'am'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783080"/>
            <a:ext cx="5577840" cy="4297680"/>
          </a:xfrm>
          <a:prstGeom prst="rect">
            <a:avLst/>
          </a:prstGeom>
          <a:solidFill>
            <a:srgbClr val="2A3B4D"/>
          </a:solidFill>
          <a:ln w="25400">
            <a:solidFill>
              <a:srgbClr val="C05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60" y="1874519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 i="0">
                <a:solidFill>
                  <a:srgbClr val="C05040"/>
                </a:solidFill>
              </a:rPr>
              <a:t>✗ Skipped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240280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AABBCC"/>
                </a:solidFill>
              </a:rPr>
              <a:t>side-effects → MethodError / CommandError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60604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File I/O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88036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Get-Content, Set-Content, Out-File, [IO.File]::*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172968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Network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447288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Invoke-WebRequest, Net.WebClient::DownloadString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739896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Process spawn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014215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Start-Process, Invoke-Expression, iex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306824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Dynamic code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4581144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Add-Type, [Reflection.Assembly]::Load(...)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8737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Registry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14807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Get-ItemProperty, [Microsoft.Win32.Registry]::*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44068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Filesystem cmdlets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5715000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AABBCC"/>
                </a:solidFill>
              </a:rPr>
              <a:t>Get-ChildItem, New-Item, Remove-Item, dowolna mutacja stanu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172200"/>
            <a:ext cx="11247120" cy="502920"/>
          </a:xfrm>
          <a:prstGeom prst="rect">
            <a:avLst/>
          </a:prstGeom>
          <a:solidFill>
            <a:srgbClr val="2A3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6245352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</a:rPr>
              <a:t>Skutek:  deobfuscator widzi WSZYSTKO co da się policzyć z czystych operacji.  Atak który zależy od I/O lub spawning nie wykonuje się — i jednocześnie jest sygnałem.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D85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IV.2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315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Layer 2  —  Kernel behavioral telemetry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D85218"/>
                </a:solidFill>
              </a:rPr>
              <a:t>Kernel driver (sysmon-rs, no_std)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486400" cy="2880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D8521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PsSetCreateProcessNotifyRoutineEx</a:t>
            </a:r>
          </a:p>
          <a:p>
            <a:pPr algn="l"/>
            <a:r>
              <a:rPr sz="1300" b="1">
                <a:solidFill>
                  <a:srgbClr val="D8521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    → capture cmdline at process spawn</a:t>
            </a:r>
          </a:p>
          <a:p>
            <a:pPr algn="l"/>
            <a:r>
              <a:rPr sz="1300" b="1">
                <a:solidFill>
                  <a:srgbClr val="D8521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PsSetLoadImageNotifyRoutine</a:t>
            </a:r>
          </a:p>
          <a:p>
            <a:pPr algn="l"/>
            <a:r>
              <a:rPr sz="1300" b="1">
                <a:solidFill>
                  <a:srgbClr val="D8521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    → flag amsi.dll / wldp.dll loads</a:t>
            </a:r>
          </a:p>
          <a:p>
            <a:pPr algn="l"/>
            <a:r>
              <a:rPr sz="1300" b="1">
                <a:solidFill>
                  <a:srgbClr val="D8521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CmRegisterCallbackEx</a:t>
            </a:r>
          </a:p>
          <a:p>
            <a:pPr algn="l"/>
            <a:r>
              <a:rPr sz="1300" b="1">
                <a:solidFill>
                  <a:srgbClr val="D8521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    → filter Registry access by path</a:t>
            </a:r>
          </a:p>
          <a:p>
            <a:pPr algn="l"/>
            <a:r>
              <a:rPr sz="1300" b="1">
                <a:solidFill>
                  <a:srgbClr val="D8521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Sends events via \\.\SysMon to userspace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 i="0">
                <a:solidFill>
                  <a:srgbClr val="D85218"/>
                </a:solidFill>
              </a:rPr>
              <a:t>Userspace daemon (sysmon-um)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486400" cy="2880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D8521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Polling \\.\SysMon at 200 ms</a:t>
            </a:r>
          </a:p>
          <a:p>
            <a:pPr algn="l"/>
            <a:r>
              <a:rPr sz="1300" b="1">
                <a:solidFill>
                  <a:srgbClr val="D8521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Tracks pid → cmdline mapping</a:t>
            </a:r>
          </a:p>
          <a:p>
            <a:pPr algn="l"/>
            <a:r>
              <a:rPr sz="1300" b="1">
                <a:solidFill>
                  <a:srgbClr val="D8521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On AMSI registry recon:</a:t>
            </a:r>
          </a:p>
          <a:p>
            <a:pPr algn="l"/>
            <a:r>
              <a:rPr sz="1300" b="1">
                <a:solidFill>
                  <a:srgbClr val="D8521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    1.  NtSuspendProcess(pid)</a:t>
            </a:r>
          </a:p>
          <a:p>
            <a:pPr algn="l"/>
            <a:r>
              <a:rPr sz="1300" b="1">
                <a:solidFill>
                  <a:srgbClr val="D8521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    2.  call ps-parser-cli on cmdline</a:t>
            </a:r>
          </a:p>
          <a:p>
            <a:pPr algn="l"/>
            <a:r>
              <a:rPr sz="1300" b="1">
                <a:solidFill>
                  <a:srgbClr val="D8521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    3.  Suspicious → log,  BYPASS → kill</a:t>
            </a:r>
          </a:p>
          <a:p>
            <a:pPr algn="l"/>
            <a:r>
              <a:rPr sz="1300" b="1">
                <a:solidFill>
                  <a:srgbClr val="D85218"/>
                </a:solidFill>
              </a:rPr>
              <a:t>▸ </a:t>
            </a:r>
            <a:r>
              <a:rPr sz="1300">
                <a:solidFill>
                  <a:srgbClr val="FFFFFF"/>
                </a:solidFill>
              </a:rPr>
              <a:t>Audit log per scanned process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212080"/>
            <a:ext cx="10698480" cy="1280160"/>
          </a:xfrm>
          <a:prstGeom prst="rect">
            <a:avLst/>
          </a:prstGeom>
          <a:solidFill>
            <a:srgbClr val="2A3B4D"/>
          </a:solidFill>
          <a:ln w="25400">
            <a:solidFill>
              <a:srgbClr val="C05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C05040"/>
                </a:solidFill>
              </a:rPr>
              <a:t>Co Layer 2 widzi a Layer 1 nie: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23560"/>
            <a:ext cx="105156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Każde otwarcie klucza rejestru ze ścieżką \AMSI\ — niezależnie od tego jak nazwa klucza była zbudowana w kodzie.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Behaviour pozostaje, nawet gdy literalne identyfikatory są rekonstruowane w runtime.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D85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468880"/>
            <a:ext cx="1218895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383280"/>
            <a:ext cx="121889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</a:rPr>
              <a:t>5 actów — od literalnego bypass'a po behavioral catch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84632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Act 1: Layer 1 blocks an obfuscated bypass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21208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Act 2: Detection rate sweep — 27/28 = 96 %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57784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Act 3: Literal radkum technique caught 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94360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Act 4: Evasive variant — only Suspicious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0936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Act 5: Behavioral catches the residual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D85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V.1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315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Act 1  —  Obfuscated AMSI bypass (sample 14)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6152" y="1031486"/>
            <a:ext cx="939500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dirty="0" err="1">
                <a:solidFill>
                  <a:schemeClr val="accent2"/>
                </a:solidFill>
              </a:rPr>
              <a:t>Cały</a:t>
            </a:r>
            <a:r>
              <a:rPr b="0" i="1" dirty="0">
                <a:solidFill>
                  <a:schemeClr val="accent2"/>
                </a:solidFill>
              </a:rPr>
              <a:t> </a:t>
            </a:r>
            <a:r>
              <a:rPr b="0" i="1" dirty="0" err="1">
                <a:solidFill>
                  <a:schemeClr val="accent2"/>
                </a:solidFill>
              </a:rPr>
              <a:t>skompilowany</a:t>
            </a:r>
            <a:r>
              <a:rPr b="0" i="1" dirty="0">
                <a:solidFill>
                  <a:schemeClr val="accent2"/>
                </a:solidFill>
              </a:rPr>
              <a:t> .NET DLL </a:t>
            </a:r>
            <a:r>
              <a:rPr b="0" i="1" dirty="0" err="1">
                <a:solidFill>
                  <a:schemeClr val="accent2"/>
                </a:solidFill>
              </a:rPr>
              <a:t>zakodowany</a:t>
            </a:r>
            <a:r>
              <a:rPr b="0" i="1" dirty="0">
                <a:solidFill>
                  <a:schemeClr val="accent2"/>
                </a:solidFill>
              </a:rPr>
              <a:t> w base64, </a:t>
            </a:r>
            <a:r>
              <a:rPr b="0" i="1" dirty="0" err="1">
                <a:solidFill>
                  <a:schemeClr val="accent2"/>
                </a:solidFill>
              </a:rPr>
              <a:t>ładowany</a:t>
            </a:r>
            <a:r>
              <a:rPr b="0" i="1" dirty="0">
                <a:solidFill>
                  <a:schemeClr val="accent2"/>
                </a:solidFill>
              </a:rPr>
              <a:t> </a:t>
            </a:r>
            <a:r>
              <a:rPr b="0" i="1" dirty="0" err="1">
                <a:solidFill>
                  <a:schemeClr val="accent2"/>
                </a:solidFill>
              </a:rPr>
              <a:t>przez</a:t>
            </a:r>
            <a:r>
              <a:rPr b="0" i="1" dirty="0">
                <a:solidFill>
                  <a:schemeClr val="accent2"/>
                </a:solidFill>
              </a:rPr>
              <a:t> </a:t>
            </a:r>
            <a:r>
              <a:rPr b="0" i="1" dirty="0" err="1">
                <a:solidFill>
                  <a:schemeClr val="accent2"/>
                </a:solidFill>
              </a:rPr>
              <a:t>Reflection.Assembly</a:t>
            </a:r>
            <a:r>
              <a:rPr b="0" i="1" dirty="0">
                <a:solidFill>
                  <a:schemeClr val="accent2"/>
                </a:solidFill>
              </a:rPr>
              <a:t>::Load.</a:t>
            </a:r>
          </a:p>
        </p:txBody>
      </p:sp>
      <p:pic>
        <p:nvPicPr>
          <p:cNvPr id="6" name="Picture 5" descr="1_obfuscated_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554480"/>
            <a:ext cx="9418320" cy="4389120"/>
          </a:xfrm>
          <a:prstGeom prst="rect">
            <a:avLst/>
          </a:prstGeom>
          <a:ln w="6350">
            <a:solidFill>
              <a:srgbClr val="77889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2720058" y="6446520"/>
            <a:ext cx="674883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 dirty="0">
                <a:solidFill>
                  <a:schemeClr val="tx1">
                    <a:lumMod val="95000"/>
                  </a:schemeClr>
                </a:solidFill>
              </a:rPr>
              <a:t>samples\malicious\14_amsi_buffer_path.ps1  —  first 8 lines.   Line 3 = entire AmsiBypass.dll as base64.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D85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V.1b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315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Act 1  —  ps-parser-cli verdict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004054"/>
            <a:ext cx="750718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dirty="0" err="1">
                <a:solidFill>
                  <a:schemeClr val="accent2"/>
                </a:solidFill>
              </a:rPr>
              <a:t>Rekurencyjny</a:t>
            </a:r>
            <a:r>
              <a:rPr b="0" i="1" dirty="0">
                <a:solidFill>
                  <a:schemeClr val="accent2"/>
                </a:solidFill>
              </a:rPr>
              <a:t> base64 </a:t>
            </a:r>
            <a:r>
              <a:rPr b="0" i="1" dirty="0" err="1">
                <a:solidFill>
                  <a:schemeClr val="accent2"/>
                </a:solidFill>
              </a:rPr>
              <a:t>deobfuscator</a:t>
            </a:r>
            <a:r>
              <a:rPr b="0" i="1" dirty="0">
                <a:solidFill>
                  <a:schemeClr val="accent2"/>
                </a:solidFill>
              </a:rPr>
              <a:t> </a:t>
            </a:r>
            <a:r>
              <a:rPr b="0" i="1" dirty="0" err="1">
                <a:solidFill>
                  <a:schemeClr val="accent2"/>
                </a:solidFill>
              </a:rPr>
              <a:t>wyciąga</a:t>
            </a:r>
            <a:r>
              <a:rPr b="0" i="1" dirty="0">
                <a:solidFill>
                  <a:schemeClr val="accent2"/>
                </a:solidFill>
              </a:rPr>
              <a:t> </a:t>
            </a:r>
            <a:r>
              <a:rPr b="0" i="1" dirty="0" err="1">
                <a:solidFill>
                  <a:schemeClr val="accent2"/>
                </a:solidFill>
              </a:rPr>
              <a:t>literały</a:t>
            </a:r>
            <a:r>
              <a:rPr b="0" i="1" dirty="0">
                <a:solidFill>
                  <a:schemeClr val="accent2"/>
                </a:solidFill>
              </a:rPr>
              <a:t> z UTF-16LE #US section.</a:t>
            </a:r>
          </a:p>
        </p:txBody>
      </p:sp>
      <p:pic>
        <p:nvPicPr>
          <p:cNvPr id="6" name="Picture 5" descr="2_pscli_sample14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554480"/>
            <a:ext cx="7315200" cy="4114800"/>
          </a:xfrm>
          <a:prstGeom prst="rect">
            <a:avLst/>
          </a:prstGeom>
          <a:ln w="6350">
            <a:solidFill>
              <a:srgbClr val="778899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731520" y="5760720"/>
            <a:ext cx="10698480" cy="685800"/>
          </a:xfrm>
          <a:prstGeom prst="rect">
            <a:avLst/>
          </a:prstGeom>
          <a:solidFill>
            <a:srgbClr val="2A3B4D"/>
          </a:solidFill>
          <a:ln w="25400">
            <a:solidFill>
              <a:schemeClr val="tx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75182" y="5852160"/>
            <a:ext cx="9611156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dirty="0">
                <a:solidFill>
                  <a:schemeClr val="tx1">
                    <a:lumMod val="95000"/>
                  </a:schemeClr>
                </a:solidFill>
              </a:rPr>
              <a:t>status = AMSI BYPASS    •    confidence = 100    •    indicators: </a:t>
            </a:r>
            <a:r>
              <a:rPr sz="1300" b="1" i="0" dirty="0" err="1">
                <a:solidFill>
                  <a:schemeClr val="tx1">
                    <a:lumMod val="95000"/>
                  </a:schemeClr>
                </a:solidFill>
              </a:rPr>
              <a:t>AmsiDll</a:t>
            </a:r>
            <a:r>
              <a:rPr sz="1300" b="1" i="0" dirty="0">
                <a:solidFill>
                  <a:schemeClr val="tx1">
                    <a:lumMod val="95000"/>
                  </a:schemeClr>
                </a:solidFill>
              </a:rPr>
              <a:t>, </a:t>
            </a:r>
            <a:r>
              <a:rPr sz="1300" b="1" i="0" dirty="0" err="1">
                <a:solidFill>
                  <a:schemeClr val="tx1">
                    <a:lumMod val="95000"/>
                  </a:schemeClr>
                </a:solidFill>
              </a:rPr>
              <a:t>MemoryPatch</a:t>
            </a:r>
            <a:r>
              <a:rPr sz="1300" b="1" i="0" dirty="0">
                <a:solidFill>
                  <a:schemeClr val="tx1">
                    <a:lumMod val="95000"/>
                  </a:schemeClr>
                </a:solidFill>
              </a:rPr>
              <a:t>, </a:t>
            </a:r>
            <a:r>
              <a:rPr sz="1300" b="1" i="0" dirty="0" err="1">
                <a:solidFill>
                  <a:schemeClr val="tx1">
                    <a:lumMod val="95000"/>
                  </a:schemeClr>
                </a:solidFill>
              </a:rPr>
              <a:t>VtableManipulation</a:t>
            </a:r>
            <a:r>
              <a:rPr sz="1300" b="1" i="0" dirty="0">
                <a:solidFill>
                  <a:schemeClr val="tx1">
                    <a:lumMod val="95000"/>
                  </a:schemeClr>
                </a:solidFill>
              </a:rPr>
              <a:t>, </a:t>
            </a:r>
            <a:r>
              <a:rPr sz="1300" b="1" i="0" dirty="0" err="1">
                <a:solidFill>
                  <a:schemeClr val="tx1">
                    <a:lumMod val="95000"/>
                  </a:schemeClr>
                </a:solidFill>
              </a:rPr>
              <a:t>TelemetryFunction</a:t>
            </a:r>
            <a:endParaRPr sz="1300" b="1" i="0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D85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V.2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315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Act 2  —  Detection rate sweep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712207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dirty="0">
                <a:solidFill>
                  <a:schemeClr val="accent2"/>
                </a:solidFill>
              </a:rPr>
              <a:t>Tym </a:t>
            </a:r>
            <a:r>
              <a:rPr b="0" i="1" dirty="0" err="1">
                <a:solidFill>
                  <a:schemeClr val="accent2"/>
                </a:solidFill>
              </a:rPr>
              <a:t>samym</a:t>
            </a:r>
            <a:r>
              <a:rPr b="0" i="1" dirty="0">
                <a:solidFill>
                  <a:schemeClr val="accent2"/>
                </a:solidFill>
              </a:rPr>
              <a:t> </a:t>
            </a:r>
            <a:r>
              <a:rPr b="0" i="1" dirty="0" err="1">
                <a:solidFill>
                  <a:schemeClr val="accent2"/>
                </a:solidFill>
              </a:rPr>
              <a:t>silnikiem</a:t>
            </a:r>
            <a:r>
              <a:rPr b="0" i="1" dirty="0">
                <a:solidFill>
                  <a:schemeClr val="accent2"/>
                </a:solidFill>
              </a:rPr>
              <a:t> </a:t>
            </a:r>
            <a:r>
              <a:rPr b="0" i="1" dirty="0" err="1">
                <a:solidFill>
                  <a:schemeClr val="accent2"/>
                </a:solidFill>
              </a:rPr>
              <a:t>na</a:t>
            </a:r>
            <a:r>
              <a:rPr b="0" i="1" dirty="0">
                <a:solidFill>
                  <a:schemeClr val="accent2"/>
                </a:solidFill>
              </a:rPr>
              <a:t> </a:t>
            </a:r>
            <a:r>
              <a:rPr b="0" i="1" dirty="0" err="1">
                <a:solidFill>
                  <a:schemeClr val="accent2"/>
                </a:solidFill>
              </a:rPr>
              <a:t>pełnym</a:t>
            </a:r>
            <a:r>
              <a:rPr b="0" i="1" dirty="0">
                <a:solidFill>
                  <a:schemeClr val="accent2"/>
                </a:solidFill>
              </a:rPr>
              <a:t> </a:t>
            </a:r>
            <a:r>
              <a:rPr b="0" i="1" dirty="0" err="1">
                <a:solidFill>
                  <a:schemeClr val="accent2"/>
                </a:solidFill>
              </a:rPr>
              <a:t>zestawie</a:t>
            </a:r>
            <a:r>
              <a:rPr b="0" i="1" dirty="0">
                <a:solidFill>
                  <a:schemeClr val="accent2"/>
                </a:solidFill>
              </a:rPr>
              <a:t> 28 </a:t>
            </a:r>
            <a:r>
              <a:rPr b="0" i="1" dirty="0" err="1">
                <a:solidFill>
                  <a:schemeClr val="accent2"/>
                </a:solidFill>
              </a:rPr>
              <a:t>obfuskowanych</a:t>
            </a:r>
            <a:r>
              <a:rPr b="0" i="1" dirty="0">
                <a:solidFill>
                  <a:schemeClr val="accent2"/>
                </a:solidFill>
              </a:rPr>
              <a:t> </a:t>
            </a:r>
            <a:r>
              <a:rPr b="0" i="1" dirty="0" err="1">
                <a:solidFill>
                  <a:schemeClr val="accent2"/>
                </a:solidFill>
              </a:rPr>
              <a:t>sample'ów</a:t>
            </a:r>
            <a:r>
              <a:rPr b="0" i="1" dirty="0">
                <a:solidFill>
                  <a:schemeClr val="accent2"/>
                </a:solidFill>
              </a:rPr>
              <a:t>.</a:t>
            </a:r>
          </a:p>
        </p:txBody>
      </p:sp>
      <p:pic>
        <p:nvPicPr>
          <p:cNvPr id="6" name="Picture 5" descr="3_pscli_full_corp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698480" cy="4572000"/>
          </a:xfrm>
          <a:prstGeom prst="rect">
            <a:avLst/>
          </a:prstGeom>
          <a:ln w="6350">
            <a:solidFill>
              <a:srgbClr val="778899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731520" y="6263640"/>
            <a:ext cx="10698480" cy="411480"/>
          </a:xfrm>
          <a:prstGeom prst="rect">
            <a:avLst/>
          </a:prstGeom>
          <a:solidFill>
            <a:srgbClr val="2A3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95620" y="6309360"/>
            <a:ext cx="617027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dirty="0">
                <a:solidFill>
                  <a:schemeClr val="tx1">
                    <a:lumMod val="95000"/>
                  </a:schemeClr>
                </a:solidFill>
              </a:rPr>
              <a:t>27 × AMSI BYPASS    •    1 × Suspicious  (sample 27 — </a:t>
            </a:r>
            <a:r>
              <a:rPr sz="1300" b="1" i="0" dirty="0" err="1">
                <a:solidFill>
                  <a:schemeClr val="tx1">
                    <a:lumMod val="95000"/>
                  </a:schemeClr>
                </a:solidFill>
              </a:rPr>
              <a:t>patrz</a:t>
            </a:r>
            <a:r>
              <a:rPr sz="1300" b="1" i="0" dirty="0">
                <a:solidFill>
                  <a:schemeClr val="tx1">
                    <a:lumMod val="95000"/>
                  </a:schemeClr>
                </a:solidFill>
              </a:rPr>
              <a:t> Akt 4)    •    0 × Clean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D85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V.3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315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Act 3  —  Literal radkum technique (sample 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031486"/>
            <a:ext cx="775629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dirty="0" err="1">
                <a:solidFill>
                  <a:schemeClr val="accent2"/>
                </a:solidFill>
              </a:rPr>
              <a:t>Adaptacja</a:t>
            </a:r>
            <a:r>
              <a:rPr b="0" i="1" dirty="0">
                <a:solidFill>
                  <a:schemeClr val="accent2"/>
                </a:solidFill>
              </a:rPr>
              <a:t> github.com/</a:t>
            </a:r>
            <a:r>
              <a:rPr b="0" i="1" dirty="0" err="1">
                <a:solidFill>
                  <a:schemeClr val="accent2"/>
                </a:solidFill>
              </a:rPr>
              <a:t>radkum</a:t>
            </a:r>
            <a:r>
              <a:rPr b="0" i="1" dirty="0">
                <a:solidFill>
                  <a:schemeClr val="accent2"/>
                </a:solidFill>
              </a:rPr>
              <a:t>/</a:t>
            </a:r>
            <a:r>
              <a:rPr b="0" i="1" dirty="0" err="1">
                <a:solidFill>
                  <a:schemeClr val="accent2"/>
                </a:solidFill>
              </a:rPr>
              <a:t>AmsiProviderScanDisruption</a:t>
            </a:r>
            <a:r>
              <a:rPr b="0" i="1" dirty="0">
                <a:solidFill>
                  <a:schemeClr val="accent2"/>
                </a:solidFill>
              </a:rPr>
              <a:t> — bez </a:t>
            </a:r>
            <a:r>
              <a:rPr b="0" i="1" dirty="0" err="1">
                <a:solidFill>
                  <a:schemeClr val="accent2"/>
                </a:solidFill>
              </a:rPr>
              <a:t>obfuskacji</a:t>
            </a:r>
            <a:r>
              <a:rPr b="0" i="1" dirty="0">
                <a:solidFill>
                  <a:schemeClr val="accent2"/>
                </a:solidFill>
              </a:rPr>
              <a:t>.</a:t>
            </a:r>
          </a:p>
        </p:txBody>
      </p:sp>
      <p:pic>
        <p:nvPicPr>
          <p:cNvPr id="6" name="Picture 5" descr="4_sample26_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554480"/>
            <a:ext cx="9418320" cy="4297680"/>
          </a:xfrm>
          <a:prstGeom prst="rect">
            <a:avLst/>
          </a:prstGeom>
          <a:ln w="6350">
            <a:solidFill>
              <a:srgbClr val="77889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632904" y="6446520"/>
            <a:ext cx="492314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 dirty="0" err="1">
                <a:solidFill>
                  <a:schemeClr val="tx1">
                    <a:lumMod val="95000"/>
                  </a:schemeClr>
                </a:solidFill>
              </a:rPr>
              <a:t>Literalne</a:t>
            </a:r>
            <a:r>
              <a:rPr sz="1000" b="0" i="1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1000" b="0" i="1" dirty="0" err="1">
                <a:solidFill>
                  <a:schemeClr val="tx1">
                    <a:lumMod val="95000"/>
                  </a:schemeClr>
                </a:solidFill>
              </a:rPr>
              <a:t>DllGetClassObject</a:t>
            </a:r>
            <a:r>
              <a:rPr sz="1000" b="0" i="1" dirty="0">
                <a:solidFill>
                  <a:schemeClr val="tx1">
                    <a:lumMod val="95000"/>
                  </a:schemeClr>
                </a:solidFill>
              </a:rPr>
              <a:t>, </a:t>
            </a:r>
            <a:r>
              <a:rPr sz="1000" b="0" i="1" dirty="0" err="1">
                <a:solidFill>
                  <a:schemeClr val="tx1">
                    <a:lumMod val="95000"/>
                  </a:schemeClr>
                </a:solidFill>
              </a:rPr>
              <a:t>Marshal.WriteIntPtr</a:t>
            </a:r>
            <a:r>
              <a:rPr sz="1000" b="0" i="1" dirty="0">
                <a:solidFill>
                  <a:schemeClr val="tx1">
                    <a:lumMod val="95000"/>
                  </a:schemeClr>
                </a:solidFill>
              </a:rPr>
              <a:t>, </a:t>
            </a:r>
            <a:r>
              <a:rPr sz="1000" b="0" i="1" dirty="0" err="1">
                <a:solidFill>
                  <a:schemeClr val="tx1">
                    <a:lumMod val="95000"/>
                  </a:schemeClr>
                </a:solidFill>
              </a:rPr>
              <a:t>AllocHGlobal</a:t>
            </a:r>
            <a:r>
              <a:rPr sz="1000" b="0" i="1" dirty="0">
                <a:solidFill>
                  <a:schemeClr val="tx1">
                    <a:lumMod val="95000"/>
                  </a:schemeClr>
                </a:solidFill>
              </a:rPr>
              <a:t> — </a:t>
            </a:r>
            <a:r>
              <a:rPr sz="1000" b="0" i="1" dirty="0" err="1">
                <a:solidFill>
                  <a:schemeClr val="tx1">
                    <a:lumMod val="95000"/>
                  </a:schemeClr>
                </a:solidFill>
              </a:rPr>
              <a:t>wszystko</a:t>
            </a:r>
            <a:r>
              <a:rPr sz="1000" b="0" i="1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1000" b="0" i="1" dirty="0" err="1">
                <a:solidFill>
                  <a:schemeClr val="tx1">
                    <a:lumMod val="95000"/>
                  </a:schemeClr>
                </a:solidFill>
              </a:rPr>
              <a:t>na</a:t>
            </a:r>
            <a:r>
              <a:rPr sz="1000" b="0" i="1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1000" b="0" i="1" dirty="0" err="1">
                <a:solidFill>
                  <a:schemeClr val="tx1">
                    <a:lumMod val="95000"/>
                  </a:schemeClr>
                </a:solidFill>
              </a:rPr>
              <a:t>wierzchu</a:t>
            </a:r>
            <a:r>
              <a:rPr sz="1000" b="0" i="1" dirty="0">
                <a:solidFill>
                  <a:schemeClr val="tx1">
                    <a:lumMod val="95000"/>
                  </a:schemeClr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D85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V.3b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315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Act 3  —  Live block in PowerShell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084564"/>
            <a:ext cx="674191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0" i="1" dirty="0">
                <a:solidFill>
                  <a:schemeClr val="accent2"/>
                </a:solidFill>
              </a:rPr>
              <a:t>Provider </a:t>
            </a:r>
            <a:r>
              <a:rPr b="0" i="1" dirty="0" err="1">
                <a:solidFill>
                  <a:schemeClr val="accent2"/>
                </a:solidFill>
              </a:rPr>
              <a:t>zwraca</a:t>
            </a:r>
            <a:r>
              <a:rPr b="0" i="1" dirty="0">
                <a:solidFill>
                  <a:schemeClr val="accent2"/>
                </a:solidFill>
              </a:rPr>
              <a:t> AMSI_RESULT_DETECTED. PS </a:t>
            </a:r>
            <a:r>
              <a:rPr b="0" i="1" dirty="0" err="1">
                <a:solidFill>
                  <a:schemeClr val="accent2"/>
                </a:solidFill>
              </a:rPr>
              <a:t>odmawia</a:t>
            </a:r>
            <a:r>
              <a:rPr b="0" i="1" dirty="0">
                <a:solidFill>
                  <a:schemeClr val="accent2"/>
                </a:solidFill>
              </a:rPr>
              <a:t> </a:t>
            </a:r>
            <a:r>
              <a:rPr b="0" i="1" dirty="0" err="1">
                <a:solidFill>
                  <a:schemeClr val="accent2"/>
                </a:solidFill>
              </a:rPr>
              <a:t>wykonania</a:t>
            </a:r>
            <a:r>
              <a:rPr b="0" i="1" dirty="0">
                <a:solidFill>
                  <a:schemeClr val="accent2"/>
                </a:solidFill>
              </a:rPr>
              <a:t>.</a:t>
            </a:r>
          </a:p>
        </p:txBody>
      </p:sp>
      <p:pic>
        <p:nvPicPr>
          <p:cNvPr id="6" name="Picture 5" descr="5_amsi_red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554480"/>
            <a:ext cx="9418320" cy="4206240"/>
          </a:xfrm>
          <a:prstGeom prst="rect">
            <a:avLst/>
          </a:prstGeom>
          <a:ln w="6350">
            <a:solidFill>
              <a:srgbClr val="778899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731520" y="5852160"/>
            <a:ext cx="10698480" cy="640080"/>
          </a:xfrm>
          <a:prstGeom prst="rect">
            <a:avLst/>
          </a:prstGeom>
          <a:solidFill>
            <a:srgbClr val="2A3B4D"/>
          </a:solidFill>
          <a:ln w="2540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1468" y="5943600"/>
            <a:ext cx="957858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1" dirty="0" err="1">
                <a:solidFill>
                  <a:srgbClr val="FFFFFF"/>
                </a:solidFill>
              </a:rPr>
              <a:t>Standardowy</a:t>
            </a:r>
            <a:r>
              <a:rPr sz="1400" b="0" i="1" dirty="0">
                <a:solidFill>
                  <a:srgbClr val="FFFFFF"/>
                </a:solidFill>
              </a:rPr>
              <a:t> AMSI block message — </a:t>
            </a:r>
            <a:r>
              <a:rPr sz="1400" b="0" i="1" dirty="0" err="1">
                <a:solidFill>
                  <a:srgbClr val="FFFFFF"/>
                </a:solidFill>
              </a:rPr>
              <a:t>nie</a:t>
            </a:r>
            <a:r>
              <a:rPr sz="1400" b="0" i="1" dirty="0">
                <a:solidFill>
                  <a:srgbClr val="FFFFFF"/>
                </a:solidFill>
              </a:rPr>
              <a:t> </a:t>
            </a:r>
            <a:r>
              <a:rPr sz="1400" b="0" i="1" dirty="0" err="1">
                <a:solidFill>
                  <a:srgbClr val="FFFFFF"/>
                </a:solidFill>
              </a:rPr>
              <a:t>nasza</a:t>
            </a:r>
            <a:r>
              <a:rPr sz="1400" b="0" i="1" dirty="0">
                <a:solidFill>
                  <a:srgbClr val="FFFFFF"/>
                </a:solidFill>
              </a:rPr>
              <a:t> </a:t>
            </a:r>
            <a:r>
              <a:rPr sz="1400" b="0" i="1" dirty="0" err="1">
                <a:solidFill>
                  <a:srgbClr val="FFFFFF"/>
                </a:solidFill>
              </a:rPr>
              <a:t>nakładka</a:t>
            </a:r>
            <a:r>
              <a:rPr sz="1400" b="0" i="1" dirty="0">
                <a:solidFill>
                  <a:srgbClr val="FFFFFF"/>
                </a:solidFill>
              </a:rPr>
              <a:t>.  </a:t>
            </a:r>
            <a:r>
              <a:rPr sz="1400" b="0" i="1" dirty="0" err="1">
                <a:solidFill>
                  <a:srgbClr val="FFFFFF"/>
                </a:solidFill>
              </a:rPr>
              <a:t>Skrypt</a:t>
            </a:r>
            <a:r>
              <a:rPr sz="1400" b="0" i="1" dirty="0">
                <a:solidFill>
                  <a:srgbClr val="FFFFFF"/>
                </a:solidFill>
              </a:rPr>
              <a:t> </a:t>
            </a:r>
            <a:r>
              <a:rPr sz="1400" b="0" i="1" dirty="0" err="1">
                <a:solidFill>
                  <a:srgbClr val="FFFFFF"/>
                </a:solidFill>
              </a:rPr>
              <a:t>sprzed</a:t>
            </a:r>
            <a:r>
              <a:rPr sz="1400" b="0" i="1" dirty="0">
                <a:solidFill>
                  <a:srgbClr val="FFFFFF"/>
                </a:solidFill>
              </a:rPr>
              <a:t> 5 </a:t>
            </a:r>
            <a:r>
              <a:rPr sz="1400" b="0" i="1" dirty="0" err="1">
                <a:solidFill>
                  <a:srgbClr val="FFFFFF"/>
                </a:solidFill>
              </a:rPr>
              <a:t>lat</a:t>
            </a:r>
            <a:r>
              <a:rPr sz="1400" b="0" i="1" dirty="0">
                <a:solidFill>
                  <a:srgbClr val="FFFFFF"/>
                </a:solidFill>
              </a:rPr>
              <a:t> → </a:t>
            </a:r>
            <a:r>
              <a:rPr sz="1400" b="0" i="1" dirty="0" err="1">
                <a:solidFill>
                  <a:srgbClr val="FFFFFF"/>
                </a:solidFill>
              </a:rPr>
              <a:t>blokowany</a:t>
            </a:r>
            <a:r>
              <a:rPr sz="1400" b="0" i="1" dirty="0">
                <a:solidFill>
                  <a:srgbClr val="FFFFFF"/>
                </a:solidFill>
              </a:rPr>
              <a:t> </a:t>
            </a:r>
            <a:r>
              <a:rPr sz="1400" b="0" i="1" dirty="0" err="1">
                <a:solidFill>
                  <a:srgbClr val="FFFFFF"/>
                </a:solidFill>
              </a:rPr>
              <a:t>dziś</a:t>
            </a:r>
            <a:r>
              <a:rPr sz="1400" b="0" i="1" dirty="0">
                <a:solidFill>
                  <a:srgbClr val="FFFFFF"/>
                </a:solidFill>
              </a:rPr>
              <a:t> </a:t>
            </a:r>
            <a:r>
              <a:rPr sz="1400" b="0" i="1" dirty="0" err="1">
                <a:solidFill>
                  <a:srgbClr val="FFFFFF"/>
                </a:solidFill>
              </a:rPr>
              <a:t>przez</a:t>
            </a:r>
            <a:r>
              <a:rPr sz="1400" b="0" i="1" dirty="0">
                <a:solidFill>
                  <a:srgbClr val="FFFFFF"/>
                </a:solidFill>
              </a:rPr>
              <a:t> </a:t>
            </a:r>
            <a:r>
              <a:rPr sz="1400" b="0" i="1" dirty="0" err="1">
                <a:solidFill>
                  <a:srgbClr val="FFFFFF"/>
                </a:solidFill>
              </a:rPr>
              <a:t>własny</a:t>
            </a:r>
            <a:r>
              <a:rPr sz="1400" b="0" i="1" dirty="0">
                <a:solidFill>
                  <a:srgbClr val="FFFFFF"/>
                </a:solidFill>
              </a:rPr>
              <a:t> detector </a:t>
            </a:r>
            <a:r>
              <a:rPr sz="1400" b="0" i="1" dirty="0" err="1">
                <a:solidFill>
                  <a:srgbClr val="FFFFFF"/>
                </a:solidFill>
              </a:rPr>
              <a:t>autora</a:t>
            </a:r>
            <a:r>
              <a:rPr sz="1400" b="0" i="1" dirty="0">
                <a:solidFill>
                  <a:srgbClr val="FFFFFF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D85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V.4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315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Act 4  —  Evasive variant (sample 27)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848001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dirty="0">
                <a:solidFill>
                  <a:schemeClr val="accent2"/>
                </a:solidFill>
              </a:rPr>
              <a:t>To </a:t>
            </a:r>
            <a:r>
              <a:rPr b="0" i="1" dirty="0" err="1">
                <a:solidFill>
                  <a:schemeClr val="accent2"/>
                </a:solidFill>
              </a:rPr>
              <a:t>samo</a:t>
            </a:r>
            <a:r>
              <a:rPr b="0" i="1" dirty="0">
                <a:solidFill>
                  <a:schemeClr val="accent2"/>
                </a:solidFill>
              </a:rPr>
              <a:t> </a:t>
            </a:r>
            <a:r>
              <a:rPr b="0" i="1" dirty="0" err="1">
                <a:solidFill>
                  <a:schemeClr val="accent2"/>
                </a:solidFill>
              </a:rPr>
              <a:t>zachowanie</a:t>
            </a:r>
            <a:r>
              <a:rPr b="0" i="1" dirty="0">
                <a:solidFill>
                  <a:schemeClr val="accent2"/>
                </a:solidFill>
              </a:rPr>
              <a:t> co sample 26 — </a:t>
            </a:r>
            <a:r>
              <a:rPr b="0" i="1" dirty="0" err="1">
                <a:solidFill>
                  <a:schemeClr val="accent2"/>
                </a:solidFill>
              </a:rPr>
              <a:t>każdy</a:t>
            </a:r>
            <a:r>
              <a:rPr b="0" i="1" dirty="0">
                <a:solidFill>
                  <a:schemeClr val="accent2"/>
                </a:solidFill>
              </a:rPr>
              <a:t> </a:t>
            </a:r>
            <a:r>
              <a:rPr b="0" i="1" dirty="0" err="1">
                <a:solidFill>
                  <a:schemeClr val="accent2"/>
                </a:solidFill>
              </a:rPr>
              <a:t>identyfikator</a:t>
            </a:r>
            <a:r>
              <a:rPr b="0" i="1" dirty="0">
                <a:solidFill>
                  <a:schemeClr val="accent2"/>
                </a:solidFill>
              </a:rPr>
              <a:t> </a:t>
            </a:r>
            <a:r>
              <a:rPr b="0" i="1" dirty="0" err="1">
                <a:solidFill>
                  <a:schemeClr val="accent2"/>
                </a:solidFill>
              </a:rPr>
              <a:t>zrekonstruowany</a:t>
            </a:r>
            <a:r>
              <a:rPr b="0" i="1" dirty="0">
                <a:solidFill>
                  <a:schemeClr val="accent2"/>
                </a:solidFill>
              </a:rPr>
              <a:t> w runtime.</a:t>
            </a:r>
          </a:p>
        </p:txBody>
      </p:sp>
      <p:pic>
        <p:nvPicPr>
          <p:cNvPr id="6" name="Picture 5" descr="6_sample27_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10332720" cy="4023360"/>
          </a:xfrm>
          <a:prstGeom prst="rect">
            <a:avLst/>
          </a:prstGeom>
          <a:ln w="6350">
            <a:solidFill>
              <a:srgbClr val="77889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133856" y="5669280"/>
            <a:ext cx="834997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dirty="0">
                <a:solidFill>
                  <a:srgbClr val="D85218"/>
                </a:solidFill>
              </a:rPr>
              <a:t>▸ </a:t>
            </a:r>
            <a:r>
              <a:rPr sz="1600" dirty="0">
                <a:solidFill>
                  <a:srgbClr val="FFFFFF"/>
                </a:solidFill>
              </a:rPr>
              <a:t>Type name z char-code compare:  </a:t>
            </a:r>
            <a:r>
              <a:rPr lang="en-US" sz="1600" dirty="0">
                <a:solidFill>
                  <a:srgbClr val="FFFFFF"/>
                </a:solidFill>
              </a:rPr>
              <a:t>  </a:t>
            </a:r>
            <a:r>
              <a:rPr sz="1600" dirty="0">
                <a:solidFill>
                  <a:srgbClr val="FFFFFF"/>
                </a:solidFill>
                <a:latin typeface="Abadi" panose="020B0604020104020204" pitchFamily="34" charset="0"/>
              </a:rPr>
              <a:t>[int][char]$k[0] -eq 65   (= 'A')</a:t>
            </a:r>
          </a:p>
          <a:p>
            <a:pPr algn="l"/>
            <a:r>
              <a:rPr sz="1600" b="1" dirty="0">
                <a:solidFill>
                  <a:srgbClr val="D85218"/>
                </a:solidFill>
              </a:rPr>
              <a:t>▸ </a:t>
            </a:r>
            <a:r>
              <a:rPr sz="1600" dirty="0">
                <a:solidFill>
                  <a:srgbClr val="FFFFFF"/>
                </a:solidFill>
              </a:rPr>
              <a:t>Method name z base64: </a:t>
            </a:r>
            <a:r>
              <a:rPr lang="en-US" sz="1600" dirty="0">
                <a:solidFill>
                  <a:srgbClr val="FFFFFF"/>
                </a:solidFill>
              </a:rPr>
              <a:t>  		</a:t>
            </a:r>
            <a:r>
              <a:rPr sz="1600" dirty="0">
                <a:solidFill>
                  <a:srgbClr val="FFFFFF"/>
                </a:solidFill>
              </a:rPr>
              <a:t> </a:t>
            </a:r>
            <a:r>
              <a:rPr sz="1600" dirty="0">
                <a:solidFill>
                  <a:srgbClr val="FFFFFF"/>
                </a:solidFill>
                <a:latin typeface="Abadi" panose="020B0604020104020204" pitchFamily="34" charset="0"/>
              </a:rPr>
              <a:t>'RGxsR2V0Q2xhc3NPYmplY3Q='  →  </a:t>
            </a:r>
            <a:r>
              <a:rPr sz="1600" dirty="0" err="1">
                <a:solidFill>
                  <a:srgbClr val="FFFFFF"/>
                </a:solidFill>
                <a:latin typeface="Abadi" panose="020B0604020104020204" pitchFamily="34" charset="0"/>
              </a:rPr>
              <a:t>DllGetClassObject</a:t>
            </a:r>
            <a:endParaRPr sz="1600" dirty="0">
              <a:solidFill>
                <a:srgbClr val="FFFFFF"/>
              </a:solidFill>
              <a:latin typeface="Abadi" panose="020B0604020104020204" pitchFamily="34" charset="0"/>
            </a:endParaRPr>
          </a:p>
          <a:p>
            <a:pPr algn="l"/>
            <a:r>
              <a:rPr sz="1600" b="1" dirty="0">
                <a:solidFill>
                  <a:srgbClr val="D85218"/>
                </a:solidFill>
              </a:rPr>
              <a:t>▸ </a:t>
            </a:r>
            <a:r>
              <a:rPr sz="1600" dirty="0">
                <a:solidFill>
                  <a:srgbClr val="FFFFFF"/>
                </a:solidFill>
              </a:rPr>
              <a:t>Attribute name z </a:t>
            </a:r>
            <a:r>
              <a:rPr sz="1600" dirty="0" err="1">
                <a:solidFill>
                  <a:srgbClr val="FFFFFF"/>
                </a:solidFill>
              </a:rPr>
              <a:t>konkatenacji</a:t>
            </a:r>
            <a:r>
              <a:rPr sz="1600" dirty="0">
                <a:solidFill>
                  <a:srgbClr val="FFFFFF"/>
                </a:solidFill>
              </a:rPr>
              <a:t>:  </a:t>
            </a:r>
            <a:r>
              <a:rPr lang="en-US" sz="1600" dirty="0">
                <a:solidFill>
                  <a:srgbClr val="FFFFFF"/>
                </a:solidFill>
              </a:rPr>
              <a:t>       </a:t>
            </a:r>
            <a:r>
              <a:rPr sz="1600" dirty="0">
                <a:solidFill>
                  <a:srgbClr val="FFFFFF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'Unmanaged' + '</a:t>
            </a:r>
            <a:r>
              <a:rPr sz="1600" dirty="0" err="1">
                <a:solidFill>
                  <a:srgbClr val="FFFFFF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FunctionPointer</a:t>
            </a:r>
            <a:r>
              <a:rPr sz="1600" dirty="0">
                <a:solidFill>
                  <a:srgbClr val="FFFFFF"/>
                </a:solidFill>
                <a:latin typeface="Abadi" panose="020B0604020104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'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D85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V.4b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315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Act 4  —  ⭐ PUNCH  ⭐  ps-parser-cli says 'Suspicious'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060704"/>
            <a:ext cx="899380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dirty="0">
                <a:solidFill>
                  <a:schemeClr val="accent2"/>
                </a:solidFill>
              </a:rPr>
              <a:t>Best static engine recovers </a:t>
            </a:r>
            <a:r>
              <a:rPr b="0" i="1" dirty="0" err="1">
                <a:solidFill>
                  <a:schemeClr val="accent2"/>
                </a:solidFill>
              </a:rPr>
              <a:t>DllGetClassObject</a:t>
            </a:r>
            <a:r>
              <a:rPr b="0" i="1" dirty="0">
                <a:solidFill>
                  <a:schemeClr val="accent2"/>
                </a:solidFill>
              </a:rPr>
              <a:t> from base64. But cannot reach BYPASS verdict.</a:t>
            </a:r>
          </a:p>
        </p:txBody>
      </p:sp>
      <p:pic>
        <p:nvPicPr>
          <p:cNvPr id="6" name="Picture 5" descr="7_pscli_sample27_suspici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554480"/>
            <a:ext cx="6675120" cy="4206240"/>
          </a:xfrm>
          <a:prstGeom prst="rect">
            <a:avLst/>
          </a:prstGeom>
          <a:ln w="6350">
            <a:solidFill>
              <a:srgbClr val="778899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731520" y="5852160"/>
            <a:ext cx="10698480" cy="685800"/>
          </a:xfrm>
          <a:prstGeom prst="rect">
            <a:avLst/>
          </a:prstGeom>
          <a:solidFill>
            <a:srgbClr val="2A3B4D"/>
          </a:solidFill>
          <a:ln w="2540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08779" y="5943600"/>
            <a:ext cx="8143961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dirty="0">
                <a:solidFill>
                  <a:schemeClr val="tx1">
                    <a:lumMod val="85000"/>
                  </a:schemeClr>
                </a:solidFill>
              </a:rPr>
              <a:t>status = Suspicious    •    confidence = 24    •    </a:t>
            </a:r>
            <a:r>
              <a:rPr sz="1300" b="1" i="0" dirty="0" err="1">
                <a:solidFill>
                  <a:schemeClr val="tx1">
                    <a:lumMod val="85000"/>
                  </a:schemeClr>
                </a:solidFill>
              </a:rPr>
              <a:t>is_amsi_bypass</a:t>
            </a:r>
            <a:r>
              <a:rPr sz="1300" b="1" i="0" dirty="0">
                <a:solidFill>
                  <a:schemeClr val="tx1">
                    <a:lumMod val="85000"/>
                  </a:schemeClr>
                </a:solidFill>
              </a:rPr>
              <a:t> = false    •    indicators: </a:t>
            </a:r>
            <a:r>
              <a:rPr sz="1300" b="1" i="0" dirty="0" err="1">
                <a:solidFill>
                  <a:schemeClr val="tx1">
                    <a:lumMod val="85000"/>
                  </a:schemeClr>
                </a:solidFill>
              </a:rPr>
              <a:t>ComManipulation</a:t>
            </a:r>
            <a:r>
              <a:rPr sz="1300" b="1" i="0" dirty="0">
                <a:solidFill>
                  <a:schemeClr val="tx1">
                    <a:lumMod val="85000"/>
                  </a:schemeClr>
                </a:solidFill>
              </a:rPr>
              <a:t> × 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D85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V.4c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315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Act 4  —  Suspicious is NOT a block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066276"/>
            <a:ext cx="852387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dirty="0">
                <a:solidFill>
                  <a:schemeClr val="accent2"/>
                </a:solidFill>
              </a:rPr>
              <a:t>Provider returns CLEAN to AMSI (</a:t>
            </a:r>
            <a:r>
              <a:rPr b="0" i="1" dirty="0" err="1">
                <a:solidFill>
                  <a:schemeClr val="accent2"/>
                </a:solidFill>
              </a:rPr>
              <a:t>is_amsi_bypass</a:t>
            </a:r>
            <a:r>
              <a:rPr b="0" i="1" dirty="0">
                <a:solidFill>
                  <a:schemeClr val="accent2"/>
                </a:solidFill>
              </a:rPr>
              <a:t>=false). PowerShell executes the script.</a:t>
            </a:r>
          </a:p>
        </p:txBody>
      </p:sp>
      <p:pic>
        <p:nvPicPr>
          <p:cNvPr id="6" name="Picture 5" descr="7_pscli_sample27_not_blo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554480"/>
            <a:ext cx="9418320" cy="4114800"/>
          </a:xfrm>
          <a:prstGeom prst="rect">
            <a:avLst/>
          </a:prstGeom>
          <a:ln w="6350">
            <a:solidFill>
              <a:srgbClr val="778899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731520" y="5760720"/>
            <a:ext cx="10698480" cy="777240"/>
          </a:xfrm>
          <a:prstGeom prst="rect">
            <a:avLst/>
          </a:prstGeom>
          <a:solidFill>
            <a:srgbClr val="2A3B4D"/>
          </a:solidFill>
          <a:ln w="2540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18809" y="5852160"/>
            <a:ext cx="6523901" cy="292388"/>
          </a:xfrm>
          <a:prstGeom prst="rect">
            <a:avLst/>
          </a:prstGeom>
          <a:noFill/>
          <a:ln>
            <a:solidFill>
              <a:schemeClr val="tx1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pPr algn="ctr"/>
            <a:r>
              <a:rPr sz="1300" b="1" i="0" dirty="0">
                <a:solidFill>
                  <a:schemeClr val="tx1">
                    <a:lumMod val="95000"/>
                  </a:schemeClr>
                </a:solidFill>
              </a:rPr>
              <a:t>To jest </a:t>
            </a:r>
            <a:r>
              <a:rPr sz="1300" b="1" i="0" dirty="0" err="1">
                <a:solidFill>
                  <a:schemeClr val="tx1">
                    <a:lumMod val="95000"/>
                  </a:schemeClr>
                </a:solidFill>
              </a:rPr>
              <a:t>pułap</a:t>
            </a:r>
            <a:r>
              <a:rPr sz="1300" b="1" i="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1300" b="1" i="0" dirty="0" err="1">
                <a:solidFill>
                  <a:schemeClr val="tx1">
                    <a:lumMod val="95000"/>
                  </a:schemeClr>
                </a:solidFill>
              </a:rPr>
              <a:t>statyki</a:t>
            </a:r>
            <a:r>
              <a:rPr sz="1300" b="1" i="0" dirty="0">
                <a:solidFill>
                  <a:schemeClr val="tx1">
                    <a:lumMod val="95000"/>
                  </a:schemeClr>
                </a:solidFill>
              </a:rPr>
              <a:t> w </a:t>
            </a:r>
            <a:r>
              <a:rPr sz="1300" b="1" i="0" dirty="0" err="1">
                <a:solidFill>
                  <a:schemeClr val="tx1">
                    <a:lumMod val="95000"/>
                  </a:schemeClr>
                </a:solidFill>
              </a:rPr>
              <a:t>działaniu</a:t>
            </a:r>
            <a:r>
              <a:rPr sz="1300" b="1" i="0" dirty="0">
                <a:solidFill>
                  <a:schemeClr val="tx1">
                    <a:lumMod val="95000"/>
                  </a:schemeClr>
                </a:solidFill>
              </a:rPr>
              <a:t>.  </a:t>
            </a:r>
            <a:r>
              <a:rPr sz="1300" b="1" i="0" dirty="0" err="1">
                <a:solidFill>
                  <a:schemeClr val="tx1">
                    <a:lumMod val="95000"/>
                  </a:schemeClr>
                </a:solidFill>
              </a:rPr>
              <a:t>Silnik</a:t>
            </a:r>
            <a:r>
              <a:rPr sz="1300" b="1" i="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1300" b="1" i="0" dirty="0" err="1">
                <a:solidFill>
                  <a:schemeClr val="tx1">
                    <a:lumMod val="95000"/>
                  </a:schemeClr>
                </a:solidFill>
              </a:rPr>
              <a:t>widzi</a:t>
            </a:r>
            <a:r>
              <a:rPr sz="1300" b="1" i="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1300" b="1" i="0" dirty="0" err="1">
                <a:solidFill>
                  <a:schemeClr val="tx1">
                    <a:lumMod val="95000"/>
                  </a:schemeClr>
                </a:solidFill>
              </a:rPr>
              <a:t>pęknięcie</a:t>
            </a:r>
            <a:r>
              <a:rPr sz="1300" b="1" i="0" dirty="0">
                <a:solidFill>
                  <a:schemeClr val="tx1">
                    <a:lumMod val="95000"/>
                  </a:schemeClr>
                </a:solidFill>
              </a:rPr>
              <a:t>, </a:t>
            </a:r>
            <a:r>
              <a:rPr sz="1300" b="1" i="0" dirty="0" err="1">
                <a:solidFill>
                  <a:schemeClr val="tx1">
                    <a:lumMod val="95000"/>
                  </a:schemeClr>
                </a:solidFill>
              </a:rPr>
              <a:t>nie</a:t>
            </a:r>
            <a:r>
              <a:rPr sz="1300" b="1" i="0" dirty="0">
                <a:solidFill>
                  <a:schemeClr val="tx1">
                    <a:lumMod val="95000"/>
                  </a:schemeClr>
                </a:solidFill>
              </a:rPr>
              <a:t> ma </a:t>
            </a:r>
            <a:r>
              <a:rPr sz="1300" b="1" i="0" dirty="0" err="1">
                <a:solidFill>
                  <a:schemeClr val="tx1">
                    <a:lumMod val="95000"/>
                  </a:schemeClr>
                </a:solidFill>
              </a:rPr>
              <a:t>dowodu</a:t>
            </a:r>
            <a:r>
              <a:rPr sz="1300" b="1" i="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sz="1300" b="1" i="0" dirty="0" err="1">
                <a:solidFill>
                  <a:schemeClr val="tx1">
                    <a:lumMod val="95000"/>
                  </a:schemeClr>
                </a:solidFill>
              </a:rPr>
              <a:t>na</a:t>
            </a:r>
            <a:r>
              <a:rPr sz="1300" b="1" i="0" dirty="0">
                <a:solidFill>
                  <a:schemeClr val="tx1">
                    <a:lumMod val="95000"/>
                  </a:schemeClr>
                </a:solidFill>
              </a:rPr>
              <a:t> bypass.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</a:rPr>
              <a:t>Behavioral observation closes the gap.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D85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V.5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315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Act 5  —  Layer 2 (kernel) catches the recon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750269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i="1" dirty="0" err="1">
                <a:solidFill>
                  <a:schemeClr val="accent2"/>
                </a:solidFill>
              </a:rPr>
              <a:t>Każdy</a:t>
            </a:r>
            <a:r>
              <a:rPr b="0" i="1" dirty="0">
                <a:solidFill>
                  <a:schemeClr val="accent2"/>
                </a:solidFill>
              </a:rPr>
              <a:t> </a:t>
            </a:r>
            <a:r>
              <a:rPr b="0" i="1" dirty="0" err="1">
                <a:solidFill>
                  <a:schemeClr val="accent2"/>
                </a:solidFill>
              </a:rPr>
              <a:t>OpenSubKey</a:t>
            </a:r>
            <a:r>
              <a:rPr b="0" i="1" dirty="0">
                <a:solidFill>
                  <a:schemeClr val="accent2"/>
                </a:solidFill>
              </a:rPr>
              <a:t> z \AMSI\ w </a:t>
            </a:r>
            <a:r>
              <a:rPr b="0" i="1" dirty="0" err="1">
                <a:solidFill>
                  <a:schemeClr val="accent2"/>
                </a:solidFill>
              </a:rPr>
              <a:t>ścieżce</a:t>
            </a:r>
            <a:r>
              <a:rPr b="0" i="1" dirty="0">
                <a:solidFill>
                  <a:schemeClr val="accent2"/>
                </a:solidFill>
              </a:rPr>
              <a:t>  →  event AMSI-RECON w </a:t>
            </a:r>
            <a:r>
              <a:rPr b="0" i="1" dirty="0" err="1">
                <a:solidFill>
                  <a:schemeClr val="accent2"/>
                </a:solidFill>
              </a:rPr>
              <a:t>sysmon</a:t>
            </a:r>
            <a:r>
              <a:rPr b="0" i="1" dirty="0">
                <a:solidFill>
                  <a:schemeClr val="accent2"/>
                </a:solidFill>
              </a:rPr>
              <a:t>-um.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5172" y="5226528"/>
            <a:ext cx="10698480" cy="502920"/>
          </a:xfrm>
          <a:prstGeom prst="rect">
            <a:avLst/>
          </a:prstGeom>
          <a:solidFill>
            <a:srgbClr val="2A3B4D"/>
          </a:solidFill>
          <a:ln w="2540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80915" y="5331794"/>
            <a:ext cx="6599692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dirty="0" err="1">
                <a:solidFill>
                  <a:schemeClr val="tx1">
                    <a:lumMod val="85000"/>
                  </a:schemeClr>
                </a:solidFill>
              </a:rPr>
              <a:t>Żadna</a:t>
            </a:r>
            <a:r>
              <a:rPr sz="1300" b="1" i="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lang="en-US" sz="1300" b="1" i="0" dirty="0" err="1">
                <a:solidFill>
                  <a:schemeClr val="tx1">
                    <a:lumMod val="85000"/>
                  </a:schemeClr>
                </a:solidFill>
              </a:rPr>
              <a:t>legalna</a:t>
            </a:r>
            <a:r>
              <a:rPr lang="en-US" sz="1300" b="1" i="0" dirty="0">
                <a:solidFill>
                  <a:schemeClr val="tx1">
                    <a:lumMod val="85000"/>
                  </a:schemeClr>
                </a:solidFill>
              </a:rPr>
              <a:t>/</a:t>
            </a:r>
            <a:r>
              <a:rPr lang="en-US" sz="1300" b="1" i="0" dirty="0" err="1">
                <a:solidFill>
                  <a:schemeClr val="tx1">
                    <a:lumMod val="85000"/>
                  </a:schemeClr>
                </a:solidFill>
              </a:rPr>
              <a:t>czysta</a:t>
            </a:r>
            <a:r>
              <a:rPr sz="1300" b="1" i="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sz="1300" b="1" i="0" dirty="0" err="1">
                <a:solidFill>
                  <a:schemeClr val="tx1">
                    <a:lumMod val="85000"/>
                  </a:schemeClr>
                </a:solidFill>
              </a:rPr>
              <a:t>aplikacja</a:t>
            </a:r>
            <a:r>
              <a:rPr sz="1300" b="1" i="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sz="1300" b="1" i="0" dirty="0" err="1">
                <a:solidFill>
                  <a:schemeClr val="tx1">
                    <a:lumMod val="85000"/>
                  </a:schemeClr>
                </a:solidFill>
              </a:rPr>
              <a:t>nie</a:t>
            </a:r>
            <a:r>
              <a:rPr sz="1300" b="1" i="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sz="1300" b="1" i="0" dirty="0" err="1">
                <a:solidFill>
                  <a:schemeClr val="tx1">
                    <a:lumMod val="85000"/>
                  </a:schemeClr>
                </a:solidFill>
              </a:rPr>
              <a:t>czyta</a:t>
            </a:r>
            <a:r>
              <a:rPr sz="1300" b="1" i="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sz="1300" b="1" i="0" dirty="0" err="1">
                <a:solidFill>
                  <a:schemeClr val="tx1">
                    <a:lumMod val="85000"/>
                  </a:schemeClr>
                </a:solidFill>
              </a:rPr>
              <a:t>tych</a:t>
            </a:r>
            <a:r>
              <a:rPr sz="1300" b="1" i="0" dirty="0">
                <a:solidFill>
                  <a:schemeClr val="tx1">
                    <a:lumMod val="85000"/>
                  </a:schemeClr>
                </a:solidFill>
              </a:rPr>
              <a:t> </a:t>
            </a:r>
            <a:r>
              <a:rPr sz="1300" b="1" i="0" dirty="0" err="1">
                <a:solidFill>
                  <a:schemeClr val="tx1">
                    <a:lumMod val="85000"/>
                  </a:schemeClr>
                </a:solidFill>
              </a:rPr>
              <a:t>kluczy</a:t>
            </a:r>
            <a:r>
              <a:rPr sz="1300" b="1" i="0" dirty="0">
                <a:solidFill>
                  <a:schemeClr val="tx1">
                    <a:lumMod val="85000"/>
                  </a:schemeClr>
                </a:solidFill>
              </a:rPr>
              <a:t>.  </a:t>
            </a:r>
            <a:r>
              <a:rPr sz="1300" b="1" i="0" dirty="0" err="1">
                <a:solidFill>
                  <a:schemeClr val="tx1">
                    <a:lumMod val="85000"/>
                  </a:schemeClr>
                </a:solidFill>
              </a:rPr>
              <a:t>Decyzja</a:t>
            </a:r>
            <a:r>
              <a:rPr sz="1300" b="1" i="0" dirty="0">
                <a:solidFill>
                  <a:schemeClr val="tx1">
                    <a:lumMod val="85000"/>
                  </a:schemeClr>
                </a:solidFill>
              </a:rPr>
              <a:t> w 10 </a:t>
            </a:r>
            <a:r>
              <a:rPr sz="1300" b="1" i="0" dirty="0" err="1">
                <a:solidFill>
                  <a:schemeClr val="tx1">
                    <a:lumMod val="85000"/>
                  </a:schemeClr>
                </a:solidFill>
              </a:rPr>
              <a:t>ms.</a:t>
            </a:r>
            <a:r>
              <a:rPr sz="1300" b="1" i="0" dirty="0">
                <a:solidFill>
                  <a:schemeClr val="tx1">
                    <a:lumMod val="85000"/>
                  </a:schemeClr>
                </a:solidFill>
              </a:rPr>
              <a:t>  </a:t>
            </a:r>
            <a:r>
              <a:rPr sz="1300" b="1" i="0" dirty="0" err="1">
                <a:solidFill>
                  <a:schemeClr val="tx1">
                    <a:lumMod val="85000"/>
                  </a:schemeClr>
                </a:solidFill>
              </a:rPr>
              <a:t>Definitywna</a:t>
            </a:r>
            <a:r>
              <a:rPr sz="1300" b="1" i="0" dirty="0">
                <a:solidFill>
                  <a:schemeClr val="tx1">
                    <a:lumMod val="85000"/>
                  </a:schemeClr>
                </a:solidFill>
              </a:rPr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37F17C-1F44-524C-518E-C863A57C3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" y="2028504"/>
            <a:ext cx="12188825" cy="284671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D85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1371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73152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Summary — detection gradient on sample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657600" cy="4572000"/>
          </a:xfrm>
          <a:prstGeom prst="rect">
            <a:avLst/>
          </a:prstGeom>
          <a:solidFill>
            <a:srgbClr val="2A3B4D"/>
          </a:solidFill>
          <a:ln w="25400">
            <a:solidFill>
              <a:srgbClr val="77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778899"/>
                </a:solidFill>
              </a:rPr>
              <a:t>Naive static parser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778899"/>
                </a:solidFill>
              </a:rPr>
              <a:t>AST + literal-string 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329184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D85218"/>
                </a:solidFill>
              </a:rPr>
              <a:t>▸ </a:t>
            </a:r>
            <a:r>
              <a:rPr sz="1200">
                <a:solidFill>
                  <a:srgbClr val="AABBCC"/>
                </a:solidFill>
              </a:rPr>
              <a:t>Widzi: literal AMSI</a:t>
            </a:r>
          </a:p>
          <a:p>
            <a:pPr algn="l"/>
            <a:r>
              <a:rPr sz="1200" b="1">
                <a:solidFill>
                  <a:srgbClr val="D85218"/>
                </a:solidFill>
              </a:rPr>
              <a:t>▸ </a:t>
            </a:r>
            <a:r>
              <a:rPr sz="1200">
                <a:solidFill>
                  <a:srgbClr val="AABBCC"/>
                </a:solidFill>
              </a:rPr>
              <a:t>Widzi: literal AmsiUtils</a:t>
            </a:r>
          </a:p>
          <a:p>
            <a:pPr algn="l"/>
            <a:r>
              <a:rPr sz="1200" b="1">
                <a:solidFill>
                  <a:srgbClr val="D85218"/>
                </a:solidFill>
              </a:rPr>
              <a:t>▸ </a:t>
            </a:r>
            <a:r>
              <a:rPr sz="1200">
                <a:solidFill>
                  <a:srgbClr val="AABBCC"/>
                </a:solidFill>
              </a:rPr>
              <a:t>Widzi: amsiInitFailed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937760"/>
            <a:ext cx="3291840" cy="777240"/>
          </a:xfrm>
          <a:prstGeom prst="rect">
            <a:avLst/>
          </a:prstGeom>
          <a:solidFill>
            <a:srgbClr val="1A2B3C"/>
          </a:solidFill>
          <a:ln w="12700">
            <a:solidFill>
              <a:srgbClr val="77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49834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i="0">
                <a:solidFill>
                  <a:srgbClr val="778899"/>
                </a:solidFill>
              </a:rPr>
              <a:t>Clean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4068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778899"/>
                </a:solidFill>
              </a:rPr>
              <a:t>no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371600"/>
            <a:ext cx="3657600" cy="4572000"/>
          </a:xfrm>
          <a:prstGeom prst="rect">
            <a:avLst/>
          </a:prstGeom>
          <a:solidFill>
            <a:srgbClr val="2A3B4D"/>
          </a:solidFill>
          <a:ln w="25400">
            <a:solidFill>
              <a:srgbClr val="D85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55448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D85218"/>
                </a:solidFill>
              </a:rPr>
              <a:t>ps-parser-cli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6596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D85218"/>
                </a:solidFill>
              </a:rPr>
              <a:t>Rust + recursive base64 + 30 predykatów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68880"/>
            <a:ext cx="32918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D85218"/>
                </a:solidFill>
              </a:rPr>
              <a:t>▸ </a:t>
            </a:r>
            <a:r>
              <a:rPr sz="1200">
                <a:solidFill>
                  <a:srgbClr val="FFFFFF"/>
                </a:solidFill>
              </a:rPr>
              <a:t>Wyciąga DllGetClassObject z b64</a:t>
            </a:r>
          </a:p>
          <a:p>
            <a:pPr algn="l"/>
            <a:r>
              <a:rPr sz="1200" b="1">
                <a:solidFill>
                  <a:srgbClr val="D85218"/>
                </a:solidFill>
              </a:rPr>
              <a:t>▸ </a:t>
            </a:r>
            <a:r>
              <a:rPr sz="1200">
                <a:solidFill>
                  <a:srgbClr val="FFFFFF"/>
                </a:solidFill>
              </a:rPr>
              <a:t>Łapie ComManipulation</a:t>
            </a:r>
          </a:p>
          <a:p>
            <a:pPr algn="l"/>
            <a:r>
              <a:rPr sz="1200" b="1">
                <a:solidFill>
                  <a:srgbClr val="D85218"/>
                </a:solidFill>
              </a:rPr>
              <a:t>▸ </a:t>
            </a:r>
            <a:r>
              <a:rPr sz="1200">
                <a:solidFill>
                  <a:srgbClr val="FFFFFF"/>
                </a:solidFill>
              </a:rPr>
              <a:t>Sygnał — ale bez literalnego</a:t>
            </a:r>
          </a:p>
          <a:p>
            <a:pPr algn="l"/>
            <a:r>
              <a:rPr sz="1200" b="1">
                <a:solidFill>
                  <a:srgbClr val="D85218"/>
                </a:solidFill>
              </a:rPr>
              <a:t>▸ </a:t>
            </a:r>
            <a:r>
              <a:rPr sz="1200">
                <a:solidFill>
                  <a:srgbClr val="FFFFFF"/>
                </a:solidFill>
              </a:rPr>
              <a:t>AMSI w żadnej formie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4937760"/>
            <a:ext cx="3291840" cy="777240"/>
          </a:xfrm>
          <a:prstGeom prst="rect">
            <a:avLst/>
          </a:prstGeom>
          <a:solidFill>
            <a:srgbClr val="1A2B3C"/>
          </a:solidFill>
          <a:ln w="12700">
            <a:solidFill>
              <a:srgbClr val="D85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0" y="49834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i="0">
                <a:solidFill>
                  <a:srgbClr val="D85218"/>
                </a:solidFill>
              </a:rPr>
              <a:t>Suspicious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44068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D85218"/>
                </a:solidFill>
              </a:rPr>
              <a:t>widzi pęknięcie — ale nie dowód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1371600"/>
            <a:ext cx="3657600" cy="4572000"/>
          </a:xfrm>
          <a:prstGeom prst="rect">
            <a:avLst/>
          </a:prstGeom>
          <a:solidFill>
            <a:srgbClr val="2A3B4D"/>
          </a:solidFill>
          <a:ln w="25400">
            <a:solidFill>
              <a:srgbClr val="7BA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19" y="155448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7BA79D"/>
                </a:solidFill>
              </a:rPr>
              <a:t>Layer 2 (kernel)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196596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7BA79D"/>
                </a:solidFill>
              </a:rPr>
              <a:t>Behavioral — runtime observation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9" y="2468880"/>
            <a:ext cx="32918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D85218"/>
                </a:solidFill>
              </a:rPr>
              <a:t>▸ </a:t>
            </a:r>
            <a:r>
              <a:rPr sz="1200">
                <a:solidFill>
                  <a:srgbClr val="FFFFFF"/>
                </a:solidFill>
              </a:rPr>
              <a:t>Process otwiera \AMSI\ key</a:t>
            </a:r>
          </a:p>
          <a:p>
            <a:pPr algn="l"/>
            <a:r>
              <a:rPr sz="1200" b="1">
                <a:solidFill>
                  <a:srgbClr val="D85218"/>
                </a:solidFill>
              </a:rPr>
              <a:t>▸ </a:t>
            </a:r>
            <a:r>
              <a:rPr sz="1200">
                <a:solidFill>
                  <a:srgbClr val="FFFFFF"/>
                </a:solidFill>
              </a:rPr>
              <a:t>Niezależne od literałów</a:t>
            </a:r>
          </a:p>
          <a:p>
            <a:pPr algn="l"/>
            <a:r>
              <a:rPr sz="1200" b="1">
                <a:solidFill>
                  <a:srgbClr val="D85218"/>
                </a:solidFill>
              </a:rPr>
              <a:t>▸ </a:t>
            </a:r>
            <a:r>
              <a:rPr sz="1200">
                <a:solidFill>
                  <a:srgbClr val="FFFFFF"/>
                </a:solidFill>
              </a:rPr>
              <a:t>Niezależne od obfuskacji</a:t>
            </a:r>
          </a:p>
          <a:p>
            <a:pPr algn="l"/>
            <a:r>
              <a:rPr sz="1200" b="1">
                <a:solidFill>
                  <a:srgbClr val="D85218"/>
                </a:solidFill>
              </a:rPr>
              <a:t>▸ </a:t>
            </a:r>
            <a:r>
              <a:rPr sz="1200">
                <a:solidFill>
                  <a:srgbClr val="FFFFFF"/>
                </a:solidFill>
              </a:rPr>
              <a:t>Widzi realny dostęp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19" y="4937760"/>
            <a:ext cx="3291840" cy="777240"/>
          </a:xfrm>
          <a:prstGeom prst="rect">
            <a:avLst/>
          </a:prstGeom>
          <a:solidFill>
            <a:srgbClr val="1A2B3C"/>
          </a:solidFill>
          <a:ln w="12700">
            <a:solidFill>
              <a:srgbClr val="7BA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3919" y="498348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7BA79D"/>
                </a:solidFill>
              </a:rPr>
              <a:t>AMSI BYPASS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19" y="544068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1">
                <a:solidFill>
                  <a:srgbClr val="7BA79D"/>
                </a:solidFill>
              </a:rPr>
              <a:t>definitive, 10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080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Statyka ma fundamentalny pułap.  Każda warstwa ma swoje miejsce.</a:t>
            </a:r>
          </a:p>
          <a:p>
            <a:pPr algn="ctr"/>
            <a:r>
              <a:rPr sz="1400" b="1" i="0">
                <a:solidFill>
                  <a:srgbClr val="FFFFFF"/>
                </a:solidFill>
              </a:rPr>
              <a:t>Defense in depth nie jest opcjonalne — jest konieczne.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97280"/>
            <a:ext cx="12188952" cy="1371600"/>
          </a:xfrm>
          <a:prstGeom prst="rect">
            <a:avLst/>
          </a:prstGeom>
          <a:solidFill>
            <a:srgbClr val="D85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234440"/>
            <a:ext cx="121889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50900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 dirty="0">
                <a:solidFill>
                  <a:schemeClr val="accent2"/>
                </a:solidFill>
              </a:rPr>
              <a:t>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0457"/>
            <a:ext cx="10092315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dirty="0" err="1">
                <a:solidFill>
                  <a:srgbClr val="FFFFFF"/>
                </a:solidFill>
              </a:rPr>
              <a:t>ps</a:t>
            </a:r>
            <a:r>
              <a:rPr dirty="0">
                <a:solidFill>
                  <a:srgbClr val="FFFFFF"/>
                </a:solidFill>
              </a:rPr>
              <a:t>-parser   </a:t>
            </a:r>
            <a:r>
              <a:rPr lang="en-US" dirty="0">
                <a:solidFill>
                  <a:srgbClr val="FFFFFF"/>
                </a:solidFill>
              </a:rPr>
              <a:t>		</a:t>
            </a:r>
            <a:r>
              <a:rPr dirty="0">
                <a:solidFill>
                  <a:srgbClr val="FFFFFF"/>
                </a:solidFill>
              </a:rPr>
              <a:t>—  </a:t>
            </a:r>
            <a:r>
              <a:rPr lang="en-US" dirty="0">
                <a:solidFill>
                  <a:srgbClr val="FFFFFF"/>
                </a:solidFill>
              </a:rPr>
              <a:t> 			</a:t>
            </a:r>
            <a:r>
              <a:rPr lang="en-US" dirty="0">
                <a:solidFill>
                  <a:srgbClr val="FFFFFF"/>
                </a:solidFill>
                <a:hlinkClick r:id="rId2"/>
              </a:rPr>
              <a:t>https://crates.io/crates/ps-parser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(Rust PowerShell evaluator)</a:t>
            </a:r>
            <a:endParaRPr lang="en-US" dirty="0">
              <a:solidFill>
                <a:srgbClr val="FFFFF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FFFFFF"/>
                </a:solidFill>
              </a:rPr>
              <a:t>AmsiProviderScanDisruption</a:t>
            </a:r>
            <a:r>
              <a:rPr lang="en-US" dirty="0">
                <a:solidFill>
                  <a:srgbClr val="FFFFFF"/>
                </a:solidFill>
              </a:rPr>
              <a:t>   —   </a:t>
            </a:r>
            <a:r>
              <a:rPr lang="en-US" dirty="0">
                <a:solidFill>
                  <a:srgbClr val="FFFFFF"/>
                </a:solidFill>
                <a:hlinkClick r:id="rId3"/>
              </a:rPr>
              <a:t>https://github.com/radkum/AmsiProviderScanDisruption</a:t>
            </a:r>
            <a:r>
              <a:rPr lang="en-US" dirty="0">
                <a:solidFill>
                  <a:srgbClr val="FFFFFF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FFFFFF"/>
                </a:solidFill>
              </a:rPr>
              <a:t>sysmon-rs</a:t>
            </a:r>
            <a:r>
              <a:rPr lang="en-US" dirty="0">
                <a:solidFill>
                  <a:srgbClr val="FFFFFF"/>
                </a:solidFill>
              </a:rPr>
              <a:t>   		—			</a:t>
            </a:r>
            <a:r>
              <a:rPr lang="en-US" dirty="0">
                <a:solidFill>
                  <a:srgbClr val="FFFFFF"/>
                </a:solidFill>
                <a:hlinkClick r:id="rId4"/>
              </a:rPr>
              <a:t>https://github.com/radkum/sysmon-rs</a:t>
            </a:r>
            <a:r>
              <a:rPr lang="en-US" dirty="0">
                <a:solidFill>
                  <a:srgbClr val="FFFFFF"/>
                </a:solidFill>
              </a:rPr>
              <a:t> (Rust Sysmon driver)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Confidence   		— 			</a:t>
            </a:r>
            <a:r>
              <a:rPr lang="en-US" dirty="0">
                <a:solidFill>
                  <a:srgbClr val="FFFFFF"/>
                </a:solidFill>
                <a:hlinkClick r:id="rId5"/>
              </a:rPr>
              <a:t>https://github.com/radkum/confidence_2026</a:t>
            </a:r>
            <a:r>
              <a:rPr lang="en-US" dirty="0">
                <a:solidFill>
                  <a:srgbClr val="FFFFFF"/>
                </a:solidFill>
              </a:rPr>
              <a:t> (Presentation)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AMSI documentation   	—  		</a:t>
            </a:r>
            <a:r>
              <a:rPr lang="en-US" dirty="0">
                <a:solidFill>
                  <a:srgbClr val="FFFFFF"/>
                </a:solidFill>
                <a:hlinkClick r:id="rId6"/>
              </a:rPr>
              <a:t>https://learn.microsoft.com/en-us/windows/win32/AMSI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62120" y="6217920"/>
            <a:ext cx="506472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 dirty="0">
                <a:solidFill>
                  <a:srgbClr val="AABBCC"/>
                </a:solidFill>
              </a:rPr>
              <a:t>Radosław Kumorek   •   </a:t>
            </a:r>
            <a:r>
              <a:rPr lang="en-US" sz="1300" b="0" i="0" dirty="0">
                <a:solidFill>
                  <a:srgbClr val="AABBCC"/>
                </a:solidFill>
              </a:rPr>
              <a:t>github.com/</a:t>
            </a:r>
            <a:r>
              <a:rPr lang="en-US" sz="1300" b="0" i="0" dirty="0" err="1">
                <a:solidFill>
                  <a:srgbClr val="AABBCC"/>
                </a:solidFill>
              </a:rPr>
              <a:t>radkum</a:t>
            </a:r>
            <a:r>
              <a:rPr lang="en-US" sz="1300" b="0" i="0" dirty="0">
                <a:solidFill>
                  <a:srgbClr val="AABBCC"/>
                </a:solidFill>
              </a:rPr>
              <a:t>   •   </a:t>
            </a:r>
            <a:r>
              <a:rPr sz="1300" b="0" i="0" dirty="0">
                <a:solidFill>
                  <a:srgbClr val="AABBCC"/>
                </a:solidFill>
              </a:rPr>
              <a:t>radoslaw</a:t>
            </a:r>
            <a:r>
              <a:rPr lang="en-US" sz="1300" dirty="0">
                <a:solidFill>
                  <a:srgbClr val="AABBCC"/>
                </a:solidFill>
              </a:rPr>
              <a:t>kumorek.pl</a:t>
            </a:r>
            <a:endParaRPr sz="1300" b="0" i="0" dirty="0">
              <a:solidFill>
                <a:srgbClr val="AABBCC"/>
              </a:solidFill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Metadata/LabelInfo.xml><?xml version="1.0" encoding="utf-8"?>
<clbl:labelList xmlns:clbl="http://schemas.microsoft.com/office/2020/mipLabelMetadata">
  <clbl:label id="{f1a113a7-9828-4336-bec1-94a336dde9ee}" enabled="1" method="Standard" siteId="{a1cd3436-6062-4169-a1bd-79efdcfd8a5e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44</TotalTime>
  <Words>2292</Words>
  <Application>Microsoft Office PowerPoint</Application>
  <PresentationFormat>Custom</PresentationFormat>
  <Paragraphs>344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Abadi</vt:lpstr>
      <vt:lpstr>Arial</vt:lpstr>
      <vt:lpstr>Cambria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Radosław Kumorek</cp:lastModifiedBy>
  <cp:revision>16</cp:revision>
  <dcterms:created xsi:type="dcterms:W3CDTF">2013-01-27T09:14:16Z</dcterms:created>
  <dcterms:modified xsi:type="dcterms:W3CDTF">2026-05-20T14:38:34Z</dcterms:modified>
  <cp:category/>
</cp:coreProperties>
</file>