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7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88828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1"/>
            <a:ext cx="23044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5936" y="1122363"/>
            <a:ext cx="8789286" cy="2387600"/>
          </a:xfrm>
        </p:spPr>
        <p:txBody>
          <a:bodyPr anchor="b">
            <a:normAutofit/>
          </a:bodyPr>
          <a:lstStyle>
            <a:lvl1pPr algn="l">
              <a:defRPr sz="47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5936" y="3602038"/>
            <a:ext cx="8789286" cy="1655762"/>
          </a:xfrm>
        </p:spPr>
        <p:txBody>
          <a:bodyPr>
            <a:normAutofit/>
          </a:bodyPr>
          <a:lstStyle>
            <a:lvl1pPr marL="0" indent="0" algn="l">
              <a:buNone/>
              <a:defRPr sz="1999" cap="all" baseline="0">
                <a:solidFill>
                  <a:schemeClr val="tx2"/>
                </a:solidFill>
              </a:defRPr>
            </a:lvl1pPr>
            <a:lvl2pPr marL="457063" indent="0" algn="ctr">
              <a:buNone/>
              <a:defRPr sz="1999"/>
            </a:lvl2pPr>
            <a:lvl3pPr marL="914126" indent="0" algn="ctr">
              <a:buNone/>
              <a:defRPr sz="1799"/>
            </a:lvl3pPr>
            <a:lvl4pPr marL="1371189" indent="0" algn="ctr">
              <a:buNone/>
              <a:defRPr sz="1600"/>
            </a:lvl4pPr>
            <a:lvl5pPr marL="1828251" indent="0" algn="ctr">
              <a:buNone/>
              <a:defRPr sz="1600"/>
            </a:lvl5pPr>
            <a:lvl6pPr marL="2285314" indent="0" algn="ctr">
              <a:buNone/>
              <a:defRPr sz="1600"/>
            </a:lvl6pPr>
            <a:lvl7pPr marL="2742377" indent="0" algn="ctr">
              <a:buNone/>
              <a:defRPr sz="1600"/>
            </a:lvl7pPr>
            <a:lvl8pPr marL="3199440" indent="0" algn="ctr">
              <a:buNone/>
              <a:defRPr sz="1600"/>
            </a:lvl8pPr>
            <a:lvl9pPr marL="3656503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5668" y="5410202"/>
            <a:ext cx="2742486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5936" y="5410202"/>
            <a:ext cx="5123551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4334" y="5410200"/>
            <a:ext cx="77088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185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2765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114" y="1419227"/>
            <a:ext cx="9903420" cy="2852737"/>
          </a:xfrm>
        </p:spPr>
        <p:txBody>
          <a:bodyPr anchor="b">
            <a:normAutofit/>
          </a:bodyPr>
          <a:lstStyle>
            <a:lvl1pPr>
              <a:defRPr sz="35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114" y="4424362"/>
            <a:ext cx="9903420" cy="1374776"/>
          </a:xfrm>
        </p:spPr>
        <p:txBody>
          <a:bodyPr>
            <a:normAutofit/>
          </a:bodyPr>
          <a:lstStyle>
            <a:lvl1pPr marL="0" indent="0">
              <a:buNone/>
              <a:defRPr sz="1799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7244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113" y="2249486"/>
            <a:ext cx="487711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593" y="2249486"/>
            <a:ext cx="487394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707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114" y="619127"/>
            <a:ext cx="990342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9663" y="2249486"/>
            <a:ext cx="464857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399" b="0" cap="all" baseline="0">
                <a:solidFill>
                  <a:schemeClr val="tx1"/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113" y="3073398"/>
            <a:ext cx="487712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9141" y="2249485"/>
            <a:ext cx="464539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399" b="0" cap="all" baseline="0">
                <a:solidFill>
                  <a:schemeClr val="tx1"/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593" y="3073398"/>
            <a:ext cx="487394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951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6870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6311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407" y="609601"/>
            <a:ext cx="3855033" cy="1639884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4858" y="592666"/>
            <a:ext cx="5889675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407" y="2249486"/>
            <a:ext cx="3855033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7355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116" y="609600"/>
            <a:ext cx="5932963" cy="1639886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78799" y="609602"/>
            <a:ext cx="3665735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199"/>
            </a:lvl1pPr>
            <a:lvl2pPr marL="457063" indent="0">
              <a:buNone/>
              <a:defRPr sz="2799"/>
            </a:lvl2pPr>
            <a:lvl3pPr marL="914126" indent="0">
              <a:buNone/>
              <a:defRPr sz="2399"/>
            </a:lvl3pPr>
            <a:lvl4pPr marL="1371189" indent="0">
              <a:buNone/>
              <a:defRPr sz="1999"/>
            </a:lvl4pPr>
            <a:lvl5pPr marL="1828251" indent="0">
              <a:buNone/>
              <a:defRPr sz="1999"/>
            </a:lvl5pPr>
            <a:lvl6pPr marL="2285314" indent="0">
              <a:buNone/>
              <a:defRPr sz="1999"/>
            </a:lvl6pPr>
            <a:lvl7pPr marL="2742377" indent="0">
              <a:buNone/>
              <a:defRPr sz="1999"/>
            </a:lvl7pPr>
            <a:lvl8pPr marL="3199440" indent="0">
              <a:buNone/>
              <a:defRPr sz="1999"/>
            </a:lvl8pPr>
            <a:lvl9pPr marL="3656503" indent="0">
              <a:buNone/>
              <a:defRPr sz="1999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113" y="2249486"/>
            <a:ext cx="5932966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802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113" y="4304665"/>
            <a:ext cx="9909774" cy="819355"/>
          </a:xfrm>
        </p:spPr>
        <p:txBody>
          <a:bodyPr anchor="b">
            <a:normAutofit/>
          </a:bodyPr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114" y="606426"/>
            <a:ext cx="9909773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199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067" y="5124020"/>
            <a:ext cx="9908278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8736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159" y="609600"/>
            <a:ext cx="9903375" cy="3429000"/>
          </a:xfrm>
        </p:spPr>
        <p:txBody>
          <a:bodyPr anchor="ctr">
            <a:normAutofit/>
          </a:bodyPr>
          <a:lstStyle>
            <a:lvl1pPr>
              <a:defRPr sz="35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113" y="4419600"/>
            <a:ext cx="9901880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799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3042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5836" y="609600"/>
            <a:ext cx="9300329" cy="2748429"/>
          </a:xfrm>
        </p:spPr>
        <p:txBody>
          <a:bodyPr anchor="ctr">
            <a:normAutofit/>
          </a:bodyPr>
          <a:lstStyle>
            <a:lvl1pPr>
              <a:defRPr sz="35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196" y="3365557"/>
            <a:ext cx="8750020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114" y="4309919"/>
            <a:ext cx="990342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799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277" y="732394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998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4626" y="2764972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998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29430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113" y="2134042"/>
            <a:ext cx="9903421" cy="2511835"/>
          </a:xfrm>
        </p:spPr>
        <p:txBody>
          <a:bodyPr anchor="b">
            <a:normAutofit/>
          </a:bodyPr>
          <a:lstStyle>
            <a:lvl1pPr>
              <a:defRPr sz="35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067" y="4657655"/>
            <a:ext cx="9901926" cy="1140644"/>
          </a:xfrm>
        </p:spPr>
        <p:txBody>
          <a:bodyPr anchor="t">
            <a:normAutofit/>
          </a:bodyPr>
          <a:lstStyle>
            <a:lvl1pPr marL="0" indent="0">
              <a:buNone/>
              <a:defRPr sz="1799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5294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116" y="609600"/>
            <a:ext cx="990341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113" y="2674463"/>
            <a:ext cx="3196066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399" b="0" cap="all" baseline="0">
                <a:solidFill>
                  <a:schemeClr val="tx1"/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625" y="3360263"/>
            <a:ext cx="3207899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3591" y="2677635"/>
            <a:ext cx="3183556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399" b="0" cap="all" baseline="0">
                <a:solidFill>
                  <a:schemeClr val="tx1"/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3040" y="3363435"/>
            <a:ext cx="319499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0397" y="2674463"/>
            <a:ext cx="3194136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399" b="0" cap="all" baseline="0">
                <a:solidFill>
                  <a:schemeClr val="tx1"/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0397" y="3360263"/>
            <a:ext cx="3194136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886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114" y="609600"/>
            <a:ext cx="990341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116" y="4404596"/>
            <a:ext cx="3194408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999" b="0" cap="all" baseline="0">
                <a:solidFill>
                  <a:schemeClr val="tx1"/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116" y="2666998"/>
            <a:ext cx="3194408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999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116" y="4980859"/>
            <a:ext cx="3194408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7884" y="4404596"/>
            <a:ext cx="3199567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999" b="0" cap="all" baseline="0">
                <a:solidFill>
                  <a:schemeClr val="tx1"/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7884" y="2666998"/>
            <a:ext cx="3198107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999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6424" y="4980857"/>
            <a:ext cx="3199567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0523" y="4404595"/>
            <a:ext cx="318991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999" b="0" cap="all" baseline="0">
                <a:solidFill>
                  <a:schemeClr val="tx1"/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0398" y="2666998"/>
            <a:ext cx="3194137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999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0397" y="4980855"/>
            <a:ext cx="3194136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2481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5599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0046" y="609600"/>
            <a:ext cx="2004489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113" y="609600"/>
            <a:ext cx="7746572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57841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88828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4" y="1"/>
            <a:ext cx="12050749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116" y="618518"/>
            <a:ext cx="990341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115" y="2249487"/>
            <a:ext cx="990341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4979" y="5883277"/>
            <a:ext cx="27424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114" y="5883276"/>
            <a:ext cx="623768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3645" y="5883275"/>
            <a:ext cx="7708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98073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0" r:id="rId1"/>
    <p:sldLayoutId id="2147483781" r:id="rId2"/>
    <p:sldLayoutId id="2147483782" r:id="rId3"/>
    <p:sldLayoutId id="2147483783" r:id="rId4"/>
    <p:sldLayoutId id="2147483784" r:id="rId5"/>
    <p:sldLayoutId id="2147483785" r:id="rId6"/>
    <p:sldLayoutId id="2147483786" r:id="rId7"/>
    <p:sldLayoutId id="2147483787" r:id="rId8"/>
    <p:sldLayoutId id="2147483788" r:id="rId9"/>
    <p:sldLayoutId id="2147483789" r:id="rId10"/>
    <p:sldLayoutId id="2147483790" r:id="rId11"/>
    <p:sldLayoutId id="2147483791" r:id="rId12"/>
    <p:sldLayoutId id="2147483792" r:id="rId13"/>
    <p:sldLayoutId id="2147483793" r:id="rId14"/>
    <p:sldLayoutId id="2147483794" r:id="rId15"/>
    <p:sldLayoutId id="2147483795" r:id="rId16"/>
    <p:sldLayoutId id="2147483796" r:id="rId17"/>
  </p:sldLayoutIdLst>
  <p:txStyles>
    <p:titleStyle>
      <a:lvl1pPr algn="l" defTabSz="914126" rtl="0" eaLnBrk="1" latinLnBrk="0" hangingPunct="1">
        <a:lnSpc>
          <a:spcPct val="90000"/>
        </a:lnSpc>
        <a:spcBef>
          <a:spcPct val="0"/>
        </a:spcBef>
        <a:buNone/>
        <a:defRPr sz="3599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31" indent="-228531" algn="l" defTabSz="914126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399" kern="1200">
          <a:solidFill>
            <a:schemeClr val="tx1"/>
          </a:solidFill>
          <a:latin typeface="+mn-lt"/>
          <a:ea typeface="+mn-ea"/>
          <a:cs typeface="+mn-cs"/>
        </a:defRPr>
      </a:lvl1pPr>
      <a:lvl2pPr marL="685594" indent="-228531" algn="l" defTabSz="914126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2pPr>
      <a:lvl3pPr marL="1142657" indent="-228531" algn="l" defTabSz="914126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599720" indent="-228531" algn="l" defTabSz="914126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6783" indent="-228531" algn="l" defTabSz="914126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3846" indent="-228531" algn="l" defTabSz="914126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908" indent="-228531" algn="l" defTabSz="914126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971" indent="-228531" algn="l" defTabSz="914126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034" indent="-228531" algn="l" defTabSz="914126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adkum/AmsiProviderScanDisruption" TargetMode="External"/><Relationship Id="rId2" Type="http://schemas.openxmlformats.org/officeDocument/2006/relationships/hyperlink" Target="https://crates.io/crates/ps-parser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learn.microsoft.com/en-us/windows/win32/AMSI" TargetMode="External"/><Relationship Id="rId5" Type="http://schemas.openxmlformats.org/officeDocument/2006/relationships/hyperlink" Target="https://github.com/radkum/confidence_2026" TargetMode="External"/><Relationship Id="rId4" Type="http://schemas.openxmlformats.org/officeDocument/2006/relationships/hyperlink" Target="https://github.com/radkum/sysmon-r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560320"/>
            <a:ext cx="12188952" cy="1737360"/>
          </a:xfrm>
          <a:prstGeom prst="rect">
            <a:avLst/>
          </a:prstGeom>
          <a:solidFill>
            <a:srgbClr val="D85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269748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AMSI vs. Obfuscation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520440"/>
            <a:ext cx="121889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0" i="1">
                <a:solidFill>
                  <a:srgbClr val="FFFFFF"/>
                </a:solidFill>
              </a:rPr>
              <a:t>A Cat-and-Mouse Game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90102" y="4937760"/>
            <a:ext cx="220874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 i="0" dirty="0">
                <a:solidFill>
                  <a:srgbClr val="EBDDC3"/>
                </a:solidFill>
              </a:rPr>
              <a:t>Radosław Kumorek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25178" y="5440680"/>
            <a:ext cx="4938596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 i="0" dirty="0">
                <a:solidFill>
                  <a:schemeClr val="tx1">
                    <a:lumMod val="95000"/>
                  </a:schemeClr>
                </a:solidFill>
              </a:rPr>
              <a:t>Two-layer defense against PowerShell-based AMSI bypass</a:t>
            </a:r>
          </a:p>
          <a:p>
            <a:pPr algn="ctr"/>
            <a:r>
              <a:rPr sz="1500" b="0" i="0" dirty="0">
                <a:solidFill>
                  <a:schemeClr val="tx1">
                    <a:lumMod val="95000"/>
                  </a:schemeClr>
                </a:solidFill>
              </a:rPr>
              <a:t>Static </a:t>
            </a:r>
            <a:r>
              <a:rPr sz="1500" b="0" i="0" dirty="0" err="1">
                <a:solidFill>
                  <a:schemeClr val="tx1">
                    <a:lumMod val="95000"/>
                  </a:schemeClr>
                </a:solidFill>
              </a:rPr>
              <a:t>deobfuscation</a:t>
            </a:r>
            <a:r>
              <a:rPr sz="1500" b="0" i="0" dirty="0">
                <a:solidFill>
                  <a:schemeClr val="tx1">
                    <a:lumMod val="95000"/>
                  </a:schemeClr>
                </a:solidFill>
              </a:rPr>
              <a:t> (Rust) + kernel behavioral telemetry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D85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486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EBDDC3"/>
                </a:solidFill>
              </a:rPr>
              <a:t>~45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37160" cy="640080"/>
          </a:xfrm>
          <a:prstGeom prst="rect">
            <a:avLst/>
          </a:prstGeom>
          <a:solidFill>
            <a:srgbClr val="D85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1371600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I. Script-based threats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19072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</a:rPr>
              <a:t>Why PowerShell? Stats, real-world droppers.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9376" y="1371600"/>
            <a:ext cx="6492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 dirty="0">
                <a:solidFill>
                  <a:schemeClr val="tx1">
                    <a:lumMod val="85000"/>
                  </a:schemeClr>
                </a:solidFill>
              </a:rPr>
              <a:t>2 min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148840"/>
            <a:ext cx="137160" cy="640080"/>
          </a:xfrm>
          <a:prstGeom prst="rect">
            <a:avLst/>
          </a:prstGeom>
          <a:solidFill>
            <a:srgbClr val="D85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2148840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II. AMSI in 8 minutes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496312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</a:rPr>
              <a:t>What it is, how it scans, where providers plug 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9375" y="2148840"/>
            <a:ext cx="6492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 dirty="0">
                <a:solidFill>
                  <a:schemeClr val="tx1">
                    <a:lumMod val="85000"/>
                  </a:schemeClr>
                </a:solidFill>
              </a:rPr>
              <a:t>8 min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926080"/>
            <a:ext cx="137160" cy="640080"/>
          </a:xfrm>
          <a:prstGeom prst="rect">
            <a:avLst/>
          </a:prstGeom>
          <a:solidFill>
            <a:srgbClr val="D85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7280" y="2926080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III. Bypass + obfuscation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73552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</a:rPr>
              <a:t>Common techniques, AmsiProviderScanDisruption.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9375" y="2926080"/>
            <a:ext cx="731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 dirty="0">
                <a:solidFill>
                  <a:schemeClr val="tx1">
                    <a:lumMod val="85000"/>
                  </a:schemeClr>
                </a:solidFill>
              </a:rPr>
              <a:t>12 min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703320"/>
            <a:ext cx="137160" cy="640080"/>
          </a:xfrm>
          <a:prstGeom prst="rect">
            <a:avLst/>
          </a:prstGeom>
          <a:solidFill>
            <a:srgbClr val="D85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97280" y="3703320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IV. Detection — two layers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050791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</a:rPr>
              <a:t>Static deobfuscation + kernel behavioral.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9375" y="3703320"/>
            <a:ext cx="731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 dirty="0">
                <a:solidFill>
                  <a:schemeClr val="tx1">
                    <a:lumMod val="85000"/>
                  </a:schemeClr>
                </a:solidFill>
              </a:rPr>
              <a:t>10 min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480560"/>
            <a:ext cx="137160" cy="640080"/>
          </a:xfrm>
          <a:prstGeom prst="rect">
            <a:avLst/>
          </a:prstGeom>
          <a:solidFill>
            <a:srgbClr val="D85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97280" y="4480560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V. Live demo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828032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</a:rPr>
              <a:t>5 acts on real bypass samples.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9376" y="4480560"/>
            <a:ext cx="73152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 dirty="0">
                <a:solidFill>
                  <a:schemeClr val="tx1">
                    <a:lumMod val="85000"/>
                  </a:schemeClr>
                </a:solidFill>
              </a:rPr>
              <a:t>8 min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257800"/>
            <a:ext cx="137160" cy="640080"/>
          </a:xfrm>
          <a:prstGeom prst="rect">
            <a:avLst/>
          </a:prstGeom>
          <a:solidFill>
            <a:srgbClr val="D85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97280" y="5257800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VI. Q&amp;A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605272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1009373" y="5257800"/>
            <a:ext cx="7315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 dirty="0">
                <a:solidFill>
                  <a:schemeClr val="tx1">
                    <a:lumMod val="85000"/>
                  </a:schemeClr>
                </a:solidFill>
              </a:rPr>
              <a:t>3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D85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Why scripts are dangerous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4885953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 dirty="0" err="1">
                <a:solidFill>
                  <a:schemeClr val="tx2">
                    <a:lumMod val="20000"/>
                    <a:lumOff val="80000"/>
                  </a:schemeClr>
                </a:solidFill>
              </a:rPr>
              <a:t>Skrypty</a:t>
            </a:r>
            <a:r>
              <a:rPr sz="2200" b="1" i="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 ≠ </a:t>
            </a:r>
            <a:r>
              <a:rPr sz="2200" b="1" i="0" dirty="0" err="1">
                <a:solidFill>
                  <a:schemeClr val="tx2">
                    <a:lumMod val="20000"/>
                    <a:lumOff val="80000"/>
                  </a:schemeClr>
                </a:solidFill>
              </a:rPr>
              <a:t>exploity</a:t>
            </a:r>
            <a:r>
              <a:rPr sz="2200" b="1" i="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. </a:t>
            </a:r>
            <a:r>
              <a:rPr sz="2200" b="1" i="0" dirty="0" err="1">
                <a:solidFill>
                  <a:schemeClr val="tx2">
                    <a:lumMod val="20000"/>
                    <a:lumOff val="80000"/>
                  </a:schemeClr>
                </a:solidFill>
              </a:rPr>
              <a:t>Są</a:t>
            </a:r>
            <a:r>
              <a:rPr sz="2200" b="1" i="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 </a:t>
            </a:r>
            <a:r>
              <a:rPr sz="2200" b="1" i="0" dirty="0" err="1">
                <a:solidFill>
                  <a:schemeClr val="tx2">
                    <a:lumMod val="20000"/>
                    <a:lumOff val="80000"/>
                  </a:schemeClr>
                </a:solidFill>
              </a:rPr>
              <a:t>jeszcze</a:t>
            </a:r>
            <a:r>
              <a:rPr sz="2200" b="1" i="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 </a:t>
            </a:r>
            <a:r>
              <a:rPr sz="2200" b="1" i="0" dirty="0" err="1">
                <a:solidFill>
                  <a:schemeClr val="tx2">
                    <a:lumMod val="20000"/>
                    <a:lumOff val="80000"/>
                  </a:schemeClr>
                </a:solidFill>
              </a:rPr>
              <a:t>gorsze</a:t>
            </a:r>
            <a:r>
              <a:rPr sz="2200" b="1" i="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3657600" cy="420624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9512" y="2012557"/>
            <a:ext cx="299460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 dirty="0" err="1">
                <a:solidFill>
                  <a:schemeClr val="accent2"/>
                </a:solidFill>
              </a:rPr>
              <a:t>Bliskość</a:t>
            </a:r>
            <a:r>
              <a:rPr sz="2800" b="1" i="0" dirty="0">
                <a:solidFill>
                  <a:schemeClr val="accent2"/>
                </a:solidFill>
              </a:rPr>
              <a:t> </a:t>
            </a:r>
            <a:r>
              <a:rPr sz="2800" b="1" i="0" dirty="0" err="1">
                <a:solidFill>
                  <a:schemeClr val="accent2"/>
                </a:solidFill>
              </a:rPr>
              <a:t>systemu</a:t>
            </a:r>
            <a:endParaRPr sz="2800" b="1" i="0" dirty="0">
              <a:solidFill>
                <a:schemeClr val="accent2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69362" y="2765028"/>
            <a:ext cx="2799036" cy="29956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dirty="0">
                <a:solidFill>
                  <a:srgbClr val="FFFFFF"/>
                </a:solidFill>
              </a:rPr>
              <a:t>• PowerShell, WMI, J</a:t>
            </a:r>
            <a:r>
              <a:rPr lang="en-US" dirty="0">
                <a:solidFill>
                  <a:srgbClr val="FFFFFF"/>
                </a:solidFill>
              </a:rPr>
              <a:t>s</a:t>
            </a:r>
            <a:r>
              <a:rPr dirty="0">
                <a:solidFill>
                  <a:srgbClr val="FFFFFF"/>
                </a:solidFill>
              </a:rPr>
              <a:t>cript</a:t>
            </a:r>
            <a:endParaRPr lang="en-US" dirty="0">
              <a:solidFill>
                <a:srgbClr val="FFFFFF"/>
              </a:solidFill>
            </a:endParaRPr>
          </a:p>
          <a:p>
            <a:pPr algn="l">
              <a:spcAft>
                <a:spcPts val="400"/>
              </a:spcAft>
            </a:pPr>
            <a:endParaRPr dirty="0">
              <a:solidFill>
                <a:srgbClr val="FFFFFF"/>
              </a:solidFill>
            </a:endParaRPr>
          </a:p>
          <a:p>
            <a:pPr algn="l">
              <a:spcAft>
                <a:spcPts val="400"/>
              </a:spcAft>
            </a:pPr>
            <a:r>
              <a:rPr dirty="0">
                <a:solidFill>
                  <a:srgbClr val="FFFFFF"/>
                </a:solidFill>
              </a:rPr>
              <a:t>• </a:t>
            </a:r>
            <a:r>
              <a:rPr dirty="0" err="1">
                <a:solidFill>
                  <a:srgbClr val="FFFFFF"/>
                </a:solidFill>
              </a:rPr>
              <a:t>Pełen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dostęp</a:t>
            </a:r>
            <a:r>
              <a:rPr dirty="0">
                <a:solidFill>
                  <a:srgbClr val="FFFFFF"/>
                </a:solidFill>
              </a:rPr>
              <a:t> do .NET</a:t>
            </a:r>
            <a:endParaRPr lang="en-US" dirty="0">
              <a:solidFill>
                <a:srgbClr val="FFFFFF"/>
              </a:solidFill>
            </a:endParaRPr>
          </a:p>
          <a:p>
            <a:pPr algn="l">
              <a:spcAft>
                <a:spcPts val="400"/>
              </a:spcAft>
            </a:pPr>
            <a:endParaRPr dirty="0">
              <a:solidFill>
                <a:srgbClr val="FFFFFF"/>
              </a:solidFill>
            </a:endParaRPr>
          </a:p>
          <a:p>
            <a:pPr algn="l">
              <a:spcAft>
                <a:spcPts val="400"/>
              </a:spcAft>
            </a:pPr>
            <a:r>
              <a:rPr dirty="0">
                <a:solidFill>
                  <a:srgbClr val="FFFFFF"/>
                </a:solidFill>
              </a:rPr>
              <a:t>• Reflection bez </a:t>
            </a:r>
            <a:r>
              <a:rPr dirty="0" err="1">
                <a:solidFill>
                  <a:srgbClr val="FFFFFF"/>
                </a:solidFill>
              </a:rPr>
              <a:t>kompilacji</a:t>
            </a:r>
            <a:endParaRPr lang="en-US" dirty="0">
              <a:solidFill>
                <a:srgbClr val="FFFFFF"/>
              </a:solidFill>
            </a:endParaRPr>
          </a:p>
          <a:p>
            <a:pPr algn="l">
              <a:spcAft>
                <a:spcPts val="400"/>
              </a:spcAft>
            </a:pPr>
            <a:endParaRPr dirty="0">
              <a:solidFill>
                <a:srgbClr val="FFFFFF"/>
              </a:solidFill>
            </a:endParaRPr>
          </a:p>
          <a:p>
            <a:pPr algn="l">
              <a:spcAft>
                <a:spcPts val="400"/>
              </a:spcAft>
            </a:pPr>
            <a:r>
              <a:rPr dirty="0">
                <a:solidFill>
                  <a:srgbClr val="FFFFFF"/>
                </a:solidFill>
              </a:rPr>
              <a:t>• Living off the land</a:t>
            </a:r>
            <a:endParaRPr lang="en-US" dirty="0">
              <a:solidFill>
                <a:srgbClr val="FFFFFF"/>
              </a:solidFill>
            </a:endParaRPr>
          </a:p>
          <a:p>
            <a:pPr algn="l">
              <a:spcAft>
                <a:spcPts val="400"/>
              </a:spcAft>
            </a:pPr>
            <a:endParaRPr dirty="0">
              <a:solidFill>
                <a:srgbClr val="FFFFFF"/>
              </a:solidFill>
            </a:endParaRPr>
          </a:p>
          <a:p>
            <a:pPr algn="l">
              <a:spcAft>
                <a:spcPts val="400"/>
              </a:spcAft>
            </a:pPr>
            <a:r>
              <a:rPr dirty="0">
                <a:solidFill>
                  <a:srgbClr val="FFFFFF"/>
                </a:solidFill>
              </a:rPr>
              <a:t>• </a:t>
            </a:r>
            <a:r>
              <a:rPr dirty="0" err="1">
                <a:solidFill>
                  <a:srgbClr val="FFFFFF"/>
                </a:solidFill>
              </a:rPr>
              <a:t>Może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wołać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WinAPI</a:t>
            </a:r>
            <a:r>
              <a:rPr dirty="0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1828800"/>
            <a:ext cx="3657600" cy="420624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96885" y="2045454"/>
            <a:ext cx="264258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 dirty="0">
                <a:solidFill>
                  <a:schemeClr val="accent2"/>
                </a:solidFill>
              </a:rPr>
              <a:t>Brak </a:t>
            </a:r>
            <a:r>
              <a:rPr sz="2800" b="1" i="0" dirty="0" err="1">
                <a:solidFill>
                  <a:schemeClr val="accent2"/>
                </a:solidFill>
              </a:rPr>
              <a:t>wymagań</a:t>
            </a:r>
            <a:endParaRPr sz="2800" b="1" i="0" dirty="0">
              <a:solidFill>
                <a:schemeClr val="accent2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996885" y="2764264"/>
            <a:ext cx="2624949" cy="29956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dirty="0">
                <a:solidFill>
                  <a:srgbClr val="FFFFFF"/>
                </a:solidFill>
              </a:rPr>
              <a:t>• Nie </a:t>
            </a:r>
            <a:r>
              <a:rPr dirty="0" err="1">
                <a:solidFill>
                  <a:srgbClr val="FFFFFF"/>
                </a:solidFill>
              </a:rPr>
              <a:t>wymaga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kompilacji</a:t>
            </a:r>
            <a:endParaRPr lang="en-US" dirty="0">
              <a:solidFill>
                <a:srgbClr val="FFFFFF"/>
              </a:solidFill>
            </a:endParaRPr>
          </a:p>
          <a:p>
            <a:pPr algn="l">
              <a:spcAft>
                <a:spcPts val="400"/>
              </a:spcAft>
            </a:pPr>
            <a:endParaRPr dirty="0">
              <a:solidFill>
                <a:srgbClr val="FFFFFF"/>
              </a:solidFill>
            </a:endParaRPr>
          </a:p>
          <a:p>
            <a:pPr algn="l">
              <a:spcAft>
                <a:spcPts val="400"/>
              </a:spcAft>
            </a:pPr>
            <a:r>
              <a:rPr dirty="0">
                <a:solidFill>
                  <a:srgbClr val="FFFFFF"/>
                </a:solidFill>
              </a:rPr>
              <a:t>• Brak </a:t>
            </a:r>
            <a:r>
              <a:rPr dirty="0" err="1">
                <a:solidFill>
                  <a:srgbClr val="FFFFFF"/>
                </a:solidFill>
              </a:rPr>
              <a:t>pliku</a:t>
            </a:r>
            <a:r>
              <a:rPr dirty="0">
                <a:solidFill>
                  <a:srgbClr val="FFFFFF"/>
                </a:solidFill>
              </a:rPr>
              <a:t> PE </a:t>
            </a:r>
            <a:r>
              <a:rPr dirty="0" err="1">
                <a:solidFill>
                  <a:srgbClr val="FFFFFF"/>
                </a:solidFill>
              </a:rPr>
              <a:t>na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dysku</a:t>
            </a:r>
            <a:endParaRPr lang="en-US" dirty="0">
              <a:solidFill>
                <a:srgbClr val="FFFFFF"/>
              </a:solidFill>
            </a:endParaRPr>
          </a:p>
          <a:p>
            <a:pPr algn="l">
              <a:spcAft>
                <a:spcPts val="400"/>
              </a:spcAft>
            </a:pPr>
            <a:endParaRPr dirty="0">
              <a:solidFill>
                <a:srgbClr val="FFFFFF"/>
              </a:solidFill>
            </a:endParaRPr>
          </a:p>
          <a:p>
            <a:pPr algn="l">
              <a:spcAft>
                <a:spcPts val="400"/>
              </a:spcAft>
            </a:pPr>
            <a:r>
              <a:rPr dirty="0">
                <a:solidFill>
                  <a:srgbClr val="FFFFFF"/>
                </a:solidFill>
              </a:rPr>
              <a:t>• Fileless / in-memory</a:t>
            </a:r>
            <a:endParaRPr lang="en-US" dirty="0">
              <a:solidFill>
                <a:srgbClr val="FFFFFF"/>
              </a:solidFill>
            </a:endParaRPr>
          </a:p>
          <a:p>
            <a:pPr algn="l">
              <a:spcAft>
                <a:spcPts val="400"/>
              </a:spcAft>
            </a:pPr>
            <a:endParaRPr dirty="0">
              <a:solidFill>
                <a:srgbClr val="FFFFFF"/>
              </a:solidFill>
            </a:endParaRPr>
          </a:p>
          <a:p>
            <a:pPr algn="l">
              <a:spcAft>
                <a:spcPts val="400"/>
              </a:spcAft>
            </a:pPr>
            <a:r>
              <a:rPr dirty="0">
                <a:solidFill>
                  <a:srgbClr val="FFFFFF"/>
                </a:solidFill>
              </a:rPr>
              <a:t>• </a:t>
            </a:r>
            <a:r>
              <a:rPr dirty="0" err="1">
                <a:solidFill>
                  <a:srgbClr val="FFFFFF"/>
                </a:solidFill>
              </a:rPr>
              <a:t>Łatwy</a:t>
            </a:r>
            <a:r>
              <a:rPr dirty="0">
                <a:solidFill>
                  <a:srgbClr val="FFFFFF"/>
                </a:solidFill>
              </a:rPr>
              <a:t> do </a:t>
            </a:r>
            <a:r>
              <a:rPr dirty="0" err="1">
                <a:solidFill>
                  <a:srgbClr val="FFFFFF"/>
                </a:solidFill>
              </a:rPr>
              <a:t>dostarczenia</a:t>
            </a:r>
            <a:endParaRPr lang="en-US" dirty="0">
              <a:solidFill>
                <a:srgbClr val="FFFFFF"/>
              </a:solidFill>
            </a:endParaRPr>
          </a:p>
          <a:p>
            <a:pPr algn="l">
              <a:spcAft>
                <a:spcPts val="400"/>
              </a:spcAft>
            </a:pPr>
            <a:endParaRPr dirty="0">
              <a:solidFill>
                <a:srgbClr val="FFFFFF"/>
              </a:solidFill>
            </a:endParaRPr>
          </a:p>
          <a:p>
            <a:pPr algn="l">
              <a:spcAft>
                <a:spcPts val="400"/>
              </a:spcAft>
            </a:pPr>
            <a:r>
              <a:rPr dirty="0">
                <a:solidFill>
                  <a:srgbClr val="FFFFFF"/>
                </a:solidFill>
              </a:rPr>
              <a:t>• ≠ Fileless (ale </a:t>
            </a:r>
            <a:r>
              <a:rPr dirty="0" err="1">
                <a:solidFill>
                  <a:srgbClr val="FFFFFF"/>
                </a:solidFill>
              </a:rPr>
              <a:t>ułatwia</a:t>
            </a:r>
            <a:r>
              <a:rPr dirty="0">
                <a:solidFill>
                  <a:srgbClr val="FFFFFF"/>
                </a:solidFill>
              </a:rPr>
              <a:t>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0" y="1828800"/>
            <a:ext cx="3200400" cy="4206240"/>
          </a:xfrm>
          <a:prstGeom prst="rect">
            <a:avLst/>
          </a:prstGeom>
          <a:solidFill>
            <a:srgbClr val="2A3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0" y="2107009"/>
            <a:ext cx="3274423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 dirty="0" err="1">
                <a:solidFill>
                  <a:schemeClr val="accent2"/>
                </a:solidFill>
              </a:rPr>
              <a:t>Trudność</a:t>
            </a:r>
            <a:r>
              <a:rPr sz="2600" b="1" i="0" dirty="0">
                <a:solidFill>
                  <a:schemeClr val="accent2"/>
                </a:solidFill>
              </a:rPr>
              <a:t> w </a:t>
            </a:r>
            <a:r>
              <a:rPr sz="2600" b="1" i="0" dirty="0" err="1">
                <a:solidFill>
                  <a:schemeClr val="accent2"/>
                </a:solidFill>
              </a:rPr>
              <a:t>detekcji</a:t>
            </a:r>
            <a:endParaRPr sz="2600" b="1" i="0" dirty="0">
              <a:solidFill>
                <a:schemeClr val="accent2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823960" y="2782552"/>
            <a:ext cx="2422394" cy="29956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dirty="0">
                <a:solidFill>
                  <a:srgbClr val="FFFFFF"/>
                </a:solidFill>
              </a:rPr>
              <a:t>• </a:t>
            </a:r>
            <a:r>
              <a:rPr dirty="0" err="1">
                <a:solidFill>
                  <a:srgbClr val="FFFFFF"/>
                </a:solidFill>
              </a:rPr>
              <a:t>Zaufany</a:t>
            </a:r>
            <a:r>
              <a:rPr dirty="0">
                <a:solidFill>
                  <a:srgbClr val="FFFFFF"/>
                </a:solidFill>
              </a:rPr>
              <a:t> interpreter</a:t>
            </a:r>
            <a:endParaRPr lang="en-US" dirty="0">
              <a:solidFill>
                <a:srgbClr val="FFFFFF"/>
              </a:solidFill>
            </a:endParaRPr>
          </a:p>
          <a:p>
            <a:pPr algn="l">
              <a:spcAft>
                <a:spcPts val="400"/>
              </a:spcAft>
            </a:pPr>
            <a:endParaRPr dirty="0">
              <a:solidFill>
                <a:srgbClr val="FFFFFF"/>
              </a:solidFill>
            </a:endParaRPr>
          </a:p>
          <a:p>
            <a:pPr algn="l">
              <a:spcAft>
                <a:spcPts val="400"/>
              </a:spcAft>
            </a:pPr>
            <a:r>
              <a:rPr dirty="0">
                <a:solidFill>
                  <a:srgbClr val="FFFFFF"/>
                </a:solidFill>
              </a:rPr>
              <a:t>• Code = data (IEX)</a:t>
            </a:r>
            <a:endParaRPr lang="en-US" dirty="0">
              <a:solidFill>
                <a:srgbClr val="FFFFFF"/>
              </a:solidFill>
            </a:endParaRPr>
          </a:p>
          <a:p>
            <a:pPr algn="l">
              <a:spcAft>
                <a:spcPts val="400"/>
              </a:spcAft>
            </a:pPr>
            <a:endParaRPr dirty="0">
              <a:solidFill>
                <a:srgbClr val="FFFFFF"/>
              </a:solidFill>
            </a:endParaRPr>
          </a:p>
          <a:p>
            <a:pPr algn="l">
              <a:spcAft>
                <a:spcPts val="400"/>
              </a:spcAft>
            </a:pPr>
            <a:r>
              <a:rPr dirty="0">
                <a:solidFill>
                  <a:srgbClr val="FFFFFF"/>
                </a:solidFill>
              </a:rPr>
              <a:t>• </a:t>
            </a:r>
            <a:r>
              <a:rPr dirty="0" err="1">
                <a:solidFill>
                  <a:srgbClr val="FFFFFF"/>
                </a:solidFill>
              </a:rPr>
              <a:t>Obfuskacja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trywialna</a:t>
            </a:r>
            <a:endParaRPr lang="en-US" dirty="0">
              <a:solidFill>
                <a:srgbClr val="FFFFFF"/>
              </a:solidFill>
            </a:endParaRPr>
          </a:p>
          <a:p>
            <a:pPr algn="l">
              <a:spcAft>
                <a:spcPts val="400"/>
              </a:spcAft>
            </a:pPr>
            <a:endParaRPr dirty="0">
              <a:solidFill>
                <a:srgbClr val="FFFFFF"/>
              </a:solidFill>
            </a:endParaRPr>
          </a:p>
          <a:p>
            <a:pPr algn="l">
              <a:spcAft>
                <a:spcPts val="400"/>
              </a:spcAft>
            </a:pPr>
            <a:r>
              <a:rPr dirty="0">
                <a:solidFill>
                  <a:srgbClr val="FFFFFF"/>
                </a:solidFill>
              </a:rPr>
              <a:t>• </a:t>
            </a:r>
            <a:r>
              <a:rPr dirty="0" err="1">
                <a:solidFill>
                  <a:srgbClr val="FFFFFF"/>
                </a:solidFill>
              </a:rPr>
              <a:t>Statyka</a:t>
            </a:r>
            <a:r>
              <a:rPr dirty="0">
                <a:solidFill>
                  <a:srgbClr val="FFFFFF"/>
                </a:solidFill>
              </a:rPr>
              <a:t> ma </a:t>
            </a:r>
            <a:r>
              <a:rPr dirty="0" err="1">
                <a:solidFill>
                  <a:srgbClr val="FFFFFF"/>
                </a:solidFill>
              </a:rPr>
              <a:t>pułap</a:t>
            </a:r>
            <a:endParaRPr lang="en-US" dirty="0">
              <a:solidFill>
                <a:srgbClr val="FFFFFF"/>
              </a:solidFill>
            </a:endParaRPr>
          </a:p>
          <a:p>
            <a:pPr algn="l">
              <a:spcAft>
                <a:spcPts val="400"/>
              </a:spcAft>
            </a:pPr>
            <a:endParaRPr dirty="0">
              <a:solidFill>
                <a:srgbClr val="FFFFFF"/>
              </a:solidFill>
            </a:endParaRPr>
          </a:p>
          <a:p>
            <a:pPr algn="l">
              <a:spcAft>
                <a:spcPts val="400"/>
              </a:spcAft>
            </a:pPr>
            <a:r>
              <a:rPr dirty="0">
                <a:solidFill>
                  <a:srgbClr val="FFFFFF"/>
                </a:solidFill>
              </a:rPr>
              <a:t>• → Halting problem!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D85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I.2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PowerShell — primary vector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114658"/>
            <a:ext cx="7062639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 dirty="0"/>
              <a:t>PowerShell jest </a:t>
            </a:r>
            <a:r>
              <a:rPr sz="1500" b="0" i="1" dirty="0" err="1"/>
              <a:t>preinstalowany</a:t>
            </a:r>
            <a:r>
              <a:rPr sz="1500" b="0" i="1" dirty="0"/>
              <a:t> </a:t>
            </a:r>
            <a:r>
              <a:rPr sz="1500" b="0" i="1" dirty="0" err="1"/>
              <a:t>na</a:t>
            </a:r>
            <a:r>
              <a:rPr sz="1500" b="0" i="1" dirty="0"/>
              <a:t> </a:t>
            </a:r>
            <a:r>
              <a:rPr sz="1500" b="0" i="1" dirty="0" err="1"/>
              <a:t>każdym</a:t>
            </a:r>
            <a:r>
              <a:rPr sz="1500" b="0" i="1" dirty="0"/>
              <a:t> </a:t>
            </a:r>
            <a:r>
              <a:rPr sz="1500" b="0" i="1" dirty="0" err="1"/>
              <a:t>Windowsie</a:t>
            </a:r>
            <a:r>
              <a:rPr sz="1500" b="0" i="1" dirty="0"/>
              <a:t> od </a:t>
            </a:r>
            <a:r>
              <a:rPr sz="1500" b="0" i="1" dirty="0" err="1"/>
              <a:t>ery</a:t>
            </a:r>
            <a:r>
              <a:rPr sz="1500" b="0" i="1" dirty="0"/>
              <a:t> Win 7 SP1.</a:t>
            </a:r>
          </a:p>
          <a:p>
            <a:pPr algn="l"/>
            <a:r>
              <a:rPr sz="1500" b="0" i="1" dirty="0" err="1"/>
              <a:t>Dla</a:t>
            </a:r>
            <a:r>
              <a:rPr sz="1500" b="0" i="1" dirty="0"/>
              <a:t> </a:t>
            </a:r>
            <a:r>
              <a:rPr sz="1500" b="0" i="1" dirty="0" err="1"/>
              <a:t>atakującego</a:t>
            </a:r>
            <a:r>
              <a:rPr sz="1500" b="0" i="1" dirty="0"/>
              <a:t>: </a:t>
            </a:r>
            <a:r>
              <a:rPr sz="1500" b="0" i="1" dirty="0" err="1"/>
              <a:t>zaufany</a:t>
            </a:r>
            <a:r>
              <a:rPr sz="1500" b="0" i="1" dirty="0"/>
              <a:t> binary, </a:t>
            </a:r>
            <a:r>
              <a:rPr sz="1500" b="0" i="1" dirty="0" err="1"/>
              <a:t>podpisany</a:t>
            </a:r>
            <a:r>
              <a:rPr sz="1500" b="0" i="1" dirty="0"/>
              <a:t> </a:t>
            </a:r>
            <a:r>
              <a:rPr sz="1500" b="0" i="1" dirty="0" err="1"/>
              <a:t>przez</a:t>
            </a:r>
            <a:r>
              <a:rPr sz="1500" b="0" i="1" dirty="0"/>
              <a:t> Microsoft, z </a:t>
            </a:r>
            <a:r>
              <a:rPr sz="1500" b="0" i="1" dirty="0" err="1"/>
              <a:t>pełnym</a:t>
            </a:r>
            <a:r>
              <a:rPr sz="1500" b="0" i="1" dirty="0"/>
              <a:t> .NET runtime.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232313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 dirty="0" err="1">
                <a:solidFill>
                  <a:schemeClr val="accent2"/>
                </a:solidFill>
              </a:rPr>
              <a:t>Typowe</a:t>
            </a:r>
            <a:r>
              <a:rPr sz="2800" b="1" i="0" dirty="0">
                <a:solidFill>
                  <a:schemeClr val="accent2"/>
                </a:solidFill>
              </a:rPr>
              <a:t> role: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963758"/>
            <a:ext cx="6974730" cy="13234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000" dirty="0">
                <a:solidFill>
                  <a:srgbClr val="FFFFFF"/>
                </a:solidFill>
              </a:rPr>
              <a:t>Dropper / loader   —  </a:t>
            </a:r>
            <a:r>
              <a:rPr sz="2000" dirty="0" err="1">
                <a:solidFill>
                  <a:srgbClr val="FFFFFF"/>
                </a:solidFill>
              </a:rPr>
              <a:t>pobiera</a:t>
            </a:r>
            <a:r>
              <a:rPr sz="2000" dirty="0">
                <a:solidFill>
                  <a:srgbClr val="FFFFFF"/>
                </a:solidFill>
              </a:rPr>
              <a:t> payload, </a:t>
            </a:r>
            <a:r>
              <a:rPr sz="2000" dirty="0" err="1">
                <a:solidFill>
                  <a:srgbClr val="FFFFFF"/>
                </a:solidFill>
              </a:rPr>
              <a:t>ładuje</a:t>
            </a:r>
            <a:r>
              <a:rPr sz="2000" dirty="0">
                <a:solidFill>
                  <a:srgbClr val="FFFFFF"/>
                </a:solidFill>
              </a:rPr>
              <a:t> go w </a:t>
            </a:r>
            <a:r>
              <a:rPr sz="2000" dirty="0" err="1">
                <a:solidFill>
                  <a:srgbClr val="FFFFFF"/>
                </a:solidFill>
              </a:rPr>
              <a:t>pamięci</a:t>
            </a:r>
            <a:endParaRPr lang="en-US" sz="2000" dirty="0">
              <a:solidFill>
                <a:srgbClr val="FFFFFF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sz="2000" dirty="0">
                <a:solidFill>
                  <a:srgbClr val="FFFFFF"/>
                </a:solidFill>
              </a:rPr>
              <a:t>Post-exploit       —  </a:t>
            </a:r>
            <a:r>
              <a:rPr lang="fr-FR" sz="2000" dirty="0" err="1">
                <a:solidFill>
                  <a:srgbClr val="FFFFFF"/>
                </a:solidFill>
              </a:rPr>
              <a:t>lateral</a:t>
            </a:r>
            <a:r>
              <a:rPr lang="fr-FR" sz="2000" dirty="0">
                <a:solidFill>
                  <a:srgbClr val="FFFFFF"/>
                </a:solidFill>
              </a:rPr>
              <a:t> </a:t>
            </a:r>
            <a:r>
              <a:rPr lang="fr-FR" sz="2000" dirty="0" err="1">
                <a:solidFill>
                  <a:srgbClr val="FFFFFF"/>
                </a:solidFill>
              </a:rPr>
              <a:t>movement</a:t>
            </a:r>
            <a:r>
              <a:rPr lang="fr-FR" sz="2000" dirty="0">
                <a:solidFill>
                  <a:srgbClr val="FFFFFF"/>
                </a:solidFill>
              </a:rPr>
              <a:t>, </a:t>
            </a:r>
            <a:r>
              <a:rPr lang="fr-FR" sz="2000" dirty="0" err="1">
                <a:solidFill>
                  <a:srgbClr val="FFFFFF"/>
                </a:solidFill>
              </a:rPr>
              <a:t>persistence</a:t>
            </a:r>
            <a:r>
              <a:rPr lang="fr-FR" sz="2000" dirty="0">
                <a:solidFill>
                  <a:srgbClr val="FFFFFF"/>
                </a:solidFill>
              </a:rPr>
              <a:t>, </a:t>
            </a:r>
            <a:r>
              <a:rPr lang="fr-FR" sz="2000" dirty="0" err="1">
                <a:solidFill>
                  <a:srgbClr val="FFFFFF"/>
                </a:solidFill>
              </a:rPr>
              <a:t>recon</a:t>
            </a:r>
            <a:endParaRPr lang="fr-FR" sz="2000" dirty="0">
              <a:solidFill>
                <a:srgbClr val="FFFFFF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FFFFFF"/>
                </a:solidFill>
              </a:rPr>
              <a:t>Credential dumper  —  Invoke-</a:t>
            </a:r>
            <a:r>
              <a:rPr lang="en-US" sz="2000" dirty="0" err="1">
                <a:solidFill>
                  <a:srgbClr val="FFFFFF"/>
                </a:solidFill>
              </a:rPr>
              <a:t>Mimikatz</a:t>
            </a:r>
            <a:r>
              <a:rPr lang="en-US" sz="2000" dirty="0">
                <a:solidFill>
                  <a:srgbClr val="FFFFFF"/>
                </a:solidFill>
              </a:rPr>
              <a:t>, LSASS access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FFFFFF"/>
                </a:solidFill>
              </a:rPr>
              <a:t>Ransomware stager  —  encrypt + exfiltrate + ransom note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029200"/>
            <a:ext cx="10698480" cy="1371600"/>
          </a:xfrm>
          <a:prstGeom prst="rect">
            <a:avLst/>
          </a:prstGeom>
          <a:solidFill>
            <a:srgbClr val="2A3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1" dirty="0" err="1">
                <a:solidFill>
                  <a:srgbClr val="94B6D2"/>
                </a:solidFill>
              </a:rPr>
              <a:t>Przykład</a:t>
            </a:r>
            <a:r>
              <a:rPr sz="1200" b="0" i="1" dirty="0">
                <a:solidFill>
                  <a:srgbClr val="94B6D2"/>
                </a:solidFill>
              </a:rPr>
              <a:t> — </a:t>
            </a:r>
            <a:r>
              <a:rPr sz="1200" b="0" i="1" dirty="0" err="1">
                <a:solidFill>
                  <a:srgbClr val="94B6D2"/>
                </a:solidFill>
              </a:rPr>
              <a:t>klasyczny</a:t>
            </a:r>
            <a:r>
              <a:rPr sz="1200" b="0" i="1" dirty="0">
                <a:solidFill>
                  <a:srgbClr val="94B6D2"/>
                </a:solidFill>
              </a:rPr>
              <a:t> dropper: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864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powershell -nop -w hidden -enc &lt;base64&gt;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943600"/>
            <a:ext cx="553228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sz="1100" b="0" i="1" dirty="0">
                <a:solidFill>
                  <a:schemeClr val="tx1">
                    <a:lumMod val="85000"/>
                  </a:schemeClr>
                </a:solidFill>
              </a:rPr>
              <a:t>Where: </a:t>
            </a:r>
            <a:r>
              <a:rPr sz="1100" b="0" i="1" dirty="0">
                <a:solidFill>
                  <a:schemeClr val="tx1">
                    <a:lumMod val="85000"/>
                  </a:schemeClr>
                </a:solidFill>
              </a:rPr>
              <a:t>-</a:t>
            </a:r>
            <a:r>
              <a:rPr sz="1100" b="0" i="1" dirty="0" err="1">
                <a:solidFill>
                  <a:schemeClr val="tx1">
                    <a:lumMod val="85000"/>
                  </a:schemeClr>
                </a:solidFill>
              </a:rPr>
              <a:t>nop</a:t>
            </a:r>
            <a:r>
              <a:rPr sz="1100" b="0" i="1" dirty="0">
                <a:solidFill>
                  <a:schemeClr val="tx1">
                    <a:lumMod val="85000"/>
                  </a:schemeClr>
                </a:solidFill>
              </a:rPr>
              <a:t> = </a:t>
            </a:r>
            <a:r>
              <a:rPr sz="1100" b="0" i="1" dirty="0" err="1">
                <a:solidFill>
                  <a:schemeClr val="tx1">
                    <a:lumMod val="85000"/>
                  </a:schemeClr>
                </a:solidFill>
              </a:rPr>
              <a:t>NoProfile</a:t>
            </a:r>
            <a:r>
              <a:rPr sz="1100" b="0" i="1" dirty="0">
                <a:solidFill>
                  <a:schemeClr val="tx1">
                    <a:lumMod val="85000"/>
                  </a:schemeClr>
                </a:solidFill>
              </a:rPr>
              <a:t>,  -w hidden = no console window,  -enc = base64-encoded command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D85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AMSI — Anti-Malware Scan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Microsoft-owy interfejs zaproponowany w Windows 10 (2015).</a:t>
            </a:r>
          </a:p>
          <a:p>
            <a:pPr algn="l"/>
            <a:r>
              <a:rPr sz="1600" b="0" i="0">
                <a:solidFill>
                  <a:srgbClr val="FFFFFF"/>
                </a:solidFill>
              </a:rPr>
              <a:t>Pozwala AV-om skanować *zawartość* skryptu PRZED jego wykonaniem.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52941" y="1756935"/>
            <a:ext cx="3474413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i="0" dirty="0">
                <a:solidFill>
                  <a:schemeClr val="accent2"/>
                </a:solidFill>
              </a:rPr>
              <a:t>Co AMSI </a:t>
            </a:r>
            <a:r>
              <a:rPr sz="3200" b="1" i="0" dirty="0" err="1">
                <a:solidFill>
                  <a:schemeClr val="accent2"/>
                </a:solidFill>
              </a:rPr>
              <a:t>skanuje</a:t>
            </a:r>
            <a:r>
              <a:rPr lang="en-US" sz="3200" b="1" i="0" dirty="0">
                <a:solidFill>
                  <a:schemeClr val="accent2"/>
                </a:solidFill>
              </a:rPr>
              <a:t>?</a:t>
            </a:r>
            <a:endParaRPr sz="3200" b="1" i="0" dirty="0">
              <a:solidFill>
                <a:schemeClr val="accent2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31520" y="5486400"/>
            <a:ext cx="10698480" cy="914400"/>
          </a:xfrm>
          <a:prstGeom prst="rect">
            <a:avLst/>
          </a:prstGeom>
          <a:solidFill>
            <a:srgbClr val="2A3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5623560"/>
            <a:ext cx="103327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</a:rPr>
              <a:t>Provider model — każdy AV rejestruje swoje COM DLL w HKLM\…\AMSI\Providers.</a:t>
            </a:r>
          </a:p>
          <a:p>
            <a:pPr algn="l"/>
            <a:r>
              <a:rPr sz="1300" b="0" i="0">
                <a:solidFill>
                  <a:srgbClr val="AABBCC"/>
                </a:solidFill>
              </a:rPr>
              <a:t>AMSI woła wszystkich providerów, jeden 'malicious' = blokada.</a:t>
            </a:r>
          </a:p>
        </p:txBody>
      </p:sp>
      <p:pic>
        <p:nvPicPr>
          <p:cNvPr id="10" name="Picture 9" descr="A blue square with white arrow&#10;&#10;AI-generated content may be incorrect.">
            <a:extLst>
              <a:ext uri="{FF2B5EF4-FFF2-40B4-BE49-F238E27FC236}">
                <a16:creationId xmlns:a16="http://schemas.microsoft.com/office/drawing/2014/main" id="{F50254F9-5FB0-C2AF-4E79-BA0FA968D6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194560"/>
            <a:ext cx="1981325" cy="198132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9CF03A1-7ADC-3565-9B98-B8620B645C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9584" y="4015283"/>
            <a:ext cx="1343028" cy="140253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28E1686-A9BD-FC1C-C8CD-DB649A3419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4174" y="3991856"/>
            <a:ext cx="1269387" cy="1425964"/>
          </a:xfrm>
          <a:prstGeom prst="rect">
            <a:avLst/>
          </a:prstGeom>
          <a:ln w="57150">
            <a:solidFill>
              <a:schemeClr val="accent5"/>
            </a:solidFill>
          </a:ln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5AB832F-0FF3-E600-D229-50B0EE4D3C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61280" y="2483953"/>
            <a:ext cx="1416075" cy="1402537"/>
          </a:xfrm>
          <a:prstGeom prst="rect">
            <a:avLst/>
          </a:prstGeom>
        </p:spPr>
      </p:pic>
      <p:sp>
        <p:nvSpPr>
          <p:cNvPr id="22" name="Oval 21">
            <a:extLst>
              <a:ext uri="{FF2B5EF4-FFF2-40B4-BE49-F238E27FC236}">
                <a16:creationId xmlns:a16="http://schemas.microsoft.com/office/drawing/2014/main" id="{5DC7336D-5206-F0A9-D7B6-D3433856693A}"/>
              </a:ext>
            </a:extLst>
          </p:cNvPr>
          <p:cNvSpPr/>
          <p:nvPr/>
        </p:nvSpPr>
        <p:spPr>
          <a:xfrm>
            <a:off x="4289948" y="2488456"/>
            <a:ext cx="3017520" cy="914400"/>
          </a:xfrm>
          <a:prstGeom prst="ellipse">
            <a:avLst/>
          </a:prstGeom>
          <a:gradFill flip="none" rotWithShape="1">
            <a:gsLst>
              <a:gs pos="0">
                <a:schemeClr val="accent3">
                  <a:lumMod val="67000"/>
                </a:schemeClr>
              </a:gs>
              <a:gs pos="48000">
                <a:schemeClr val="accent3">
                  <a:lumMod val="97000"/>
                  <a:lumOff val="3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AmsiScanBuffer</a:t>
            </a:r>
            <a:endParaRPr lang="en-US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9EF534B-F2A3-2DE4-500C-2F9A998C950F}"/>
              </a:ext>
            </a:extLst>
          </p:cNvPr>
          <p:cNvSpPr/>
          <p:nvPr/>
        </p:nvSpPr>
        <p:spPr>
          <a:xfrm>
            <a:off x="1069848" y="2322135"/>
            <a:ext cx="9884664" cy="3301425"/>
          </a:xfrm>
          <a:prstGeom prst="roundRect">
            <a:avLst/>
          </a:prstGeom>
          <a:noFill/>
          <a:ln w="57150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D85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II.2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AMSI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920239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778899"/>
                </a:solidFill>
              </a:rPr>
              <a:t>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2697480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778899"/>
                </a:solidFill>
              </a:rPr>
              <a:t>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3474720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778899"/>
                </a:solidFill>
              </a:rPr>
              <a:t>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4251959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778899"/>
                </a:solidFill>
              </a:rPr>
              <a:t>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5029200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778899"/>
                </a:solidFill>
              </a:rPr>
              <a:t>▼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43F390D-50AC-6242-37E4-EDB0ED3FFE99}"/>
              </a:ext>
            </a:extLst>
          </p:cNvPr>
          <p:cNvSpPr/>
          <p:nvPr/>
        </p:nvSpPr>
        <p:spPr>
          <a:xfrm>
            <a:off x="1267459" y="1176786"/>
            <a:ext cx="2935669" cy="1233661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PowerShell.exe</a:t>
            </a:r>
          </a:p>
          <a:p>
            <a:pPr algn="ctr"/>
            <a:endParaRPr lang="en-US" sz="28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B6F42F0-1283-AA07-FC14-433B1FC0EEC4}"/>
              </a:ext>
            </a:extLst>
          </p:cNvPr>
          <p:cNvSpPr txBox="1"/>
          <p:nvPr/>
        </p:nvSpPr>
        <p:spPr>
          <a:xfrm>
            <a:off x="1546050" y="1923023"/>
            <a:ext cx="22585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AABBCC"/>
                </a:solidFill>
              </a:rPr>
              <a:t> user invokes a script</a:t>
            </a:r>
            <a:endParaRPr lang="en-US" sz="1400" dirty="0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B09FA4B-9631-D792-F95C-CFBD5D75B142}"/>
              </a:ext>
            </a:extLst>
          </p:cNvPr>
          <p:cNvSpPr/>
          <p:nvPr/>
        </p:nvSpPr>
        <p:spPr>
          <a:xfrm>
            <a:off x="4899628" y="1524389"/>
            <a:ext cx="2852992" cy="1225330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accent2"/>
                </a:solidFill>
              </a:rPr>
              <a:t>AMSI.dll</a:t>
            </a:r>
          </a:p>
          <a:p>
            <a:pPr algn="ctr"/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9AA7702F-240D-560D-7328-AA391061A4A9}"/>
              </a:ext>
            </a:extLst>
          </p:cNvPr>
          <p:cNvSpPr/>
          <p:nvPr/>
        </p:nvSpPr>
        <p:spPr>
          <a:xfrm>
            <a:off x="8396891" y="1875415"/>
            <a:ext cx="3295270" cy="1287055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7BA79D"/>
                </a:solidFill>
              </a:rPr>
              <a:t>Registered providers</a:t>
            </a:r>
          </a:p>
          <a:p>
            <a:endParaRPr lang="en-US" sz="2400" b="1" dirty="0">
              <a:solidFill>
                <a:srgbClr val="7BA79D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CEF7347-0439-2CE5-B9D2-8F45949C3A1B}"/>
              </a:ext>
            </a:extLst>
          </p:cNvPr>
          <p:cNvSpPr txBox="1"/>
          <p:nvPr/>
        </p:nvSpPr>
        <p:spPr>
          <a:xfrm>
            <a:off x="5331175" y="2230800"/>
            <a:ext cx="22585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AmsiScanBuffer</a:t>
            </a:r>
            <a:r>
              <a:rPr lang="en-US" sz="1400" b="0" i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(content)</a:t>
            </a:r>
            <a:endParaRPr lang="en-US" sz="1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1A07C84-55BB-2564-C448-CEBF3E8FE48C}"/>
              </a:ext>
            </a:extLst>
          </p:cNvPr>
          <p:cNvSpPr txBox="1"/>
          <p:nvPr/>
        </p:nvSpPr>
        <p:spPr>
          <a:xfrm>
            <a:off x="8839200" y="2365055"/>
            <a:ext cx="2545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AABBCC"/>
                </a:solidFill>
              </a:rPr>
              <a:t> enumerated from registry</a:t>
            </a:r>
            <a:endParaRPr lang="en-US" sz="1400" dirty="0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F8C4BC11-5B0F-13AD-0B6E-1927871056CB}"/>
              </a:ext>
            </a:extLst>
          </p:cNvPr>
          <p:cNvSpPr/>
          <p:nvPr/>
        </p:nvSpPr>
        <p:spPr>
          <a:xfrm>
            <a:off x="8500490" y="3785625"/>
            <a:ext cx="3295270" cy="1298427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 Provider COM DLLs</a:t>
            </a:r>
          </a:p>
          <a:p>
            <a:endParaRPr lang="en-US" sz="2400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ED54DDF-0A50-2331-C253-E64463C76D68}"/>
              </a:ext>
            </a:extLst>
          </p:cNvPr>
          <p:cNvSpPr txBox="1"/>
          <p:nvPr/>
        </p:nvSpPr>
        <p:spPr>
          <a:xfrm>
            <a:off x="8973312" y="4343399"/>
            <a:ext cx="22768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AABBCC"/>
                </a:solidFill>
              </a:rPr>
              <a:t> each scans, returns verdict</a:t>
            </a:r>
            <a:endParaRPr lang="en-US" sz="1400" dirty="0"/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0C6244CE-55DF-279B-FFBB-A9B03E04F034}"/>
              </a:ext>
            </a:extLst>
          </p:cNvPr>
          <p:cNvSpPr/>
          <p:nvPr/>
        </p:nvSpPr>
        <p:spPr>
          <a:xfrm>
            <a:off x="4872419" y="4370830"/>
            <a:ext cx="2976372" cy="1337383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7BA79D"/>
                </a:solidFill>
              </a:rPr>
              <a:t>Aggregated Verdict</a:t>
            </a:r>
          </a:p>
          <a:p>
            <a:endParaRPr lang="en-US" sz="2400" b="1" dirty="0">
              <a:solidFill>
                <a:srgbClr val="7BA79D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995ABFE-4E5D-F3FF-57BE-DA74511CA39D}"/>
              </a:ext>
            </a:extLst>
          </p:cNvPr>
          <p:cNvSpPr txBox="1"/>
          <p:nvPr/>
        </p:nvSpPr>
        <p:spPr>
          <a:xfrm>
            <a:off x="5328285" y="5233486"/>
            <a:ext cx="19956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AABBCC"/>
                </a:solidFill>
              </a:rPr>
              <a:t> any 'malicious' = block</a:t>
            </a:r>
            <a:endParaRPr lang="en-US" sz="1400" dirty="0"/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790BBB6F-0864-425C-7E60-3F1000323175}"/>
              </a:ext>
            </a:extLst>
          </p:cNvPr>
          <p:cNvSpPr/>
          <p:nvPr/>
        </p:nvSpPr>
        <p:spPr>
          <a:xfrm>
            <a:off x="1020144" y="4940253"/>
            <a:ext cx="3210116" cy="1150275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FF0000"/>
                </a:solidFill>
              </a:rPr>
              <a:t>PowerShell decision</a:t>
            </a:r>
          </a:p>
          <a:p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897D5A4-7A74-5F48-1356-221D06184314}"/>
              </a:ext>
            </a:extLst>
          </p:cNvPr>
          <p:cNvSpPr txBox="1"/>
          <p:nvPr/>
        </p:nvSpPr>
        <p:spPr>
          <a:xfrm>
            <a:off x="1280160" y="5644294"/>
            <a:ext cx="26235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b="0" i="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 </a:t>
            </a:r>
            <a:r>
              <a:rPr lang="es-ES" sz="1400" b="0" i="0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CLEAN→execute</a:t>
            </a:r>
            <a:r>
              <a:rPr lang="es-ES" sz="1400" b="0" i="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 / MAL → error</a:t>
            </a:r>
            <a:endParaRPr lang="en-US" sz="1400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78B926D-CF5E-299A-4825-B22C5E6E4175}"/>
              </a:ext>
            </a:extLst>
          </p:cNvPr>
          <p:cNvCxnSpPr>
            <a:stCxn id="28" idx="3"/>
          </p:cNvCxnSpPr>
          <p:nvPr/>
        </p:nvCxnSpPr>
        <p:spPr>
          <a:xfrm>
            <a:off x="4203128" y="1793617"/>
            <a:ext cx="696500" cy="218062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874B17-F6A3-2448-F90F-F13668EA0C07}"/>
              </a:ext>
            </a:extLst>
          </p:cNvPr>
          <p:cNvCxnSpPr/>
          <p:nvPr/>
        </p:nvCxnSpPr>
        <p:spPr>
          <a:xfrm>
            <a:off x="7700391" y="2103119"/>
            <a:ext cx="696500" cy="218062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524BDAA-5D66-3968-D842-8CBB453EE911}"/>
              </a:ext>
            </a:extLst>
          </p:cNvPr>
          <p:cNvCxnSpPr>
            <a:cxnSpLocks/>
            <a:endCxn id="36" idx="0"/>
          </p:cNvCxnSpPr>
          <p:nvPr/>
        </p:nvCxnSpPr>
        <p:spPr>
          <a:xfrm>
            <a:off x="10148125" y="3195771"/>
            <a:ext cx="0" cy="589854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E8071C5-C3BF-6B32-C30F-849EC3BA60A7}"/>
              </a:ext>
            </a:extLst>
          </p:cNvPr>
          <p:cNvCxnSpPr>
            <a:cxnSpLocks/>
            <a:endCxn id="39" idx="3"/>
          </p:cNvCxnSpPr>
          <p:nvPr/>
        </p:nvCxnSpPr>
        <p:spPr>
          <a:xfrm flipH="1">
            <a:off x="7848791" y="4422074"/>
            <a:ext cx="642159" cy="617448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1C7C3855-8513-0AF2-7376-ECFE497F269F}"/>
              </a:ext>
            </a:extLst>
          </p:cNvPr>
          <p:cNvCxnSpPr>
            <a:cxnSpLocks/>
            <a:endCxn id="42" idx="3"/>
          </p:cNvCxnSpPr>
          <p:nvPr/>
        </p:nvCxnSpPr>
        <p:spPr>
          <a:xfrm flipH="1">
            <a:off x="4230260" y="4940253"/>
            <a:ext cx="632619" cy="575138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D85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AMSI bypass — taxonomy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3657600" cy="521208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417319"/>
            <a:ext cx="208884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 dirty="0">
                <a:solidFill>
                  <a:schemeClr val="accent2"/>
                </a:solidFill>
              </a:rPr>
              <a:t>Patch w </a:t>
            </a:r>
            <a:r>
              <a:rPr sz="2000" b="1" i="0" dirty="0" err="1">
                <a:solidFill>
                  <a:schemeClr val="accent2"/>
                </a:solidFill>
              </a:rPr>
              <a:t>pamięci</a:t>
            </a:r>
            <a:endParaRPr sz="2000" b="1" i="0" dirty="0">
              <a:solidFill>
                <a:schemeClr val="accent2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94324" y="2183188"/>
            <a:ext cx="3666196" cy="2718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dirty="0">
                <a:solidFill>
                  <a:srgbClr val="FFFFFF"/>
                </a:solidFill>
              </a:rPr>
              <a:t>• </a:t>
            </a:r>
            <a:r>
              <a:rPr sz="1600" dirty="0" err="1">
                <a:solidFill>
                  <a:srgbClr val="FFFFFF"/>
                </a:solidFill>
              </a:rPr>
              <a:t>VirtualProtect</a:t>
            </a:r>
            <a:r>
              <a:rPr sz="1600" dirty="0">
                <a:solidFill>
                  <a:srgbClr val="FFFFFF"/>
                </a:solidFill>
              </a:rPr>
              <a:t> + </a:t>
            </a:r>
            <a:r>
              <a:rPr sz="1600" dirty="0" err="1">
                <a:solidFill>
                  <a:srgbClr val="FFFFFF"/>
                </a:solidFill>
              </a:rPr>
              <a:t>WriteProcessMemory</a:t>
            </a:r>
            <a:endParaRPr lang="en-US" sz="1600" dirty="0">
              <a:solidFill>
                <a:srgbClr val="FFFFFF"/>
              </a:solidFill>
            </a:endParaRPr>
          </a:p>
          <a:p>
            <a:pPr algn="l">
              <a:spcAft>
                <a:spcPts val="400"/>
              </a:spcAft>
            </a:pPr>
            <a:endParaRPr sz="1600" dirty="0">
              <a:solidFill>
                <a:srgbClr val="FFFFFF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dirty="0">
                <a:solidFill>
                  <a:srgbClr val="FFFFFF"/>
                </a:solidFill>
              </a:rPr>
              <a:t>• </a:t>
            </a:r>
            <a:r>
              <a:rPr sz="1600" dirty="0" err="1">
                <a:solidFill>
                  <a:srgbClr val="FFFFFF"/>
                </a:solidFill>
              </a:rPr>
              <a:t>Patchuje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AmsiScanBuffer</a:t>
            </a:r>
            <a:r>
              <a:rPr sz="1600" dirty="0">
                <a:solidFill>
                  <a:srgbClr val="FFFFFF"/>
                </a:solidFill>
              </a:rPr>
              <a:t> entry</a:t>
            </a:r>
            <a:endParaRPr lang="en-US" sz="1600" dirty="0">
              <a:solidFill>
                <a:srgbClr val="FFFFFF"/>
              </a:solidFill>
            </a:endParaRPr>
          </a:p>
          <a:p>
            <a:pPr algn="l">
              <a:spcAft>
                <a:spcPts val="400"/>
              </a:spcAft>
            </a:pPr>
            <a:endParaRPr sz="1600" dirty="0">
              <a:solidFill>
                <a:srgbClr val="FFFFFF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dirty="0">
                <a:solidFill>
                  <a:srgbClr val="FFFFFF"/>
                </a:solidFill>
              </a:rPr>
              <a:t>• Returns AMSI_RESULT_CLEAN</a:t>
            </a:r>
            <a:endParaRPr lang="en-US" sz="1600" dirty="0">
              <a:solidFill>
                <a:srgbClr val="FFFFFF"/>
              </a:solidFill>
            </a:endParaRPr>
          </a:p>
          <a:p>
            <a:pPr algn="l">
              <a:spcAft>
                <a:spcPts val="400"/>
              </a:spcAft>
            </a:pPr>
            <a:endParaRPr sz="1600" dirty="0">
              <a:solidFill>
                <a:srgbClr val="FFFFFF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dirty="0">
                <a:solidFill>
                  <a:srgbClr val="FFFFFF"/>
                </a:solidFill>
              </a:rPr>
              <a:t>• → Matt Graeber (2016)</a:t>
            </a:r>
          </a:p>
          <a:p>
            <a:pPr algn="l">
              <a:spcAft>
                <a:spcPts val="400"/>
              </a:spcAft>
            </a:pPr>
            <a:r>
              <a:rPr sz="1600" dirty="0">
                <a:solidFill>
                  <a:srgbClr val="FFFFFF"/>
                </a:solidFill>
              </a:rPr>
              <a:t>• → Tal Liberman variants</a:t>
            </a:r>
          </a:p>
          <a:p>
            <a:pPr algn="l">
              <a:spcAft>
                <a:spcPts val="400"/>
              </a:spcAft>
            </a:pPr>
            <a:r>
              <a:rPr sz="1600" dirty="0">
                <a:solidFill>
                  <a:srgbClr val="FFFFFF"/>
                </a:solidFill>
              </a:rPr>
              <a:t>• </a:t>
            </a:r>
            <a:r>
              <a:rPr sz="1600" dirty="0" err="1">
                <a:solidFill>
                  <a:srgbClr val="FFFFFF"/>
                </a:solidFill>
              </a:rPr>
              <a:t>Pierwszy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znany</a:t>
            </a:r>
            <a:r>
              <a:rPr sz="1600" dirty="0">
                <a:solidFill>
                  <a:srgbClr val="FFFFFF"/>
                </a:solidFill>
              </a:rPr>
              <a:t> bypass; </a:t>
            </a:r>
            <a:r>
              <a:rPr sz="1600" dirty="0" err="1">
                <a:solidFill>
                  <a:srgbClr val="FFFFFF"/>
                </a:solidFill>
              </a:rPr>
              <a:t>nadal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działa</a:t>
            </a:r>
            <a:endParaRPr sz="1600" dirty="0">
              <a:solidFill>
                <a:srgbClr val="FFFFFF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297680" y="1280160"/>
            <a:ext cx="3657600" cy="521208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0" y="1417319"/>
            <a:ext cx="2657138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 i="0" dirty="0">
                <a:solidFill>
                  <a:schemeClr val="accent2"/>
                </a:solidFill>
              </a:rPr>
              <a:t>Reflection bypass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99687" y="1969628"/>
            <a:ext cx="3464153" cy="18261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dirty="0">
                <a:solidFill>
                  <a:srgbClr val="FFFFFF"/>
                </a:solidFill>
              </a:rPr>
              <a:t>• [Ref].</a:t>
            </a:r>
            <a:r>
              <a:rPr sz="1600" dirty="0" err="1">
                <a:solidFill>
                  <a:srgbClr val="FFFFFF"/>
                </a:solidFill>
              </a:rPr>
              <a:t>Assembly.GetType</a:t>
            </a:r>
            <a:r>
              <a:rPr sz="1600" dirty="0">
                <a:solidFill>
                  <a:srgbClr val="FFFFFF"/>
                </a:solidFill>
              </a:rPr>
              <a:t>('</a:t>
            </a:r>
            <a:r>
              <a:rPr sz="1600" dirty="0" err="1">
                <a:solidFill>
                  <a:srgbClr val="FFFFFF"/>
                </a:solidFill>
              </a:rPr>
              <a:t>AmsiUtils</a:t>
            </a:r>
            <a:r>
              <a:rPr sz="1600" dirty="0">
                <a:solidFill>
                  <a:srgbClr val="FFFFFF"/>
                </a:solidFill>
              </a:rPr>
              <a:t>')</a:t>
            </a:r>
            <a:endParaRPr lang="en-US" sz="1600" dirty="0">
              <a:solidFill>
                <a:srgbClr val="FFFFFF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dirty="0">
                <a:solidFill>
                  <a:srgbClr val="FFFFFF"/>
                </a:solidFill>
              </a:rPr>
              <a:t>.</a:t>
            </a:r>
            <a:r>
              <a:rPr sz="1600" dirty="0" err="1">
                <a:solidFill>
                  <a:srgbClr val="FFFFFF"/>
                </a:solidFill>
              </a:rPr>
              <a:t>GetField</a:t>
            </a:r>
            <a:r>
              <a:rPr sz="1600" dirty="0">
                <a:solidFill>
                  <a:srgbClr val="FFFFFF"/>
                </a:solidFill>
              </a:rPr>
              <a:t>('</a:t>
            </a:r>
            <a:r>
              <a:rPr sz="1600" dirty="0" err="1">
                <a:solidFill>
                  <a:srgbClr val="FFFFFF"/>
                </a:solidFill>
              </a:rPr>
              <a:t>amsiInitFailed</a:t>
            </a:r>
            <a:r>
              <a:rPr sz="1600" dirty="0">
                <a:solidFill>
                  <a:srgbClr val="FFFFFF"/>
                </a:solidFill>
              </a:rPr>
              <a:t>')</a:t>
            </a:r>
          </a:p>
          <a:p>
            <a:pPr algn="l">
              <a:spcAft>
                <a:spcPts val="400"/>
              </a:spcAft>
            </a:pPr>
            <a:r>
              <a:rPr sz="1600" dirty="0">
                <a:solidFill>
                  <a:srgbClr val="FFFFFF"/>
                </a:solidFill>
              </a:rPr>
              <a:t>• .</a:t>
            </a:r>
            <a:r>
              <a:rPr sz="1600" dirty="0" err="1">
                <a:solidFill>
                  <a:srgbClr val="FFFFFF"/>
                </a:solidFill>
              </a:rPr>
              <a:t>SetValue</a:t>
            </a:r>
            <a:r>
              <a:rPr sz="1600" dirty="0">
                <a:solidFill>
                  <a:srgbClr val="FFFFFF"/>
                </a:solidFill>
              </a:rPr>
              <a:t>($null, $true)</a:t>
            </a:r>
          </a:p>
          <a:p>
            <a:pPr algn="l">
              <a:spcAft>
                <a:spcPts val="400"/>
              </a:spcAft>
            </a:pPr>
            <a:r>
              <a:rPr sz="1600" dirty="0">
                <a:solidFill>
                  <a:srgbClr val="FFFFFF"/>
                </a:solidFill>
              </a:rPr>
              <a:t>• </a:t>
            </a:r>
            <a:r>
              <a:rPr sz="1600" dirty="0" err="1">
                <a:solidFill>
                  <a:srgbClr val="FFFFFF"/>
                </a:solidFill>
              </a:rPr>
              <a:t>Wyłącza</a:t>
            </a:r>
            <a:r>
              <a:rPr sz="1600" dirty="0">
                <a:solidFill>
                  <a:srgbClr val="FFFFFF"/>
                </a:solidFill>
              </a:rPr>
              <a:t> AMSI session flag</a:t>
            </a:r>
          </a:p>
          <a:p>
            <a:pPr algn="l">
              <a:spcAft>
                <a:spcPts val="400"/>
              </a:spcAft>
            </a:pPr>
            <a:r>
              <a:rPr sz="1600" dirty="0">
                <a:solidFill>
                  <a:srgbClr val="FFFFFF"/>
                </a:solidFill>
              </a:rPr>
              <a:t>• → One-liner, </a:t>
            </a:r>
            <a:r>
              <a:rPr sz="1600" dirty="0" err="1">
                <a:solidFill>
                  <a:srgbClr val="FFFFFF"/>
                </a:solidFill>
              </a:rPr>
              <a:t>najprostszy</a:t>
            </a:r>
            <a:endParaRPr sz="1600" dirty="0">
              <a:solidFill>
                <a:srgbClr val="FFFFFF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dirty="0">
                <a:solidFill>
                  <a:srgbClr val="FFFFFF"/>
                </a:solidFill>
              </a:rPr>
              <a:t>• </a:t>
            </a:r>
            <a:r>
              <a:rPr sz="1600" dirty="0" err="1">
                <a:solidFill>
                  <a:srgbClr val="FFFFFF"/>
                </a:solidFill>
              </a:rPr>
              <a:t>Patchowany</a:t>
            </a:r>
            <a:r>
              <a:rPr sz="1600" dirty="0">
                <a:solidFill>
                  <a:srgbClr val="FFFFFF"/>
                </a:solidFill>
              </a:rPr>
              <a:t> MS 2019, </a:t>
            </a:r>
            <a:r>
              <a:rPr sz="1600" dirty="0" err="1">
                <a:solidFill>
                  <a:srgbClr val="FFFFFF"/>
                </a:solidFill>
              </a:rPr>
              <a:t>wraca</a:t>
            </a:r>
            <a:endParaRPr sz="1600" dirty="0">
              <a:solidFill>
                <a:srgbClr val="FFFFFF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138160" y="1280160"/>
            <a:ext cx="3657600" cy="5212080"/>
          </a:xfrm>
          <a:prstGeom prst="rect">
            <a:avLst/>
          </a:prstGeom>
          <a:solidFill>
            <a:srgbClr val="2A3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0" y="1417319"/>
            <a:ext cx="2801088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 i="0" dirty="0">
                <a:solidFill>
                  <a:schemeClr val="accent2"/>
                </a:solidFill>
              </a:rPr>
              <a:t>COM/</a:t>
            </a:r>
            <a:r>
              <a:rPr sz="2400" b="1" i="0" dirty="0" err="1">
                <a:solidFill>
                  <a:schemeClr val="accent2"/>
                </a:solidFill>
              </a:rPr>
              <a:t>vtable</a:t>
            </a:r>
            <a:r>
              <a:rPr sz="2400" b="1" i="0" dirty="0">
                <a:solidFill>
                  <a:schemeClr val="accent2"/>
                </a:solidFill>
              </a:rPr>
              <a:t> hijack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1874519"/>
            <a:ext cx="310896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FFFFFF"/>
                </a:solidFill>
              </a:rPr>
              <a:t>• DllGetClassObject(provider CLSID)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FFFFFF"/>
                </a:solidFill>
              </a:rPr>
              <a:t>• GetDelegateForFunctionPointer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FFFFFF"/>
                </a:solidFill>
              </a:rPr>
              <a:t>• WriteIntPtr → patch vtable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FFFFFF"/>
                </a:solidFill>
              </a:rPr>
              <a:t>• Każdy COM-side hook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FFFFFF"/>
                </a:solidFill>
              </a:rPr>
              <a:t>• → AmsiProviderScanDisruption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FFFFFF"/>
                </a:solidFill>
              </a:rPr>
              <a:t>• Lokalny, in-process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D85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III.2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AmsiProviderScanDisruption  — 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684713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1" dirty="0">
                <a:solidFill>
                  <a:schemeClr val="tx1">
                    <a:lumMod val="95000"/>
                  </a:schemeClr>
                </a:solidFill>
              </a:rPr>
              <a:t>github.com/</a:t>
            </a:r>
            <a:r>
              <a:rPr sz="1400" b="0" i="1" dirty="0" err="1">
                <a:solidFill>
                  <a:schemeClr val="tx1">
                    <a:lumMod val="95000"/>
                  </a:schemeClr>
                </a:solidFill>
              </a:rPr>
              <a:t>radkum</a:t>
            </a:r>
            <a:r>
              <a:rPr sz="1400" b="0" i="1" dirty="0">
                <a:solidFill>
                  <a:schemeClr val="tx1">
                    <a:lumMod val="95000"/>
                  </a:schemeClr>
                </a:solidFill>
              </a:rPr>
              <a:t>/</a:t>
            </a:r>
            <a:r>
              <a:rPr sz="1400" b="0" i="1" dirty="0" err="1">
                <a:solidFill>
                  <a:schemeClr val="tx1">
                    <a:lumMod val="95000"/>
                  </a:schemeClr>
                </a:solidFill>
              </a:rPr>
              <a:t>AmsiProviderScanDisruption</a:t>
            </a:r>
            <a:r>
              <a:rPr sz="1400" b="0" i="1" dirty="0">
                <a:solidFill>
                  <a:schemeClr val="tx1">
                    <a:lumMod val="95000"/>
                  </a:schemeClr>
                </a:solidFill>
              </a:rPr>
              <a:t>  —  </a:t>
            </a:r>
            <a:r>
              <a:rPr sz="1400" b="0" i="1" dirty="0" err="1">
                <a:solidFill>
                  <a:schemeClr val="tx1">
                    <a:lumMod val="95000"/>
                  </a:schemeClr>
                </a:solidFill>
              </a:rPr>
              <a:t>technika</a:t>
            </a:r>
            <a:r>
              <a:rPr sz="1400" b="0" i="1" dirty="0">
                <a:solidFill>
                  <a:schemeClr val="tx1">
                    <a:lumMod val="95000"/>
                  </a:schemeClr>
                </a:solidFill>
              </a:rPr>
              <a:t> </a:t>
            </a:r>
            <a:r>
              <a:rPr sz="1400" b="0" i="1" dirty="0" err="1">
                <a:solidFill>
                  <a:schemeClr val="tx1">
                    <a:lumMod val="95000"/>
                  </a:schemeClr>
                </a:solidFill>
              </a:rPr>
              <a:t>opublikowana</a:t>
            </a:r>
            <a:r>
              <a:rPr sz="1400" b="0" i="1" dirty="0">
                <a:solidFill>
                  <a:schemeClr val="tx1">
                    <a:lumMod val="95000"/>
                  </a:schemeClr>
                </a:solidFill>
              </a:rPr>
              <a:t> 5 </a:t>
            </a:r>
            <a:r>
              <a:rPr sz="1400" b="0" i="1" dirty="0" err="1">
                <a:solidFill>
                  <a:schemeClr val="tx1">
                    <a:lumMod val="95000"/>
                  </a:schemeClr>
                </a:solidFill>
              </a:rPr>
              <a:t>lat</a:t>
            </a:r>
            <a:r>
              <a:rPr sz="1400" b="0" i="1" dirty="0">
                <a:solidFill>
                  <a:schemeClr val="tx1">
                    <a:lumMod val="95000"/>
                  </a:schemeClr>
                </a:solidFill>
              </a:rPr>
              <a:t> </a:t>
            </a:r>
            <a:r>
              <a:rPr sz="1400" b="0" i="1" dirty="0" err="1">
                <a:solidFill>
                  <a:schemeClr val="tx1">
                    <a:lumMod val="95000"/>
                  </a:schemeClr>
                </a:solidFill>
              </a:rPr>
              <a:t>temu</a:t>
            </a:r>
            <a:r>
              <a:rPr sz="1400" b="0" i="1" dirty="0">
                <a:solidFill>
                  <a:schemeClr val="tx1">
                    <a:lumMod val="95000"/>
                  </a:schemeClr>
                </a:solidFill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442740"/>
            <a:ext cx="100860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 dirty="0">
                <a:solidFill>
                  <a:schemeClr val="accent2"/>
                </a:solidFill>
              </a:rPr>
              <a:t>Idea: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65960"/>
            <a:ext cx="7047763" cy="25853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342900" indent="-342900" algn="l">
              <a:buFont typeface="+mj-lt"/>
              <a:buAutoNum type="arabicPeriod"/>
            </a:pPr>
            <a:r>
              <a:rPr dirty="0" err="1"/>
              <a:t>Wylistuj</a:t>
            </a:r>
            <a:r>
              <a:rPr dirty="0"/>
              <a:t> registered </a:t>
            </a:r>
            <a:r>
              <a:rPr dirty="0" err="1"/>
              <a:t>providerów</a:t>
            </a:r>
            <a:r>
              <a:rPr dirty="0"/>
              <a:t> z HKLM\…\AMSI\Providers</a:t>
            </a:r>
            <a:r>
              <a:rPr lang="en-US" dirty="0"/>
              <a:t>\</a:t>
            </a:r>
          </a:p>
          <a:p>
            <a:pPr marL="342900" indent="-342900" algn="l">
              <a:buFont typeface="+mj-lt"/>
              <a:buAutoNum type="arabicPeriod"/>
            </a:pPr>
            <a:endParaRPr dirty="0"/>
          </a:p>
          <a:p>
            <a:pPr marL="342900" indent="-342900" algn="l">
              <a:buFont typeface="+mj-lt"/>
              <a:buAutoNum type="arabicPeriod"/>
            </a:pPr>
            <a:r>
              <a:rPr dirty="0" err="1"/>
              <a:t>Załaduj</a:t>
            </a:r>
            <a:r>
              <a:rPr dirty="0"/>
              <a:t> ich COM DLL </a:t>
            </a:r>
            <a:r>
              <a:rPr dirty="0" err="1"/>
              <a:t>przez</a:t>
            </a:r>
            <a:r>
              <a:rPr dirty="0"/>
              <a:t> `</a:t>
            </a:r>
            <a:r>
              <a:rPr dirty="0" err="1"/>
              <a:t>DllGetClassObject</a:t>
            </a:r>
            <a:r>
              <a:rPr dirty="0"/>
              <a:t>`</a:t>
            </a:r>
            <a:endParaRPr lang="en-US" dirty="0"/>
          </a:p>
          <a:p>
            <a:pPr marL="342900" indent="-342900" algn="l">
              <a:buFont typeface="+mj-lt"/>
              <a:buAutoNum type="arabicPeriod"/>
            </a:pPr>
            <a:endParaRPr dirty="0"/>
          </a:p>
          <a:p>
            <a:pPr marL="342900" indent="-342900" algn="l">
              <a:buFont typeface="+mj-lt"/>
              <a:buAutoNum type="arabicPeriod"/>
            </a:pPr>
            <a:r>
              <a:rPr dirty="0" err="1"/>
              <a:t>Wyciągnij</a:t>
            </a:r>
            <a:r>
              <a:rPr dirty="0"/>
              <a:t> </a:t>
            </a:r>
            <a:r>
              <a:rPr dirty="0" err="1"/>
              <a:t>IAntimalwareProvider</a:t>
            </a:r>
            <a:r>
              <a:rPr dirty="0"/>
              <a:t> COM object</a:t>
            </a:r>
            <a:endParaRPr lang="en-US" dirty="0"/>
          </a:p>
          <a:p>
            <a:pPr marL="342900" indent="-342900" algn="l">
              <a:buFont typeface="+mj-lt"/>
              <a:buAutoNum type="arabicPeriod"/>
            </a:pPr>
            <a:endParaRPr dirty="0"/>
          </a:p>
          <a:p>
            <a:pPr marL="342900" indent="-342900" algn="l">
              <a:buFont typeface="+mj-lt"/>
              <a:buAutoNum type="arabicPeriod"/>
            </a:pPr>
            <a:r>
              <a:rPr dirty="0" err="1"/>
              <a:t>Patchuj</a:t>
            </a:r>
            <a:r>
              <a:rPr dirty="0"/>
              <a:t> </a:t>
            </a:r>
            <a:r>
              <a:rPr dirty="0" err="1"/>
              <a:t>vtable</a:t>
            </a:r>
            <a:r>
              <a:rPr dirty="0"/>
              <a:t>: `</a:t>
            </a:r>
            <a:r>
              <a:rPr dirty="0" err="1"/>
              <a:t>IAntimalwareProvider</a:t>
            </a:r>
            <a:r>
              <a:rPr dirty="0"/>
              <a:t>::Scan` → return CLEAN</a:t>
            </a:r>
            <a:endParaRPr lang="en-US" dirty="0"/>
          </a:p>
          <a:p>
            <a:pPr marL="342900" indent="-342900" algn="l">
              <a:buFont typeface="+mj-lt"/>
              <a:buAutoNum type="arabicPeriod"/>
            </a:pPr>
            <a:endParaRPr dirty="0"/>
          </a:p>
          <a:p>
            <a:pPr marL="342900" indent="-342900" algn="l">
              <a:buFont typeface="+mj-lt"/>
              <a:buAutoNum type="arabicPeriod"/>
            </a:pPr>
            <a:r>
              <a:rPr dirty="0" err="1"/>
              <a:t>Każdy</a:t>
            </a:r>
            <a:r>
              <a:rPr dirty="0"/>
              <a:t> </a:t>
            </a:r>
            <a:r>
              <a:rPr dirty="0" err="1"/>
              <a:t>kolejny</a:t>
            </a:r>
            <a:r>
              <a:rPr dirty="0"/>
              <a:t> AMSI scan </a:t>
            </a:r>
            <a:r>
              <a:rPr dirty="0" err="1"/>
              <a:t>wraca</a:t>
            </a:r>
            <a:r>
              <a:rPr dirty="0"/>
              <a:t> CLEAN — bez </a:t>
            </a:r>
            <a:r>
              <a:rPr dirty="0" err="1"/>
              <a:t>modyfikacji</a:t>
            </a:r>
            <a:r>
              <a:rPr dirty="0"/>
              <a:t> amsi.dll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937760"/>
            <a:ext cx="10698480" cy="1463040"/>
          </a:xfrm>
          <a:prstGeom prst="rect">
            <a:avLst/>
          </a:prstGeom>
          <a:solidFill>
            <a:srgbClr val="2A3B4D"/>
          </a:solidFill>
          <a:ln w="2540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7042" y="4937760"/>
            <a:ext cx="306654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1" dirty="0"/>
              <a:t>Co to </a:t>
            </a:r>
            <a:r>
              <a:rPr sz="2000" b="1" i="1" dirty="0" err="1"/>
              <a:t>znaczy</a:t>
            </a:r>
            <a:r>
              <a:rPr sz="2000" b="1" i="1" dirty="0"/>
              <a:t> </a:t>
            </a:r>
            <a:r>
              <a:rPr sz="2000" b="1" i="1" dirty="0" err="1"/>
              <a:t>dla</a:t>
            </a:r>
            <a:r>
              <a:rPr sz="2000" b="1" i="1" dirty="0"/>
              <a:t> </a:t>
            </a:r>
            <a:r>
              <a:rPr sz="2000" b="1" i="1" dirty="0" err="1"/>
              <a:t>obrońcy</a:t>
            </a:r>
            <a:r>
              <a:rPr sz="2000" b="1" i="1" dirty="0"/>
              <a:t>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349240"/>
            <a:ext cx="10332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sz="1600" b="0" i="0" dirty="0" err="1">
                <a:solidFill>
                  <a:srgbClr val="FFFFFF"/>
                </a:solidFill>
              </a:rPr>
              <a:t>Atakujący</a:t>
            </a:r>
            <a:r>
              <a:rPr sz="1600" b="0" i="0" dirty="0">
                <a:solidFill>
                  <a:srgbClr val="FFFFFF"/>
                </a:solidFill>
              </a:rPr>
              <a:t> </a:t>
            </a:r>
            <a:r>
              <a:rPr sz="1600" b="0" i="0" dirty="0" err="1">
                <a:solidFill>
                  <a:srgbClr val="FFFFFF"/>
                </a:solidFill>
              </a:rPr>
              <a:t>nie</a:t>
            </a:r>
            <a:r>
              <a:rPr sz="1600" b="0" i="0" dirty="0">
                <a:solidFill>
                  <a:srgbClr val="FFFFFF"/>
                </a:solidFill>
              </a:rPr>
              <a:t> </a:t>
            </a:r>
            <a:r>
              <a:rPr sz="1600" b="0" i="0" dirty="0" err="1">
                <a:solidFill>
                  <a:srgbClr val="FFFFFF"/>
                </a:solidFill>
              </a:rPr>
              <a:t>tknął</a:t>
            </a:r>
            <a:r>
              <a:rPr sz="1600" b="0" i="0" dirty="0">
                <a:solidFill>
                  <a:srgbClr val="FFFFFF"/>
                </a:solidFill>
              </a:rPr>
              <a:t> amsi.dll. </a:t>
            </a:r>
            <a:r>
              <a:rPr sz="1600" b="0" i="0" dirty="0" err="1">
                <a:solidFill>
                  <a:srgbClr val="FFFFFF"/>
                </a:solidFill>
              </a:rPr>
              <a:t>Wszystkie</a:t>
            </a:r>
            <a:r>
              <a:rPr sz="1600" b="0" i="0" dirty="0">
                <a:solidFill>
                  <a:srgbClr val="FFFFFF"/>
                </a:solidFill>
              </a:rPr>
              <a:t> EDR-y </a:t>
            </a:r>
            <a:r>
              <a:rPr sz="1600" b="0" i="0" dirty="0" err="1">
                <a:solidFill>
                  <a:srgbClr val="FFFFFF"/>
                </a:solidFill>
              </a:rPr>
              <a:t>patrzące</a:t>
            </a:r>
            <a:r>
              <a:rPr sz="1600" b="0" i="0" dirty="0">
                <a:solidFill>
                  <a:srgbClr val="FFFFFF"/>
                </a:solidFill>
              </a:rPr>
              <a:t> </a:t>
            </a:r>
            <a:r>
              <a:rPr sz="1600" b="0" i="0" dirty="0" err="1">
                <a:solidFill>
                  <a:srgbClr val="FFFFFF"/>
                </a:solidFill>
              </a:rPr>
              <a:t>na</a:t>
            </a:r>
            <a:r>
              <a:rPr sz="1600" b="0" i="0" dirty="0">
                <a:solidFill>
                  <a:srgbClr val="FFFFFF"/>
                </a:solidFill>
              </a:rPr>
              <a:t> patch amsi.dll </a:t>
            </a:r>
            <a:r>
              <a:rPr sz="1600" b="0" i="0" dirty="0" err="1">
                <a:solidFill>
                  <a:srgbClr val="FFFFFF"/>
                </a:solidFill>
              </a:rPr>
              <a:t>widzą</a:t>
            </a:r>
            <a:r>
              <a:rPr sz="1600" b="0" i="0" dirty="0">
                <a:solidFill>
                  <a:srgbClr val="FFFFFF"/>
                </a:solidFill>
              </a:rPr>
              <a:t> </a:t>
            </a:r>
            <a:r>
              <a:rPr sz="1600" b="0" i="0" dirty="0" err="1">
                <a:solidFill>
                  <a:srgbClr val="FFFFFF"/>
                </a:solidFill>
              </a:rPr>
              <a:t>czysto</a:t>
            </a:r>
            <a:r>
              <a:rPr sz="1600" b="0" i="0" dirty="0">
                <a:solidFill>
                  <a:srgbClr val="FFFFFF"/>
                </a:solidFill>
              </a:rPr>
              <a:t>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FFFFFF"/>
                </a:solidFill>
              </a:rPr>
              <a:t>Provider DLL </a:t>
            </a:r>
            <a:r>
              <a:rPr sz="1600" b="0" i="0" dirty="0" err="1">
                <a:solidFill>
                  <a:srgbClr val="FFFFFF"/>
                </a:solidFill>
              </a:rPr>
              <a:t>też</a:t>
            </a:r>
            <a:r>
              <a:rPr sz="1600" b="0" i="0" dirty="0">
                <a:solidFill>
                  <a:srgbClr val="FFFFFF"/>
                </a:solidFill>
              </a:rPr>
              <a:t> </a:t>
            </a:r>
            <a:r>
              <a:rPr sz="1600" b="0" i="0" dirty="0" err="1">
                <a:solidFill>
                  <a:srgbClr val="FFFFFF"/>
                </a:solidFill>
              </a:rPr>
              <a:t>nietknięty</a:t>
            </a:r>
            <a:r>
              <a:rPr sz="1600" b="0" i="0" dirty="0">
                <a:solidFill>
                  <a:srgbClr val="FFFFFF"/>
                </a:solidFill>
              </a:rPr>
              <a:t> — patch jest w </a:t>
            </a:r>
            <a:r>
              <a:rPr sz="1600" b="0" i="0" dirty="0" err="1">
                <a:solidFill>
                  <a:srgbClr val="FFFFFF"/>
                </a:solidFill>
              </a:rPr>
              <a:t>vtable</a:t>
            </a:r>
            <a:r>
              <a:rPr sz="1600" b="0" i="0" dirty="0">
                <a:solidFill>
                  <a:srgbClr val="FFFFFF"/>
                </a:solidFill>
              </a:rPr>
              <a:t>, w </a:t>
            </a:r>
            <a:r>
              <a:rPr sz="1600" b="0" i="0" dirty="0" err="1">
                <a:solidFill>
                  <a:srgbClr val="FFFFFF"/>
                </a:solidFill>
              </a:rPr>
              <a:t>pamięci</a:t>
            </a:r>
            <a:r>
              <a:rPr sz="1600" b="0" i="0" dirty="0">
                <a:solidFill>
                  <a:srgbClr val="FFFFFF"/>
                </a:solidFill>
              </a:rPr>
              <a:t> </a:t>
            </a:r>
            <a:r>
              <a:rPr sz="1600" b="0" i="0" dirty="0" err="1">
                <a:solidFill>
                  <a:srgbClr val="FFFFFF"/>
                </a:solidFill>
              </a:rPr>
              <a:t>procesu</a:t>
            </a:r>
            <a:r>
              <a:rPr sz="1600" b="0" i="0" dirty="0">
                <a:solidFill>
                  <a:srgbClr val="FFFFFF"/>
                </a:solidFill>
              </a:rPr>
              <a:t>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sz="1600" b="0" i="0" dirty="0" err="1">
                <a:solidFill>
                  <a:srgbClr val="FFFFFF"/>
                </a:solidFill>
              </a:rPr>
              <a:t>Statyczna</a:t>
            </a:r>
            <a:r>
              <a:rPr sz="1600" b="0" i="0" dirty="0">
                <a:solidFill>
                  <a:srgbClr val="FFFFFF"/>
                </a:solidFill>
              </a:rPr>
              <a:t> </a:t>
            </a:r>
            <a:r>
              <a:rPr sz="1600" b="0" i="0" dirty="0" err="1">
                <a:solidFill>
                  <a:srgbClr val="FFFFFF"/>
                </a:solidFill>
              </a:rPr>
              <a:t>sygnatura</a:t>
            </a:r>
            <a:r>
              <a:rPr sz="1600" b="0" i="0" dirty="0">
                <a:solidFill>
                  <a:srgbClr val="FFFFFF"/>
                </a:solidFill>
              </a:rPr>
              <a:t> </a:t>
            </a:r>
            <a:r>
              <a:rPr sz="1600" b="0" i="0" dirty="0" err="1">
                <a:solidFill>
                  <a:srgbClr val="FFFFFF"/>
                </a:solidFill>
              </a:rPr>
              <a:t>złapie</a:t>
            </a:r>
            <a:r>
              <a:rPr sz="1600" b="0" i="0" dirty="0">
                <a:solidFill>
                  <a:srgbClr val="FFFFFF"/>
                </a:solidFill>
              </a:rPr>
              <a:t> </a:t>
            </a:r>
            <a:r>
              <a:rPr sz="1600" b="0" i="0" dirty="0" err="1">
                <a:solidFill>
                  <a:srgbClr val="FFFFFF"/>
                </a:solidFill>
              </a:rPr>
              <a:t>literalny</a:t>
            </a:r>
            <a:r>
              <a:rPr sz="1600" b="0" i="0" dirty="0">
                <a:solidFill>
                  <a:srgbClr val="FFFFFF"/>
                </a:solidFill>
              </a:rPr>
              <a:t> </a:t>
            </a:r>
            <a:r>
              <a:rPr sz="1600" b="0" i="0" dirty="0" err="1">
                <a:solidFill>
                  <a:srgbClr val="FFFFFF"/>
                </a:solidFill>
              </a:rPr>
              <a:t>kod</a:t>
            </a:r>
            <a:r>
              <a:rPr sz="1600" b="0" i="0" dirty="0">
                <a:solidFill>
                  <a:srgbClr val="FFFFFF"/>
                </a:solidFill>
              </a:rPr>
              <a:t>. </a:t>
            </a:r>
            <a:r>
              <a:rPr sz="1600" b="0" i="0" dirty="0" err="1">
                <a:solidFill>
                  <a:srgbClr val="FFFFFF"/>
                </a:solidFill>
              </a:rPr>
              <a:t>Ewasywna</a:t>
            </a:r>
            <a:r>
              <a:rPr sz="1600" b="0" i="0" dirty="0">
                <a:solidFill>
                  <a:srgbClr val="FFFFFF"/>
                </a:solidFill>
              </a:rPr>
              <a:t> </a:t>
            </a:r>
            <a:r>
              <a:rPr sz="1600" b="0" i="0" dirty="0" err="1">
                <a:solidFill>
                  <a:srgbClr val="FFFFFF"/>
                </a:solidFill>
              </a:rPr>
              <a:t>wersja</a:t>
            </a:r>
            <a:r>
              <a:rPr sz="1600" b="0" i="0" dirty="0">
                <a:solidFill>
                  <a:srgbClr val="FFFFFF"/>
                </a:solidFill>
              </a:rPr>
              <a:t> (sample 27) — </a:t>
            </a:r>
            <a:r>
              <a:rPr sz="1600" b="0" i="0" dirty="0" err="1">
                <a:solidFill>
                  <a:srgbClr val="FFFFFF"/>
                </a:solidFill>
              </a:rPr>
              <a:t>nie</a:t>
            </a:r>
            <a:r>
              <a:rPr sz="1600" b="0" i="0" dirty="0">
                <a:solidFill>
                  <a:srgbClr val="FFFFFF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D85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III.3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Obfuscation — utrudnianie detekcji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931920" cy="411480"/>
          </a:xfrm>
          <a:prstGeom prst="rect">
            <a:avLst/>
          </a:prstGeom>
          <a:solidFill>
            <a:srgbClr val="2A3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58133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 dirty="0">
                <a:solidFill>
                  <a:schemeClr val="accent2"/>
                </a:solidFill>
              </a:rPr>
              <a:t>Base64 encoding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234440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powershell -enc &lt;blob&gt;  /  FromBase64String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3931920" cy="411480"/>
          </a:xfrm>
          <a:prstGeom prst="rect">
            <a:avLst/>
          </a:prstGeom>
          <a:solidFill>
            <a:srgbClr val="2A3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896288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 dirty="0">
                <a:solidFill>
                  <a:schemeClr val="accent2"/>
                </a:solidFill>
              </a:rPr>
              <a:t>String concatenation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737360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'Amsi'+'Init'+'Failed' — naiwna ale skuteczna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3931920" cy="411480"/>
          </a:xfrm>
          <a:prstGeom prst="rect">
            <a:avLst/>
          </a:prstGeom>
          <a:solidFill>
            <a:srgbClr val="2A3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240280"/>
            <a:ext cx="1682768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 dirty="0">
                <a:solidFill>
                  <a:schemeClr val="accent2"/>
                </a:solidFill>
              </a:rPr>
              <a:t>-f format operator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240280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"{2}{0}{1}" -f 'Init','Failed','Amsi' → 'AmsiInitFailed'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97480"/>
            <a:ext cx="3931920" cy="411480"/>
          </a:xfrm>
          <a:prstGeom prst="rect">
            <a:avLst/>
          </a:prstGeom>
          <a:solidFill>
            <a:srgbClr val="2A3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2743200"/>
            <a:ext cx="1833772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 dirty="0">
                <a:solidFill>
                  <a:schemeClr val="accent2"/>
                </a:solidFill>
              </a:rPr>
              <a:t>[char] casts / arrays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743200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[char[]]@(65,109,115,105) -join ''  →  'Amsi'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00400"/>
            <a:ext cx="3931920" cy="411480"/>
          </a:xfrm>
          <a:prstGeom prst="rect">
            <a:avLst/>
          </a:prstGeom>
          <a:solidFill>
            <a:srgbClr val="2A3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3246120"/>
            <a:ext cx="192014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 dirty="0">
                <a:solidFill>
                  <a:schemeClr val="accent2"/>
                </a:solidFill>
              </a:rPr>
              <a:t>Custom class method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246120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class C { static [string] X() { 'am' } } ;  [C]::X()+'siInit'+'Failed'  →  'amsiInitFailed'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703320"/>
            <a:ext cx="3931920" cy="411480"/>
          </a:xfrm>
          <a:prstGeom prst="rect">
            <a:avLst/>
          </a:prstGeom>
          <a:solidFill>
            <a:srgbClr val="2A3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3749039"/>
            <a:ext cx="155799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 dirty="0">
                <a:solidFill>
                  <a:schemeClr val="accent2"/>
                </a:solidFill>
              </a:rPr>
              <a:t>XOR + byte array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749039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@(0x62,0x6e,0x70,0x6a) | %{[char]($_ -bxor 0x03)}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06240"/>
            <a:ext cx="3931920" cy="411480"/>
          </a:xfrm>
          <a:prstGeom prst="rect">
            <a:avLst/>
          </a:prstGeom>
          <a:solidFill>
            <a:srgbClr val="2A3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4251960"/>
            <a:ext cx="191270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 dirty="0">
                <a:solidFill>
                  <a:schemeClr val="accent2"/>
                </a:solidFill>
              </a:rPr>
              <a:t>Backtick obfuscation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251960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Inv`oke-Ex`pression  — backticki ignorowane w identifierach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709160"/>
            <a:ext cx="3931920" cy="411480"/>
          </a:xfrm>
          <a:prstGeom prst="rect">
            <a:avLst/>
          </a:prstGeom>
          <a:solidFill>
            <a:srgbClr val="2A3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" y="4754880"/>
            <a:ext cx="177670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 dirty="0">
                <a:solidFill>
                  <a:schemeClr val="accent2"/>
                </a:solidFill>
              </a:rPr>
              <a:t>Reverse string slice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4754880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'tpircSekovnI'[-1..-12] -join ''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212080"/>
            <a:ext cx="3931920" cy="411480"/>
          </a:xfrm>
          <a:prstGeom prst="rect">
            <a:avLst/>
          </a:prstGeom>
          <a:solidFill>
            <a:srgbClr val="2A3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" y="5257800"/>
            <a:ext cx="15742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 dirty="0">
                <a:solidFill>
                  <a:schemeClr val="accent2"/>
                </a:solidFill>
              </a:rPr>
              <a:t>Env-var indexing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5257800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$env:ComSpec[14,15,16,17] -join ''  →  custom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715000"/>
            <a:ext cx="3931920" cy="411480"/>
          </a:xfrm>
          <a:prstGeom prst="rect">
            <a:avLst/>
          </a:prstGeom>
          <a:solidFill>
            <a:srgbClr val="2A3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5760720"/>
            <a:ext cx="185499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 dirty="0">
                <a:solidFill>
                  <a:schemeClr val="accent2"/>
                </a:solidFill>
              </a:rPr>
              <a:t>Embedded .NET DLL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5760720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[Reflection.Assembly]::Load(FromBase64String(...))  — fileless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6217920"/>
            <a:ext cx="3931920" cy="411480"/>
          </a:xfrm>
          <a:prstGeom prst="rect">
            <a:avLst/>
          </a:prstGeom>
          <a:solidFill>
            <a:srgbClr val="2A3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0080" y="6263640"/>
            <a:ext cx="192681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 dirty="0">
                <a:solidFill>
                  <a:schemeClr val="accent2"/>
                </a:solidFill>
              </a:rPr>
              <a:t>Runtime-built names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263640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char-code compare zamiast literałów — niedeobfuskowalne statycznie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D85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IV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Two-layer defense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703872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0" i="1" dirty="0" err="1">
                <a:solidFill>
                  <a:schemeClr val="accent2"/>
                </a:solidFill>
                <a:latin typeface="Abadi" panose="020B0604020104020204" pitchFamily="34" charset="0"/>
              </a:rPr>
              <a:t>Statystyka</a:t>
            </a:r>
            <a:r>
              <a:rPr b="0" i="1" dirty="0">
                <a:solidFill>
                  <a:schemeClr val="accent2"/>
                </a:solidFill>
                <a:latin typeface="Abadi" panose="020B0604020104020204" pitchFamily="34" charset="0"/>
              </a:rPr>
              <a:t> </a:t>
            </a:r>
            <a:r>
              <a:rPr b="0" i="1" dirty="0" err="1">
                <a:solidFill>
                  <a:schemeClr val="accent2"/>
                </a:solidFill>
                <a:latin typeface="Abadi" panose="020B0604020104020204" pitchFamily="34" charset="0"/>
              </a:rPr>
              <a:t>spotyka</a:t>
            </a:r>
            <a:r>
              <a:rPr b="0" i="1" dirty="0">
                <a:solidFill>
                  <a:schemeClr val="accent2"/>
                </a:solidFill>
                <a:latin typeface="Abadi" panose="020B0604020104020204" pitchFamily="34" charset="0"/>
              </a:rPr>
              <a:t> </a:t>
            </a:r>
            <a:r>
              <a:rPr b="0" i="1" dirty="0" err="1">
                <a:solidFill>
                  <a:schemeClr val="accent2"/>
                </a:solidFill>
                <a:latin typeface="Abadi" panose="020B0604020104020204" pitchFamily="34" charset="0"/>
              </a:rPr>
              <a:t>behaviour</a:t>
            </a:r>
            <a:r>
              <a:rPr b="0" i="1" dirty="0">
                <a:solidFill>
                  <a:schemeClr val="accent2"/>
                </a:solidFill>
                <a:latin typeface="Abadi" panose="020B0604020104020204" pitchFamily="34" charset="0"/>
              </a:rPr>
              <a:t>. </a:t>
            </a:r>
            <a:r>
              <a:rPr b="0" i="1" dirty="0" err="1">
                <a:solidFill>
                  <a:schemeClr val="accent2"/>
                </a:solidFill>
                <a:latin typeface="Abadi" panose="020B0604020104020204" pitchFamily="34" charset="0"/>
              </a:rPr>
              <a:t>Każda</a:t>
            </a:r>
            <a:r>
              <a:rPr b="0" i="1" dirty="0">
                <a:solidFill>
                  <a:schemeClr val="accent2"/>
                </a:solidFill>
                <a:latin typeface="Abadi" panose="020B0604020104020204" pitchFamily="34" charset="0"/>
              </a:rPr>
              <a:t> </a:t>
            </a:r>
            <a:r>
              <a:rPr b="0" i="1" dirty="0" err="1">
                <a:solidFill>
                  <a:schemeClr val="accent2"/>
                </a:solidFill>
                <a:latin typeface="Abadi" panose="020B0604020104020204" pitchFamily="34" charset="0"/>
              </a:rPr>
              <a:t>warstwa</a:t>
            </a:r>
            <a:r>
              <a:rPr b="0" i="1" dirty="0">
                <a:solidFill>
                  <a:schemeClr val="accent2"/>
                </a:solidFill>
                <a:latin typeface="Abadi" panose="020B0604020104020204" pitchFamily="34" charset="0"/>
              </a:rPr>
              <a:t> </a:t>
            </a:r>
            <a:r>
              <a:rPr b="0" i="1" dirty="0" err="1">
                <a:solidFill>
                  <a:schemeClr val="accent2"/>
                </a:solidFill>
                <a:latin typeface="Abadi" panose="020B0604020104020204" pitchFamily="34" charset="0"/>
              </a:rPr>
              <a:t>łapie</a:t>
            </a:r>
            <a:r>
              <a:rPr b="0" i="1" dirty="0">
                <a:solidFill>
                  <a:schemeClr val="accent2"/>
                </a:solidFill>
                <a:latin typeface="Abadi" panose="020B0604020104020204" pitchFamily="34" charset="0"/>
              </a:rPr>
              <a:t> co </a:t>
            </a:r>
            <a:r>
              <a:rPr b="0" i="1" dirty="0" err="1">
                <a:solidFill>
                  <a:schemeClr val="accent2"/>
                </a:solidFill>
                <a:latin typeface="Abadi" panose="020B0604020104020204" pitchFamily="34" charset="0"/>
              </a:rPr>
              <a:t>druga</a:t>
            </a:r>
            <a:r>
              <a:rPr b="0" i="1" dirty="0">
                <a:solidFill>
                  <a:schemeClr val="accent2"/>
                </a:solidFill>
                <a:latin typeface="Abadi" panose="020B0604020104020204" pitchFamily="34" charset="0"/>
              </a:rPr>
              <a:t> </a:t>
            </a:r>
            <a:r>
              <a:rPr b="0" i="1" dirty="0" err="1">
                <a:solidFill>
                  <a:schemeClr val="accent2"/>
                </a:solidFill>
                <a:latin typeface="Abadi" panose="020B0604020104020204" pitchFamily="34" charset="0"/>
              </a:rPr>
              <a:t>przepuści</a:t>
            </a:r>
            <a:r>
              <a:rPr b="0" i="1" dirty="0">
                <a:solidFill>
                  <a:schemeClr val="accent2"/>
                </a:solidFill>
                <a:latin typeface="Abadi" panose="020B0604020104020204" pitchFamily="34" charset="0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5577840" cy="4754880"/>
          </a:xfrm>
          <a:prstGeom prst="rect">
            <a:avLst/>
          </a:prstGeom>
          <a:solidFill>
            <a:srgbClr val="2A3B4D"/>
          </a:solidFill>
          <a:ln w="25400">
            <a:solidFill>
              <a:srgbClr val="94B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212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94B6D2"/>
                </a:solidFill>
              </a:rPr>
              <a:t>Layer 1  —  Inline AMSI provider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53949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FFFFFF"/>
                </a:solidFill>
              </a:rPr>
              <a:t>PowerShell → AMSI → ramsi-com.dll (Rust COM) → </a:t>
            </a:r>
            <a:r>
              <a:rPr sz="1400" b="0" i="0" dirty="0" err="1">
                <a:solidFill>
                  <a:srgbClr val="FFFFFF"/>
                </a:solidFill>
              </a:rPr>
              <a:t>ps</a:t>
            </a:r>
            <a:r>
              <a:rPr sz="1400" b="0" i="0" dirty="0">
                <a:solidFill>
                  <a:srgbClr val="FFFFFF"/>
                </a:solidFill>
              </a:rPr>
              <a:t>-parser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4158703" cy="25339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50000"/>
              </a:lnSpc>
            </a:pPr>
            <a:r>
              <a:rPr b="1" dirty="0">
                <a:solidFill>
                  <a:srgbClr val="D85218"/>
                </a:solidFill>
              </a:rPr>
              <a:t>▸ </a:t>
            </a:r>
            <a:r>
              <a:rPr dirty="0" err="1">
                <a:solidFill>
                  <a:srgbClr val="FFFFFF"/>
                </a:solidFill>
              </a:rPr>
              <a:t>Statyczna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deobfuskacja</a:t>
            </a:r>
            <a:endParaRPr dirty="0">
              <a:solidFill>
                <a:srgbClr val="FFFFFF"/>
              </a:solidFill>
            </a:endParaRPr>
          </a:p>
          <a:p>
            <a:pPr algn="l">
              <a:lnSpc>
                <a:spcPct val="150000"/>
              </a:lnSpc>
            </a:pPr>
            <a:r>
              <a:rPr b="1" dirty="0">
                <a:solidFill>
                  <a:srgbClr val="D85218"/>
                </a:solidFill>
              </a:rPr>
              <a:t>▸ </a:t>
            </a:r>
            <a:r>
              <a:rPr dirty="0">
                <a:solidFill>
                  <a:srgbClr val="FFFFFF"/>
                </a:solidFill>
              </a:rPr>
              <a:t>Format operator, char arrays</a:t>
            </a:r>
          </a:p>
          <a:p>
            <a:pPr algn="l">
              <a:lnSpc>
                <a:spcPct val="150000"/>
              </a:lnSpc>
            </a:pPr>
            <a:r>
              <a:rPr b="1" dirty="0">
                <a:solidFill>
                  <a:srgbClr val="D85218"/>
                </a:solidFill>
              </a:rPr>
              <a:t>▸ </a:t>
            </a:r>
            <a:r>
              <a:rPr dirty="0" err="1">
                <a:solidFill>
                  <a:srgbClr val="FFFFFF"/>
                </a:solidFill>
              </a:rPr>
              <a:t>Rekursywny</a:t>
            </a:r>
            <a:r>
              <a:rPr dirty="0">
                <a:solidFill>
                  <a:srgbClr val="FFFFFF"/>
                </a:solidFill>
              </a:rPr>
              <a:t> base64 (8 layers)</a:t>
            </a:r>
          </a:p>
          <a:p>
            <a:pPr algn="l">
              <a:lnSpc>
                <a:spcPct val="150000"/>
              </a:lnSpc>
            </a:pPr>
            <a:r>
              <a:rPr b="1" dirty="0">
                <a:solidFill>
                  <a:srgbClr val="D85218"/>
                </a:solidFill>
              </a:rPr>
              <a:t>▸ </a:t>
            </a:r>
            <a:r>
              <a:rPr dirty="0">
                <a:solidFill>
                  <a:srgbClr val="FFFFFF"/>
                </a:solidFill>
              </a:rPr>
              <a:t>30+ </a:t>
            </a:r>
            <a:r>
              <a:rPr dirty="0" err="1">
                <a:solidFill>
                  <a:srgbClr val="FFFFFF"/>
                </a:solidFill>
              </a:rPr>
              <a:t>predykatów</a:t>
            </a:r>
            <a:r>
              <a:rPr dirty="0">
                <a:solidFill>
                  <a:srgbClr val="FFFFFF"/>
                </a:solidFill>
              </a:rPr>
              <a:t> AMSI bypass</a:t>
            </a:r>
          </a:p>
          <a:p>
            <a:pPr algn="l">
              <a:lnSpc>
                <a:spcPct val="150000"/>
              </a:lnSpc>
            </a:pPr>
            <a:r>
              <a:rPr b="1" dirty="0">
                <a:solidFill>
                  <a:srgbClr val="D85218"/>
                </a:solidFill>
              </a:rPr>
              <a:t>▸ </a:t>
            </a:r>
            <a:r>
              <a:rPr dirty="0" err="1">
                <a:solidFill>
                  <a:srgbClr val="FFFFFF"/>
                </a:solidFill>
              </a:rPr>
              <a:t>Blokuje</a:t>
            </a:r>
            <a:r>
              <a:rPr dirty="0">
                <a:solidFill>
                  <a:srgbClr val="FFFFFF"/>
                </a:solidFill>
              </a:rPr>
              <a:t> BEFORE execution</a:t>
            </a:r>
          </a:p>
          <a:p>
            <a:pPr algn="l">
              <a:lnSpc>
                <a:spcPct val="150000"/>
              </a:lnSpc>
            </a:pPr>
            <a:r>
              <a:rPr b="1" dirty="0">
                <a:solidFill>
                  <a:srgbClr val="D85218"/>
                </a:solidFill>
              </a:rPr>
              <a:t>▸ </a:t>
            </a:r>
            <a:r>
              <a:rPr dirty="0" err="1">
                <a:solidFill>
                  <a:srgbClr val="FFFFFF"/>
                </a:solidFill>
              </a:rPr>
              <a:t>Werdykt</a:t>
            </a:r>
            <a:r>
              <a:rPr dirty="0">
                <a:solidFill>
                  <a:srgbClr val="FFFFFF"/>
                </a:solidFill>
              </a:rPr>
              <a:t>: Clean / Suspicious / BYPASS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760720"/>
            <a:ext cx="2560320" cy="502920"/>
          </a:xfrm>
          <a:prstGeom prst="rect">
            <a:avLst/>
          </a:prstGeom>
          <a:solidFill>
            <a:srgbClr val="7BA7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5806440"/>
            <a:ext cx="914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96%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585216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detection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577840" cy="4754880"/>
          </a:xfrm>
          <a:prstGeom prst="rect">
            <a:avLst/>
          </a:prstGeom>
          <a:solidFill>
            <a:srgbClr val="2A3B4D"/>
          </a:solidFill>
          <a:ln w="25400">
            <a:solidFill>
              <a:srgbClr val="C05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1737360"/>
            <a:ext cx="5212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C05040"/>
                </a:solidFill>
              </a:rPr>
              <a:t>Layer 2  —  Kernel behavioral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94560"/>
            <a:ext cx="547938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 dirty="0">
                <a:solidFill>
                  <a:srgbClr val="FFFFFF"/>
                </a:solidFill>
              </a:rPr>
              <a:t>Kernel driver (</a:t>
            </a:r>
            <a:r>
              <a:rPr sz="1400" b="0" i="0" dirty="0" err="1">
                <a:solidFill>
                  <a:srgbClr val="FFFFFF"/>
                </a:solidFill>
              </a:rPr>
              <a:t>sysmon-rs</a:t>
            </a:r>
            <a:r>
              <a:rPr sz="1400" b="0" i="0" dirty="0">
                <a:solidFill>
                  <a:srgbClr val="FFFFFF"/>
                </a:solidFill>
              </a:rPr>
              <a:t>, </a:t>
            </a:r>
            <a:r>
              <a:rPr sz="1400" b="0" i="0" dirty="0" err="1">
                <a:solidFill>
                  <a:srgbClr val="FFFFFF"/>
                </a:solidFill>
              </a:rPr>
              <a:t>no_std</a:t>
            </a:r>
            <a:r>
              <a:rPr sz="1400" b="0" i="0" dirty="0">
                <a:solidFill>
                  <a:srgbClr val="FFFFFF"/>
                </a:solidFill>
              </a:rPr>
              <a:t>)</a:t>
            </a:r>
            <a:r>
              <a:rPr lang="en-US" sz="1400" b="0" i="0" dirty="0">
                <a:solidFill>
                  <a:srgbClr val="FFFFFF"/>
                </a:solidFill>
              </a:rPr>
              <a:t> </a:t>
            </a:r>
            <a:r>
              <a:rPr sz="1400" b="0" i="0" dirty="0">
                <a:solidFill>
                  <a:srgbClr val="FFFFFF"/>
                </a:solidFill>
              </a:rPr>
              <a:t>→ </a:t>
            </a:r>
            <a:r>
              <a:rPr sz="1400" b="0" i="0" dirty="0" err="1">
                <a:solidFill>
                  <a:srgbClr val="FFFFFF"/>
                </a:solidFill>
              </a:rPr>
              <a:t>userspace</a:t>
            </a:r>
            <a:r>
              <a:rPr sz="1400" b="0" i="0" dirty="0">
                <a:solidFill>
                  <a:srgbClr val="FFFFFF"/>
                </a:solidFill>
              </a:rPr>
              <a:t> daemon (</a:t>
            </a:r>
            <a:r>
              <a:rPr sz="1400" b="0" i="0" dirty="0" err="1">
                <a:solidFill>
                  <a:srgbClr val="FFFFFF"/>
                </a:solidFill>
              </a:rPr>
              <a:t>sysmon</a:t>
            </a:r>
            <a:r>
              <a:rPr sz="1400" b="0" i="0" dirty="0">
                <a:solidFill>
                  <a:srgbClr val="FFFFFF"/>
                </a:solidFill>
              </a:rPr>
              <a:t>-um)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39258"/>
            <a:ext cx="3684214" cy="25339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50000"/>
              </a:lnSpc>
            </a:pPr>
            <a:r>
              <a:rPr b="1" dirty="0">
                <a:solidFill>
                  <a:srgbClr val="D85218"/>
                </a:solidFill>
              </a:rPr>
              <a:t>▸ </a:t>
            </a:r>
            <a:r>
              <a:rPr dirty="0" err="1">
                <a:solidFill>
                  <a:srgbClr val="FFFFFF"/>
                </a:solidFill>
              </a:rPr>
              <a:t>PsSetCreateProcessNotifyEx</a:t>
            </a:r>
            <a:endParaRPr dirty="0">
              <a:solidFill>
                <a:srgbClr val="FFFFFF"/>
              </a:solidFill>
            </a:endParaRPr>
          </a:p>
          <a:p>
            <a:pPr algn="l">
              <a:lnSpc>
                <a:spcPct val="150000"/>
              </a:lnSpc>
            </a:pPr>
            <a:r>
              <a:rPr b="1" dirty="0">
                <a:solidFill>
                  <a:srgbClr val="D85218"/>
                </a:solidFill>
              </a:rPr>
              <a:t>▸ </a:t>
            </a:r>
            <a:r>
              <a:rPr dirty="0" err="1">
                <a:solidFill>
                  <a:srgbClr val="FFFFFF"/>
                </a:solidFill>
              </a:rPr>
              <a:t>PsSetLoadImageNotify</a:t>
            </a:r>
            <a:endParaRPr dirty="0">
              <a:solidFill>
                <a:srgbClr val="FFFFFF"/>
              </a:solidFill>
            </a:endParaRPr>
          </a:p>
          <a:p>
            <a:pPr algn="l">
              <a:lnSpc>
                <a:spcPct val="150000"/>
              </a:lnSpc>
            </a:pPr>
            <a:r>
              <a:rPr b="1" dirty="0">
                <a:solidFill>
                  <a:srgbClr val="D85218"/>
                </a:solidFill>
              </a:rPr>
              <a:t>▸ </a:t>
            </a:r>
            <a:r>
              <a:rPr dirty="0" err="1">
                <a:solidFill>
                  <a:srgbClr val="FFFFFF"/>
                </a:solidFill>
              </a:rPr>
              <a:t>CmRegisterCallback</a:t>
            </a:r>
            <a:r>
              <a:rPr dirty="0">
                <a:solidFill>
                  <a:srgbClr val="FFFFFF"/>
                </a:solidFill>
              </a:rPr>
              <a:t> (registry)</a:t>
            </a:r>
          </a:p>
          <a:p>
            <a:pPr algn="l">
              <a:lnSpc>
                <a:spcPct val="150000"/>
              </a:lnSpc>
            </a:pPr>
            <a:r>
              <a:rPr b="1" dirty="0">
                <a:solidFill>
                  <a:srgbClr val="D85218"/>
                </a:solidFill>
              </a:rPr>
              <a:t>▸ </a:t>
            </a:r>
            <a:r>
              <a:rPr dirty="0">
                <a:solidFill>
                  <a:srgbClr val="FFFFFF"/>
                </a:solidFill>
              </a:rPr>
              <a:t>Filter \AMSI\ in registry path</a:t>
            </a:r>
          </a:p>
          <a:p>
            <a:pPr algn="l">
              <a:lnSpc>
                <a:spcPct val="150000"/>
              </a:lnSpc>
            </a:pPr>
            <a:r>
              <a:rPr b="1" dirty="0">
                <a:solidFill>
                  <a:srgbClr val="D85218"/>
                </a:solidFill>
              </a:rPr>
              <a:t>▸ </a:t>
            </a:r>
            <a:r>
              <a:rPr dirty="0">
                <a:solidFill>
                  <a:srgbClr val="FFFFFF"/>
                </a:solidFill>
              </a:rPr>
              <a:t>Suspend → evaluate → terminate</a:t>
            </a:r>
          </a:p>
          <a:p>
            <a:pPr algn="l">
              <a:lnSpc>
                <a:spcPct val="150000"/>
              </a:lnSpc>
            </a:pPr>
            <a:r>
              <a:rPr b="1" dirty="0">
                <a:solidFill>
                  <a:srgbClr val="D85218"/>
                </a:solidFill>
              </a:rPr>
              <a:t>▸ </a:t>
            </a:r>
            <a:r>
              <a:rPr dirty="0" err="1">
                <a:solidFill>
                  <a:srgbClr val="FFFFFF"/>
                </a:solidFill>
              </a:rPr>
              <a:t>Werdykt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na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podstawie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behaviour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400800" y="5760720"/>
            <a:ext cx="3200400" cy="502920"/>
          </a:xfrm>
          <a:prstGeom prst="rect">
            <a:avLst/>
          </a:prstGeom>
          <a:solidFill>
            <a:srgbClr val="7BA7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580644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✓ Catches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8521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what static cannot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D85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IV.1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Layer 1  —  Static deobfuscation (pure Rust)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914400"/>
            <a:ext cx="225632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 dirty="0">
                <a:solidFill>
                  <a:schemeClr val="accent2"/>
                </a:solidFill>
              </a:rPr>
              <a:t>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978408" y="1617167"/>
            <a:ext cx="3629648" cy="630258"/>
          </a:xfrm>
          <a:prstGeom prst="rect">
            <a:avLst/>
          </a:prstGeom>
          <a:solidFill>
            <a:srgbClr val="2A3B4D"/>
          </a:solidFill>
          <a:ln w="254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PowerShell process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1070773" y="2491400"/>
            <a:ext cx="3757259" cy="585895"/>
          </a:xfrm>
          <a:prstGeom prst="rect">
            <a:avLst/>
          </a:prstGeom>
          <a:solidFill>
            <a:srgbClr val="2A3B4D"/>
          </a:solidFill>
          <a:ln w="254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amsi.dll  ::  </a:t>
            </a:r>
            <a:r>
              <a:rPr lang="en-US" b="1" dirty="0" err="1">
                <a:solidFill>
                  <a:srgbClr val="00B050"/>
                </a:solidFill>
              </a:rPr>
              <a:t>AmsiScanBuffer</a:t>
            </a:r>
            <a:endParaRPr lang="en-US" b="1" dirty="0">
              <a:solidFill>
                <a:srgbClr val="00B050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5840" y="2304288"/>
            <a:ext cx="184731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endParaRPr sz="1300" b="1" i="0" dirty="0">
              <a:solidFill>
                <a:srgbClr val="D85218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190571" y="3214455"/>
            <a:ext cx="3785616" cy="642955"/>
          </a:xfrm>
          <a:prstGeom prst="rect">
            <a:avLst/>
          </a:prstGeom>
          <a:solidFill>
            <a:srgbClr val="2A3B4D"/>
          </a:solidFill>
          <a:ln w="25400">
            <a:solidFill>
              <a:srgbClr val="7BA7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7BA79D"/>
                </a:solidFill>
              </a:rPr>
              <a:t>ramsi.dll  (Rust COM provider)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80160" y="4050113"/>
            <a:ext cx="3785616" cy="658368"/>
          </a:xfrm>
          <a:prstGeom prst="rect">
            <a:avLst/>
          </a:prstGeom>
          <a:solidFill>
            <a:srgbClr val="2A3B4D"/>
          </a:solidFill>
          <a:ln w="2540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chemeClr val="bg2">
                    <a:lumMod val="60000"/>
                    <a:lumOff val="40000"/>
                  </a:schemeClr>
                </a:solidFill>
              </a:rPr>
              <a:t>ps</a:t>
            </a:r>
            <a:r>
              <a:rPr lang="en-US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-parser engine  (in-process)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9888" y="4901184"/>
            <a:ext cx="3849624" cy="658368"/>
          </a:xfrm>
          <a:prstGeom prst="rect">
            <a:avLst/>
          </a:prstGeom>
          <a:solidFill>
            <a:srgbClr val="2A3B4D"/>
          </a:solidFill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AMSI verdict  →  block / allow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0256" y="914400"/>
            <a:ext cx="2903936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 i="0" dirty="0" err="1">
                <a:solidFill>
                  <a:schemeClr val="accent2"/>
                </a:solidFill>
              </a:rPr>
              <a:t>ps</a:t>
            </a:r>
            <a:r>
              <a:rPr sz="2400" b="1" i="0" dirty="0">
                <a:solidFill>
                  <a:schemeClr val="accent2"/>
                </a:solidFill>
              </a:rPr>
              <a:t>-parser internals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554480"/>
            <a:ext cx="3629648" cy="29608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dirty="0">
                <a:solidFill>
                  <a:srgbClr val="D85218"/>
                </a:solidFill>
              </a:rPr>
              <a:t>▸ </a:t>
            </a:r>
            <a:r>
              <a:rPr sz="1400" dirty="0">
                <a:solidFill>
                  <a:srgbClr val="FFFFFF"/>
                </a:solidFill>
              </a:rPr>
              <a:t>pest grammar — recovers AST + evaluates</a:t>
            </a:r>
          </a:p>
          <a:p>
            <a:pPr algn="l">
              <a:lnSpc>
                <a:spcPct val="150000"/>
              </a:lnSpc>
            </a:pPr>
            <a:r>
              <a:rPr sz="1400" b="1" dirty="0">
                <a:solidFill>
                  <a:srgbClr val="D85218"/>
                </a:solidFill>
              </a:rPr>
              <a:t>▸ </a:t>
            </a:r>
            <a:r>
              <a:rPr sz="1400" dirty="0">
                <a:solidFill>
                  <a:srgbClr val="FFFFFF"/>
                </a:solidFill>
              </a:rPr>
              <a:t>String methods: Replace, </a:t>
            </a:r>
            <a:r>
              <a:rPr sz="1400" dirty="0" err="1">
                <a:solidFill>
                  <a:srgbClr val="FFFFFF"/>
                </a:solidFill>
              </a:rPr>
              <a:t>ToUpper</a:t>
            </a:r>
            <a:r>
              <a:rPr sz="1400" dirty="0">
                <a:solidFill>
                  <a:srgbClr val="FFFFFF"/>
                </a:solidFill>
              </a:rPr>
              <a:t>, …</a:t>
            </a:r>
          </a:p>
          <a:p>
            <a:pPr algn="l">
              <a:lnSpc>
                <a:spcPct val="150000"/>
              </a:lnSpc>
            </a:pPr>
            <a:r>
              <a:rPr sz="1400" b="1" dirty="0">
                <a:solidFill>
                  <a:srgbClr val="D85218"/>
                </a:solidFill>
              </a:rPr>
              <a:t>▸ </a:t>
            </a:r>
            <a:r>
              <a:rPr sz="1400" dirty="0">
                <a:solidFill>
                  <a:srgbClr val="FFFFFF"/>
                </a:solidFill>
              </a:rPr>
              <a:t>Format operator -f, [char] casts</a:t>
            </a:r>
          </a:p>
          <a:p>
            <a:pPr algn="l">
              <a:lnSpc>
                <a:spcPct val="150000"/>
              </a:lnSpc>
            </a:pPr>
            <a:r>
              <a:rPr sz="1400" b="1" dirty="0">
                <a:solidFill>
                  <a:srgbClr val="D85218"/>
                </a:solidFill>
              </a:rPr>
              <a:t>▸ </a:t>
            </a:r>
            <a:r>
              <a:rPr sz="1400" dirty="0">
                <a:solidFill>
                  <a:srgbClr val="FFFFFF"/>
                </a:solidFill>
              </a:rPr>
              <a:t>Recursive base64 (up to 8 layers)</a:t>
            </a:r>
          </a:p>
          <a:p>
            <a:pPr algn="l">
              <a:lnSpc>
                <a:spcPct val="150000"/>
              </a:lnSpc>
            </a:pPr>
            <a:r>
              <a:rPr sz="1400" b="1" dirty="0">
                <a:solidFill>
                  <a:srgbClr val="D85218"/>
                </a:solidFill>
              </a:rPr>
              <a:t>▸ </a:t>
            </a:r>
            <a:r>
              <a:rPr sz="1400" dirty="0">
                <a:solidFill>
                  <a:srgbClr val="FFFFFF"/>
                </a:solidFill>
              </a:rPr>
              <a:t>UTF-16LE projection for .NET DLLs</a:t>
            </a:r>
          </a:p>
          <a:p>
            <a:pPr algn="l">
              <a:lnSpc>
                <a:spcPct val="150000"/>
              </a:lnSpc>
            </a:pPr>
            <a:r>
              <a:rPr sz="1400" b="1" dirty="0">
                <a:solidFill>
                  <a:srgbClr val="D85218"/>
                </a:solidFill>
              </a:rPr>
              <a:t>▸ </a:t>
            </a:r>
            <a:r>
              <a:rPr sz="1400" dirty="0">
                <a:solidFill>
                  <a:srgbClr val="FFFFFF"/>
                </a:solidFill>
              </a:rPr>
              <a:t>30+ </a:t>
            </a:r>
            <a:r>
              <a:rPr sz="1400" dirty="0" err="1">
                <a:solidFill>
                  <a:srgbClr val="FFFFFF"/>
                </a:solidFill>
              </a:rPr>
              <a:t>predykatów</a:t>
            </a:r>
            <a:r>
              <a:rPr sz="1400" dirty="0">
                <a:solidFill>
                  <a:srgbClr val="FFFFFF"/>
                </a:solidFill>
              </a:rPr>
              <a:t>: amsi.dll, </a:t>
            </a:r>
            <a:r>
              <a:rPr sz="1400" dirty="0" err="1">
                <a:solidFill>
                  <a:srgbClr val="FFFFFF"/>
                </a:solidFill>
              </a:rPr>
              <a:t>AmsiScanBuffer</a:t>
            </a:r>
            <a:r>
              <a:rPr sz="1400" dirty="0">
                <a:solidFill>
                  <a:srgbClr val="FFFFFF"/>
                </a:solidFill>
              </a:rPr>
              <a:t>,</a:t>
            </a:r>
          </a:p>
          <a:p>
            <a:pPr algn="l">
              <a:lnSpc>
                <a:spcPct val="150000"/>
              </a:lnSpc>
            </a:pPr>
            <a:r>
              <a:rPr sz="1400" b="1" dirty="0">
                <a:solidFill>
                  <a:srgbClr val="D85218"/>
                </a:solidFill>
              </a:rPr>
              <a:t>▸ </a:t>
            </a:r>
            <a:r>
              <a:rPr sz="1400" dirty="0">
                <a:solidFill>
                  <a:srgbClr val="FFFFFF"/>
                </a:solidFill>
              </a:rPr>
              <a:t>  </a:t>
            </a:r>
            <a:r>
              <a:rPr sz="1400" dirty="0" err="1">
                <a:solidFill>
                  <a:srgbClr val="FFFFFF"/>
                </a:solidFill>
              </a:rPr>
              <a:t>amsiInitFailed</a:t>
            </a:r>
            <a:r>
              <a:rPr sz="1400" dirty="0">
                <a:solidFill>
                  <a:srgbClr val="FFFFFF"/>
                </a:solidFill>
              </a:rPr>
              <a:t>, </a:t>
            </a:r>
            <a:r>
              <a:rPr sz="1400" dirty="0" err="1">
                <a:solidFill>
                  <a:srgbClr val="FFFFFF"/>
                </a:solidFill>
              </a:rPr>
              <a:t>AmsiUtils</a:t>
            </a:r>
            <a:r>
              <a:rPr sz="1400" dirty="0">
                <a:solidFill>
                  <a:srgbClr val="FFFFFF"/>
                </a:solidFill>
              </a:rPr>
              <a:t>, ETW, WLDP, …</a:t>
            </a:r>
          </a:p>
          <a:p>
            <a:pPr algn="l">
              <a:lnSpc>
                <a:spcPct val="150000"/>
              </a:lnSpc>
            </a:pPr>
            <a:r>
              <a:rPr sz="1400" b="1" dirty="0">
                <a:solidFill>
                  <a:srgbClr val="D85218"/>
                </a:solidFill>
              </a:rPr>
              <a:t>▸ </a:t>
            </a:r>
            <a:r>
              <a:rPr sz="1400" dirty="0">
                <a:solidFill>
                  <a:srgbClr val="FFFFFF"/>
                </a:solidFill>
              </a:rPr>
              <a:t>Combo bonuses + scoring algorithm</a:t>
            </a:r>
          </a:p>
          <a:p>
            <a:pPr algn="l">
              <a:lnSpc>
                <a:spcPct val="150000"/>
              </a:lnSpc>
            </a:pPr>
            <a:r>
              <a:rPr sz="1400" b="1" dirty="0">
                <a:solidFill>
                  <a:srgbClr val="D85218"/>
                </a:solidFill>
              </a:rPr>
              <a:t>▸ </a:t>
            </a:r>
            <a:r>
              <a:rPr sz="1400" dirty="0">
                <a:solidFill>
                  <a:srgbClr val="FFFFFF"/>
                </a:solidFill>
              </a:rPr>
              <a:t>Output: JSON  →  </a:t>
            </a:r>
            <a:r>
              <a:rPr sz="1400" dirty="0" err="1">
                <a:solidFill>
                  <a:srgbClr val="FFFFFF"/>
                </a:solidFill>
              </a:rPr>
              <a:t>ramsi</a:t>
            </a:r>
            <a:r>
              <a:rPr sz="1400" dirty="0">
                <a:solidFill>
                  <a:srgbClr val="FFFFFF"/>
                </a:solidFill>
              </a:rPr>
              <a:t>-com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8521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94B6D2"/>
                </a:solidFill>
              </a:rPr>
              <a:t>4.7 MB statyczna binarka  •  zero .NET dependencies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37929B4-9397-D9C5-D3D3-B5DF1DB77B59}"/>
              </a:ext>
            </a:extLst>
          </p:cNvPr>
          <p:cNvSpPr txBox="1"/>
          <p:nvPr/>
        </p:nvSpPr>
        <p:spPr>
          <a:xfrm>
            <a:off x="731520" y="4723197"/>
            <a:ext cx="79552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6000" b="1" i="0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20565B9-5723-5F2D-4130-B5C3A58CEAC5}"/>
              </a:ext>
            </a:extLst>
          </p:cNvPr>
          <p:cNvSpPr txBox="1"/>
          <p:nvPr/>
        </p:nvSpPr>
        <p:spPr>
          <a:xfrm>
            <a:off x="644652" y="3857410"/>
            <a:ext cx="74523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6000" b="1" i="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3FC403C-2EB3-C55B-CF73-DB010622E890}"/>
              </a:ext>
            </a:extLst>
          </p:cNvPr>
          <p:cNvSpPr txBox="1"/>
          <p:nvPr/>
        </p:nvSpPr>
        <p:spPr>
          <a:xfrm>
            <a:off x="519848" y="3012860"/>
            <a:ext cx="79552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6000" b="1" i="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256E5E-60EC-3D85-AAD2-22C5E50665AE}"/>
              </a:ext>
            </a:extLst>
          </p:cNvPr>
          <p:cNvSpPr txBox="1"/>
          <p:nvPr/>
        </p:nvSpPr>
        <p:spPr>
          <a:xfrm>
            <a:off x="397547" y="2231214"/>
            <a:ext cx="79552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6000" b="1" i="0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4352AD-9C52-00DB-16B7-CF913380144B}"/>
              </a:ext>
            </a:extLst>
          </p:cNvPr>
          <p:cNvSpPr txBox="1"/>
          <p:nvPr/>
        </p:nvSpPr>
        <p:spPr>
          <a:xfrm>
            <a:off x="339146" y="1353749"/>
            <a:ext cx="79552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6000" b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1</a:t>
            </a:r>
            <a:endParaRPr lang="en-US" sz="6000" b="1" i="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D85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IV.1b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56232" y="126336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 dirty="0" err="1">
                <a:solidFill>
                  <a:srgbClr val="FFFFFF"/>
                </a:solidFill>
              </a:rPr>
              <a:t>ps</a:t>
            </a:r>
            <a:r>
              <a:rPr sz="2600" b="1" i="0" dirty="0">
                <a:solidFill>
                  <a:srgbClr val="FFFFFF"/>
                </a:solidFill>
              </a:rPr>
              <a:t>-parser  —  safe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42019" y="1017876"/>
            <a:ext cx="9220281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0" i="1" dirty="0">
                <a:solidFill>
                  <a:schemeClr val="accent2"/>
                </a:solidFill>
              </a:rPr>
              <a:t>Pure data transforms execute.  Side-effectful calls return typed errors — never silently skipped.</a:t>
            </a:r>
          </a:p>
          <a:p>
            <a:pPr algn="l"/>
            <a:r>
              <a:rPr b="0" i="1" dirty="0">
                <a:solidFill>
                  <a:schemeClr val="accent2"/>
                </a:solidFill>
              </a:rPr>
              <a:t>API </a:t>
            </a:r>
            <a:r>
              <a:rPr b="0" i="1" dirty="0" err="1">
                <a:solidFill>
                  <a:schemeClr val="accent2"/>
                </a:solidFill>
              </a:rPr>
              <a:t>celowo</a:t>
            </a:r>
            <a:r>
              <a:rPr b="0" i="1" dirty="0">
                <a:solidFill>
                  <a:schemeClr val="accent2"/>
                </a:solidFill>
              </a:rPr>
              <a:t> </a:t>
            </a:r>
            <a:r>
              <a:rPr b="0" i="1" dirty="0" err="1">
                <a:solidFill>
                  <a:schemeClr val="accent2"/>
                </a:solidFill>
              </a:rPr>
              <a:t>nazwane</a:t>
            </a:r>
            <a:r>
              <a:rPr b="0" i="1" dirty="0">
                <a:solidFill>
                  <a:schemeClr val="accent2"/>
                </a:solidFill>
              </a:rPr>
              <a:t> `</a:t>
            </a:r>
            <a:r>
              <a:rPr b="0" i="1" dirty="0" err="1">
                <a:solidFill>
                  <a:schemeClr val="accent2"/>
                </a:solidFill>
              </a:rPr>
              <a:t>safe_eval</a:t>
            </a:r>
            <a:r>
              <a:rPr b="0" i="1" dirty="0">
                <a:solidFill>
                  <a:schemeClr val="accent2"/>
                </a:solidFill>
              </a:rPr>
              <a:t>` — </a:t>
            </a:r>
            <a:r>
              <a:rPr b="0" i="1" dirty="0" err="1">
                <a:solidFill>
                  <a:schemeClr val="accent2"/>
                </a:solidFill>
              </a:rPr>
              <a:t>granica</a:t>
            </a:r>
            <a:r>
              <a:rPr b="0" i="1" dirty="0">
                <a:solidFill>
                  <a:schemeClr val="accent2"/>
                </a:solidFill>
              </a:rPr>
              <a:t> </a:t>
            </a:r>
            <a:r>
              <a:rPr b="0" i="1" dirty="0" err="1">
                <a:solidFill>
                  <a:schemeClr val="accent2"/>
                </a:solidFill>
              </a:rPr>
              <a:t>zaufania</a:t>
            </a:r>
            <a:r>
              <a:rPr b="0" i="1" dirty="0">
                <a:solidFill>
                  <a:schemeClr val="accent2"/>
                </a:solidFill>
              </a:rPr>
              <a:t> jest </a:t>
            </a:r>
            <a:r>
              <a:rPr b="0" i="1" dirty="0" err="1">
                <a:solidFill>
                  <a:schemeClr val="accent2"/>
                </a:solidFill>
              </a:rPr>
              <a:t>wbudowana</a:t>
            </a:r>
            <a:r>
              <a:rPr b="0" i="1" dirty="0">
                <a:solidFill>
                  <a:schemeClr val="accent2"/>
                </a:solidFill>
              </a:rPr>
              <a:t> w </a:t>
            </a:r>
            <a:r>
              <a:rPr b="0" i="1" dirty="0" err="1">
                <a:solidFill>
                  <a:schemeClr val="accent2"/>
                </a:solidFill>
              </a:rPr>
              <a:t>architekturę</a:t>
            </a:r>
            <a:r>
              <a:rPr b="0" i="1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83080"/>
            <a:ext cx="5577840" cy="4297680"/>
          </a:xfrm>
          <a:prstGeom prst="rect">
            <a:avLst/>
          </a:prstGeom>
          <a:solidFill>
            <a:srgbClr val="2A3B4D"/>
          </a:solidFill>
          <a:ln w="254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383071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 dirty="0">
                <a:solidFill>
                  <a:srgbClr val="00B050"/>
                </a:solidFill>
              </a:rPr>
              <a:t>✓ Evaluated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5212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AABBCC"/>
                </a:solidFill>
              </a:rPr>
              <a:t>whitelist — pure, deterministic, no I/O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String methods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8036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</a:rPr>
              <a:t>Replace, Substring, Insert, ToUpper/Lower, Trim, Split, PadLeft/Right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72968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Static helpers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47288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</a:rPr>
              <a:t>[Convert]::FromBase64String, [Text.Encoding]::UTF8.GetString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39896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Operators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14215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</a:rPr>
              <a:t>+, -, *, /, %, -bxor, -band, -bor, -shl, -shr, -replace, -split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Format operator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581144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</a:rPr>
              <a:t>"{0}{1}" -f 'foo','bar'  →  'foobar'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73752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Variables + 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148072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</a:rPr>
              <a:t>$script:, $global:, $local:, $env:  (via Variables::env())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4406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PS classes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71500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</a:rPr>
              <a:t>class C { static [string] X() { 'am' } }  →  [C]::X()  ⇒  'am'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1783080"/>
            <a:ext cx="5577840" cy="4297680"/>
          </a:xfrm>
          <a:prstGeom prst="rect">
            <a:avLst/>
          </a:prstGeom>
          <a:solidFill>
            <a:srgbClr val="2A3B4D"/>
          </a:solidFill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09360" y="1874519"/>
            <a:ext cx="1225015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 dirty="0">
                <a:solidFill>
                  <a:srgbClr val="FF0000"/>
                </a:solidFill>
              </a:rPr>
              <a:t>✗ Skipped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240280"/>
            <a:ext cx="5212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AABBCC"/>
                </a:solidFill>
              </a:rPr>
              <a:t>side-effects → MethodError / CommandError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60604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File I/O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288036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</a:rPr>
              <a:t>Get-Content, Set-Content, Out-File, [IO.File]::*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172968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Network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447288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</a:rPr>
              <a:t>Invoke-WebRequest, Net.WebClient::DownloadString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739896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Process spawn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014215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</a:rPr>
              <a:t>Start-Process, Invoke-Expression, iex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306824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Dynamic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4581144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</a:rPr>
              <a:t>Add-Type, [Reflection.Assembly]::Load(...)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873752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Registry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5148072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</a:rPr>
              <a:t>Get-ItemProperty, [Microsoft.Win32.Registry]::*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54406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Filesystem cmdlets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571500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</a:rPr>
              <a:t>Get-ChildItem, New-Item, Remove-Item, dowolna mutacja stanu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6172200"/>
            <a:ext cx="11247120" cy="502920"/>
          </a:xfrm>
          <a:prstGeom prst="rect">
            <a:avLst/>
          </a:prstGeom>
          <a:solidFill>
            <a:srgbClr val="2A3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48640" y="6245352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1">
                <a:solidFill>
                  <a:srgbClr val="FFFFFF"/>
                </a:solidFill>
              </a:rPr>
              <a:t>Skutek:  deobfuscator widzi WSZYSTKO co da się policzyć z czystych operacji.  Atak który zależy od I/O lub spawning nie wykonuje się — i jednocześnie jest sygnałem.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D85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IV.2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Layer 2  —  Kernel behavioral telemetry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372153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 dirty="0">
                <a:solidFill>
                  <a:schemeClr val="accent2"/>
                </a:solidFill>
              </a:rPr>
              <a:t>Kernel driver (</a:t>
            </a:r>
            <a:r>
              <a:rPr sz="1800" b="1" i="0" dirty="0" err="1">
                <a:solidFill>
                  <a:schemeClr val="accent2"/>
                </a:solidFill>
              </a:rPr>
              <a:t>sysmon-rs</a:t>
            </a:r>
            <a:r>
              <a:rPr sz="1800" b="1" i="0" dirty="0">
                <a:solidFill>
                  <a:schemeClr val="accent2"/>
                </a:solidFill>
              </a:rPr>
              <a:t>, </a:t>
            </a:r>
            <a:r>
              <a:rPr sz="1800" b="1" i="0" dirty="0" err="1">
                <a:solidFill>
                  <a:schemeClr val="accent2"/>
                </a:solidFill>
              </a:rPr>
              <a:t>no_std</a:t>
            </a:r>
            <a:r>
              <a:rPr sz="1800" b="1" i="0" dirty="0">
                <a:solidFill>
                  <a:schemeClr val="accent2"/>
                </a:solidFill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4641271" cy="294946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342900" indent="-342900" algn="l">
              <a:lnSpc>
                <a:spcPct val="150000"/>
              </a:lnSpc>
              <a:buFont typeface="+mj-lt"/>
              <a:buAutoNum type="arabicPeriod"/>
            </a:pPr>
            <a:r>
              <a:rPr dirty="0" err="1">
                <a:solidFill>
                  <a:srgbClr val="FFFFFF"/>
                </a:solidFill>
              </a:rPr>
              <a:t>PsSetCreateProcessNotifyRoutineEx</a:t>
            </a:r>
            <a:r>
              <a:rPr dirty="0">
                <a:solidFill>
                  <a:srgbClr val="FFFFFF"/>
                </a:solidFill>
              </a:rPr>
              <a:t> </a:t>
            </a:r>
            <a:endParaRPr lang="en-US" dirty="0">
              <a:solidFill>
                <a:srgbClr val="FFFFFF"/>
              </a:solidFill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dirty="0">
                <a:solidFill>
                  <a:srgbClr val="FFFFFF"/>
                </a:solidFill>
              </a:rPr>
              <a:t>capture </a:t>
            </a:r>
            <a:r>
              <a:rPr dirty="0" err="1">
                <a:solidFill>
                  <a:srgbClr val="FFFFFF"/>
                </a:solidFill>
              </a:rPr>
              <a:t>cmdline</a:t>
            </a:r>
            <a:r>
              <a:rPr dirty="0">
                <a:solidFill>
                  <a:srgbClr val="FFFFFF"/>
                </a:solidFill>
              </a:rPr>
              <a:t> at process spawn</a:t>
            </a:r>
            <a:endParaRPr lang="en-US" dirty="0">
              <a:solidFill>
                <a:srgbClr val="FFFFFF"/>
              </a:solidFill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b="1" dirty="0"/>
              <a:t> </a:t>
            </a:r>
            <a:r>
              <a:rPr dirty="0" err="1"/>
              <a:t>PsSetLoadImageNotifyRoutine</a:t>
            </a:r>
            <a:endParaRPr lang="en-US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dirty="0">
                <a:solidFill>
                  <a:srgbClr val="FFFFFF"/>
                </a:solidFill>
              </a:rPr>
              <a:t>flag amsi.dll / wldp.dll loads</a:t>
            </a:r>
            <a:endParaRPr lang="en-US" dirty="0">
              <a:solidFill>
                <a:srgbClr val="FFFFFF"/>
              </a:solidFill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dirty="0" err="1">
                <a:solidFill>
                  <a:srgbClr val="FFFFFF"/>
                </a:solidFill>
              </a:rPr>
              <a:t>CmRegisterCallbackEx</a:t>
            </a:r>
            <a:endParaRPr lang="en-US" dirty="0">
              <a:solidFill>
                <a:srgbClr val="FFFFFF"/>
              </a:solidFill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FFFF"/>
                </a:solidFill>
              </a:rPr>
              <a:t>f</a:t>
            </a:r>
            <a:r>
              <a:rPr dirty="0">
                <a:solidFill>
                  <a:srgbClr val="FFFFFF"/>
                </a:solidFill>
              </a:rPr>
              <a:t>ilter Registry access by path</a:t>
            </a:r>
            <a:endParaRPr lang="en-US" dirty="0">
              <a:solidFill>
                <a:srgbClr val="FFFFFF"/>
              </a:solidFill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dirty="0">
                <a:solidFill>
                  <a:srgbClr val="FFFFFF"/>
                </a:solidFill>
              </a:rPr>
              <a:t>Sends events via \\.\SysMon to </a:t>
            </a:r>
            <a:r>
              <a:rPr dirty="0" err="1">
                <a:solidFill>
                  <a:srgbClr val="FFFFFF"/>
                </a:solidFill>
              </a:rPr>
              <a:t>userspace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0" y="1097280"/>
            <a:ext cx="364683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 dirty="0" err="1">
                <a:solidFill>
                  <a:schemeClr val="accent2"/>
                </a:solidFill>
              </a:rPr>
              <a:t>Userspace</a:t>
            </a:r>
            <a:r>
              <a:rPr sz="1800" b="1" i="0" dirty="0">
                <a:solidFill>
                  <a:schemeClr val="accent2"/>
                </a:solidFill>
              </a:rPr>
              <a:t> daemon (</a:t>
            </a:r>
            <a:r>
              <a:rPr sz="1800" b="1" i="0" dirty="0" err="1">
                <a:solidFill>
                  <a:schemeClr val="accent2"/>
                </a:solidFill>
              </a:rPr>
              <a:t>sysmon</a:t>
            </a:r>
            <a:r>
              <a:rPr sz="1800" b="1" i="0" dirty="0">
                <a:solidFill>
                  <a:schemeClr val="accent2"/>
                </a:solidFill>
              </a:rPr>
              <a:t>-um)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8751"/>
            <a:ext cx="3873689" cy="378045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dirty="0"/>
              <a:t>Polling \\.\SysMon at 200 </a:t>
            </a:r>
            <a:r>
              <a:rPr dirty="0" err="1"/>
              <a:t>ms</a:t>
            </a:r>
            <a:endParaRPr lang="en-US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dirty="0"/>
              <a:t>Tracks </a:t>
            </a:r>
            <a:r>
              <a:rPr dirty="0" err="1"/>
              <a:t>pid</a:t>
            </a:r>
            <a:r>
              <a:rPr dirty="0"/>
              <a:t> → </a:t>
            </a:r>
            <a:r>
              <a:rPr dirty="0" err="1"/>
              <a:t>cmdline</a:t>
            </a:r>
            <a:r>
              <a:rPr dirty="0"/>
              <a:t> mapping</a:t>
            </a:r>
            <a:endParaRPr lang="en-US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dirty="0"/>
              <a:t>On AMSI registry recon:</a:t>
            </a:r>
          </a:p>
          <a:p>
            <a:pPr algn="l">
              <a:lnSpc>
                <a:spcPct val="150000"/>
              </a:lnSpc>
            </a:pPr>
            <a:r>
              <a:rPr b="1" dirty="0"/>
              <a:t> </a:t>
            </a:r>
            <a:r>
              <a:rPr dirty="0"/>
              <a:t>    1.  </a:t>
            </a:r>
            <a:r>
              <a:rPr dirty="0" err="1"/>
              <a:t>NtSuspendProcess</a:t>
            </a:r>
            <a:r>
              <a:rPr dirty="0"/>
              <a:t>(</a:t>
            </a:r>
            <a:r>
              <a:rPr dirty="0" err="1"/>
              <a:t>pid</a:t>
            </a:r>
            <a:r>
              <a:rPr dirty="0"/>
              <a:t>)</a:t>
            </a:r>
          </a:p>
          <a:p>
            <a:pPr algn="l">
              <a:lnSpc>
                <a:spcPct val="150000"/>
              </a:lnSpc>
            </a:pPr>
            <a:r>
              <a:rPr b="1" dirty="0"/>
              <a:t> </a:t>
            </a:r>
            <a:r>
              <a:rPr dirty="0"/>
              <a:t>    2.  call </a:t>
            </a:r>
            <a:r>
              <a:rPr dirty="0" err="1"/>
              <a:t>ps</a:t>
            </a:r>
            <a:r>
              <a:rPr dirty="0"/>
              <a:t>-parser-cli on </a:t>
            </a:r>
            <a:r>
              <a:rPr dirty="0" err="1"/>
              <a:t>cmdline</a:t>
            </a:r>
            <a:endParaRPr dirty="0"/>
          </a:p>
          <a:p>
            <a:pPr algn="l">
              <a:lnSpc>
                <a:spcPct val="150000"/>
              </a:lnSpc>
            </a:pPr>
            <a:r>
              <a:rPr b="1" dirty="0"/>
              <a:t> </a:t>
            </a:r>
            <a:r>
              <a:rPr dirty="0"/>
              <a:t>    3.  Suspicious → log,  BYPASS → kill</a:t>
            </a:r>
            <a:endParaRPr lang="en-US" dirty="0"/>
          </a:p>
          <a:p>
            <a:pPr algn="l">
              <a:lnSpc>
                <a:spcPct val="150000"/>
              </a:lnSpc>
            </a:pPr>
            <a:endParaRPr lang="en-US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dirty="0"/>
              <a:t>Audit log per scanned process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212080"/>
            <a:ext cx="10698480" cy="1280160"/>
          </a:xfrm>
          <a:prstGeom prst="rect">
            <a:avLst/>
          </a:prstGeom>
          <a:solidFill>
            <a:srgbClr val="2A3B4D"/>
          </a:solidFill>
          <a:ln w="2540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5303520"/>
            <a:ext cx="264976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 dirty="0">
                <a:solidFill>
                  <a:schemeClr val="accent2"/>
                </a:solidFill>
              </a:rPr>
              <a:t>Co Layer 2 </a:t>
            </a:r>
            <a:r>
              <a:rPr sz="1400" b="1" i="0" dirty="0" err="1">
                <a:solidFill>
                  <a:schemeClr val="accent2"/>
                </a:solidFill>
              </a:rPr>
              <a:t>widzi</a:t>
            </a:r>
            <a:r>
              <a:rPr sz="1400" b="1" i="0" dirty="0">
                <a:solidFill>
                  <a:schemeClr val="accent2"/>
                </a:solidFill>
              </a:rPr>
              <a:t> a Layer 1 </a:t>
            </a:r>
            <a:r>
              <a:rPr sz="1400" b="1" i="0" dirty="0" err="1">
                <a:solidFill>
                  <a:schemeClr val="accent2"/>
                </a:solidFill>
              </a:rPr>
              <a:t>nie</a:t>
            </a:r>
            <a:r>
              <a:rPr sz="1400" b="1" i="0" dirty="0">
                <a:solidFill>
                  <a:schemeClr val="accent2"/>
                </a:solidFill>
              </a:rPr>
              <a:t>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623560"/>
            <a:ext cx="105156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Każde otwarcie klucza rejestru ze ścieżką \AMSI\ — niezależnie od tego jak nazwa klucza była zbudowana w kodzie.</a:t>
            </a:r>
          </a:p>
          <a:p>
            <a:pPr algn="l"/>
            <a:r>
              <a:rPr sz="1200" b="0" i="0">
                <a:solidFill>
                  <a:srgbClr val="FFFFFF"/>
                </a:solidFill>
              </a:rPr>
              <a:t>Behaviour pozostaje, nawet gdy literalne identyfikatory są rekonstruowane w runtime.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286000"/>
            <a:ext cx="12188952" cy="2286000"/>
          </a:xfrm>
          <a:prstGeom prst="rect">
            <a:avLst/>
          </a:prstGeom>
          <a:solidFill>
            <a:srgbClr val="D85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2468880"/>
            <a:ext cx="12188952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383280"/>
            <a:ext cx="121889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0" i="1">
                <a:solidFill>
                  <a:srgbClr val="FFFFFF"/>
                </a:solidFill>
              </a:rPr>
              <a:t>5 actów — od literalnego bypass'a po behavioral catch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846320"/>
            <a:ext cx="12188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Act 1: Layer 1 blocks an obfuscated bypass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212080"/>
            <a:ext cx="12188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Act 2: Detection rate sweep — 27/28 = 96 %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577840"/>
            <a:ext cx="12188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Act 3: Literal radkum technique caught 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943600"/>
            <a:ext cx="12188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Act 4: Evasive variant — only Suspicious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309360"/>
            <a:ext cx="12188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Act 5: Behavioral catches the residual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D85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V.1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Act 1  —  Obfuscated AMSI bypass (sample 14)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6152" y="1031486"/>
            <a:ext cx="939500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0" i="1" dirty="0" err="1">
                <a:solidFill>
                  <a:schemeClr val="accent2"/>
                </a:solidFill>
              </a:rPr>
              <a:t>Cały</a:t>
            </a:r>
            <a:r>
              <a:rPr b="0" i="1" dirty="0">
                <a:solidFill>
                  <a:schemeClr val="accent2"/>
                </a:solidFill>
              </a:rPr>
              <a:t> </a:t>
            </a:r>
            <a:r>
              <a:rPr b="0" i="1" dirty="0" err="1">
                <a:solidFill>
                  <a:schemeClr val="accent2"/>
                </a:solidFill>
              </a:rPr>
              <a:t>skompilowany</a:t>
            </a:r>
            <a:r>
              <a:rPr b="0" i="1" dirty="0">
                <a:solidFill>
                  <a:schemeClr val="accent2"/>
                </a:solidFill>
              </a:rPr>
              <a:t> .NET DLL </a:t>
            </a:r>
            <a:r>
              <a:rPr b="0" i="1" dirty="0" err="1">
                <a:solidFill>
                  <a:schemeClr val="accent2"/>
                </a:solidFill>
              </a:rPr>
              <a:t>zakodowany</a:t>
            </a:r>
            <a:r>
              <a:rPr b="0" i="1" dirty="0">
                <a:solidFill>
                  <a:schemeClr val="accent2"/>
                </a:solidFill>
              </a:rPr>
              <a:t> w base64, </a:t>
            </a:r>
            <a:r>
              <a:rPr b="0" i="1" dirty="0" err="1">
                <a:solidFill>
                  <a:schemeClr val="accent2"/>
                </a:solidFill>
              </a:rPr>
              <a:t>ładowany</a:t>
            </a:r>
            <a:r>
              <a:rPr b="0" i="1" dirty="0">
                <a:solidFill>
                  <a:schemeClr val="accent2"/>
                </a:solidFill>
              </a:rPr>
              <a:t> </a:t>
            </a:r>
            <a:r>
              <a:rPr b="0" i="1" dirty="0" err="1">
                <a:solidFill>
                  <a:schemeClr val="accent2"/>
                </a:solidFill>
              </a:rPr>
              <a:t>przez</a:t>
            </a:r>
            <a:r>
              <a:rPr b="0" i="1" dirty="0">
                <a:solidFill>
                  <a:schemeClr val="accent2"/>
                </a:solidFill>
              </a:rPr>
              <a:t> </a:t>
            </a:r>
            <a:r>
              <a:rPr b="0" i="1" dirty="0" err="1">
                <a:solidFill>
                  <a:schemeClr val="accent2"/>
                </a:solidFill>
              </a:rPr>
              <a:t>Reflection.Assembly</a:t>
            </a:r>
            <a:r>
              <a:rPr b="0" i="1" dirty="0">
                <a:solidFill>
                  <a:schemeClr val="accent2"/>
                </a:solidFill>
              </a:rPr>
              <a:t>::Load.</a:t>
            </a:r>
          </a:p>
        </p:txBody>
      </p:sp>
      <p:pic>
        <p:nvPicPr>
          <p:cNvPr id="6" name="Picture 5" descr="1_obfuscated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554480"/>
            <a:ext cx="9418320" cy="4389120"/>
          </a:xfrm>
          <a:prstGeom prst="rect">
            <a:avLst/>
          </a:prstGeom>
          <a:ln w="6350">
            <a:solidFill>
              <a:srgbClr val="77889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20058" y="6446520"/>
            <a:ext cx="6748835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1" dirty="0">
                <a:solidFill>
                  <a:schemeClr val="tx1">
                    <a:lumMod val="95000"/>
                  </a:schemeClr>
                </a:solidFill>
              </a:rPr>
              <a:t>samples\malicious\14_amsi_buffer_path.ps1  —  first 8 lines.   Line 3 = entire AmsiBypass.dll as base64.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D85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V.1b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Act 1  —  ps-parser-cli verdict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004054"/>
            <a:ext cx="750718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0" i="1" dirty="0" err="1">
                <a:solidFill>
                  <a:schemeClr val="accent2"/>
                </a:solidFill>
              </a:rPr>
              <a:t>Rekurencyjny</a:t>
            </a:r>
            <a:r>
              <a:rPr b="0" i="1" dirty="0">
                <a:solidFill>
                  <a:schemeClr val="accent2"/>
                </a:solidFill>
              </a:rPr>
              <a:t> base64 </a:t>
            </a:r>
            <a:r>
              <a:rPr b="0" i="1" dirty="0" err="1">
                <a:solidFill>
                  <a:schemeClr val="accent2"/>
                </a:solidFill>
              </a:rPr>
              <a:t>deobfuscator</a:t>
            </a:r>
            <a:r>
              <a:rPr b="0" i="1" dirty="0">
                <a:solidFill>
                  <a:schemeClr val="accent2"/>
                </a:solidFill>
              </a:rPr>
              <a:t> </a:t>
            </a:r>
            <a:r>
              <a:rPr b="0" i="1" dirty="0" err="1">
                <a:solidFill>
                  <a:schemeClr val="accent2"/>
                </a:solidFill>
              </a:rPr>
              <a:t>wyciąga</a:t>
            </a:r>
            <a:r>
              <a:rPr b="0" i="1" dirty="0">
                <a:solidFill>
                  <a:schemeClr val="accent2"/>
                </a:solidFill>
              </a:rPr>
              <a:t> </a:t>
            </a:r>
            <a:r>
              <a:rPr b="0" i="1" dirty="0" err="1">
                <a:solidFill>
                  <a:schemeClr val="accent2"/>
                </a:solidFill>
              </a:rPr>
              <a:t>literały</a:t>
            </a:r>
            <a:r>
              <a:rPr b="0" i="1" dirty="0">
                <a:solidFill>
                  <a:schemeClr val="accent2"/>
                </a:solidFill>
              </a:rPr>
              <a:t> z UTF-16LE #US section.</a:t>
            </a:r>
          </a:p>
        </p:txBody>
      </p:sp>
      <p:pic>
        <p:nvPicPr>
          <p:cNvPr id="6" name="Picture 5" descr="2_pscli_sample14_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554480"/>
            <a:ext cx="7315200" cy="4114800"/>
          </a:xfrm>
          <a:prstGeom prst="rect">
            <a:avLst/>
          </a:prstGeom>
          <a:ln w="6350">
            <a:solidFill>
              <a:srgbClr val="778899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731520" y="5760720"/>
            <a:ext cx="10698480" cy="685800"/>
          </a:xfrm>
          <a:prstGeom prst="rect">
            <a:avLst/>
          </a:prstGeom>
          <a:solidFill>
            <a:srgbClr val="2A3B4D"/>
          </a:solidFill>
          <a:ln w="25400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75182" y="5852160"/>
            <a:ext cx="9611156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 dirty="0">
                <a:solidFill>
                  <a:schemeClr val="tx1">
                    <a:lumMod val="95000"/>
                  </a:schemeClr>
                </a:solidFill>
              </a:rPr>
              <a:t>status = AMSI BYPASS    •    confidence = 100    •    indicators: </a:t>
            </a:r>
            <a:r>
              <a:rPr sz="1300" b="1" i="0" dirty="0" err="1">
                <a:solidFill>
                  <a:schemeClr val="tx1">
                    <a:lumMod val="95000"/>
                  </a:schemeClr>
                </a:solidFill>
              </a:rPr>
              <a:t>AmsiDll</a:t>
            </a:r>
            <a:r>
              <a:rPr sz="1300" b="1" i="0" dirty="0">
                <a:solidFill>
                  <a:schemeClr val="tx1">
                    <a:lumMod val="95000"/>
                  </a:schemeClr>
                </a:solidFill>
              </a:rPr>
              <a:t>, </a:t>
            </a:r>
            <a:r>
              <a:rPr sz="1300" b="1" i="0" dirty="0" err="1">
                <a:solidFill>
                  <a:schemeClr val="tx1">
                    <a:lumMod val="95000"/>
                  </a:schemeClr>
                </a:solidFill>
              </a:rPr>
              <a:t>MemoryPatch</a:t>
            </a:r>
            <a:r>
              <a:rPr sz="1300" b="1" i="0" dirty="0">
                <a:solidFill>
                  <a:schemeClr val="tx1">
                    <a:lumMod val="95000"/>
                  </a:schemeClr>
                </a:solidFill>
              </a:rPr>
              <a:t>, </a:t>
            </a:r>
            <a:r>
              <a:rPr sz="1300" b="1" i="0" dirty="0" err="1">
                <a:solidFill>
                  <a:schemeClr val="tx1">
                    <a:lumMod val="95000"/>
                  </a:schemeClr>
                </a:solidFill>
              </a:rPr>
              <a:t>VtableManipulation</a:t>
            </a:r>
            <a:r>
              <a:rPr sz="1300" b="1" i="0" dirty="0">
                <a:solidFill>
                  <a:schemeClr val="tx1">
                    <a:lumMod val="95000"/>
                  </a:schemeClr>
                </a:solidFill>
              </a:rPr>
              <a:t>, </a:t>
            </a:r>
            <a:r>
              <a:rPr sz="1300" b="1" i="0" dirty="0" err="1">
                <a:solidFill>
                  <a:schemeClr val="tx1">
                    <a:lumMod val="95000"/>
                  </a:schemeClr>
                </a:solidFill>
              </a:rPr>
              <a:t>TelemetryFunction</a:t>
            </a:r>
            <a:endParaRPr sz="1300" b="1" i="0" dirty="0">
              <a:solidFill>
                <a:schemeClr val="tx1">
                  <a:lumMod val="9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D85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V.2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Act 2  —  Detection rate sweep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712207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0" i="1" dirty="0">
                <a:solidFill>
                  <a:schemeClr val="accent2"/>
                </a:solidFill>
              </a:rPr>
              <a:t>Tym </a:t>
            </a:r>
            <a:r>
              <a:rPr b="0" i="1" dirty="0" err="1">
                <a:solidFill>
                  <a:schemeClr val="accent2"/>
                </a:solidFill>
              </a:rPr>
              <a:t>samym</a:t>
            </a:r>
            <a:r>
              <a:rPr b="0" i="1" dirty="0">
                <a:solidFill>
                  <a:schemeClr val="accent2"/>
                </a:solidFill>
              </a:rPr>
              <a:t> </a:t>
            </a:r>
            <a:r>
              <a:rPr b="0" i="1" dirty="0" err="1">
                <a:solidFill>
                  <a:schemeClr val="accent2"/>
                </a:solidFill>
              </a:rPr>
              <a:t>silnikiem</a:t>
            </a:r>
            <a:r>
              <a:rPr b="0" i="1" dirty="0">
                <a:solidFill>
                  <a:schemeClr val="accent2"/>
                </a:solidFill>
              </a:rPr>
              <a:t> </a:t>
            </a:r>
            <a:r>
              <a:rPr b="0" i="1" dirty="0" err="1">
                <a:solidFill>
                  <a:schemeClr val="accent2"/>
                </a:solidFill>
              </a:rPr>
              <a:t>na</a:t>
            </a:r>
            <a:r>
              <a:rPr b="0" i="1" dirty="0">
                <a:solidFill>
                  <a:schemeClr val="accent2"/>
                </a:solidFill>
              </a:rPr>
              <a:t> </a:t>
            </a:r>
            <a:r>
              <a:rPr b="0" i="1" dirty="0" err="1">
                <a:solidFill>
                  <a:schemeClr val="accent2"/>
                </a:solidFill>
              </a:rPr>
              <a:t>pełnym</a:t>
            </a:r>
            <a:r>
              <a:rPr b="0" i="1" dirty="0">
                <a:solidFill>
                  <a:schemeClr val="accent2"/>
                </a:solidFill>
              </a:rPr>
              <a:t> </a:t>
            </a:r>
            <a:r>
              <a:rPr b="0" i="1" dirty="0" err="1">
                <a:solidFill>
                  <a:schemeClr val="accent2"/>
                </a:solidFill>
              </a:rPr>
              <a:t>zestawie</a:t>
            </a:r>
            <a:r>
              <a:rPr b="0" i="1" dirty="0">
                <a:solidFill>
                  <a:schemeClr val="accent2"/>
                </a:solidFill>
              </a:rPr>
              <a:t> 28 </a:t>
            </a:r>
            <a:r>
              <a:rPr b="0" i="1" dirty="0" err="1">
                <a:solidFill>
                  <a:schemeClr val="accent2"/>
                </a:solidFill>
              </a:rPr>
              <a:t>obfuskowanych</a:t>
            </a:r>
            <a:r>
              <a:rPr b="0" i="1" dirty="0">
                <a:solidFill>
                  <a:schemeClr val="accent2"/>
                </a:solidFill>
              </a:rPr>
              <a:t> </a:t>
            </a:r>
            <a:r>
              <a:rPr b="0" i="1" dirty="0" err="1">
                <a:solidFill>
                  <a:schemeClr val="accent2"/>
                </a:solidFill>
              </a:rPr>
              <a:t>sample'ów</a:t>
            </a:r>
            <a:r>
              <a:rPr b="0" i="1" dirty="0">
                <a:solidFill>
                  <a:schemeClr val="accent2"/>
                </a:solidFill>
              </a:rPr>
              <a:t>.</a:t>
            </a:r>
          </a:p>
        </p:txBody>
      </p:sp>
      <p:pic>
        <p:nvPicPr>
          <p:cNvPr id="6" name="Picture 5" descr="3_pscli_full_corp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10698480" cy="4572000"/>
          </a:xfrm>
          <a:prstGeom prst="rect">
            <a:avLst/>
          </a:prstGeom>
          <a:ln w="6350">
            <a:solidFill>
              <a:srgbClr val="778899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731520" y="6263640"/>
            <a:ext cx="10698480" cy="411480"/>
          </a:xfrm>
          <a:prstGeom prst="rect">
            <a:avLst/>
          </a:prstGeom>
          <a:solidFill>
            <a:srgbClr val="2A3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95620" y="6309360"/>
            <a:ext cx="617027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 dirty="0">
                <a:solidFill>
                  <a:schemeClr val="tx1">
                    <a:lumMod val="95000"/>
                  </a:schemeClr>
                </a:solidFill>
              </a:rPr>
              <a:t>27 × AMSI BYPASS    •    1 × Suspicious  (sample 27 — </a:t>
            </a:r>
            <a:r>
              <a:rPr sz="1300" b="1" i="0" dirty="0" err="1">
                <a:solidFill>
                  <a:schemeClr val="tx1">
                    <a:lumMod val="95000"/>
                  </a:schemeClr>
                </a:solidFill>
              </a:rPr>
              <a:t>patrz</a:t>
            </a:r>
            <a:r>
              <a:rPr sz="1300" b="1" i="0" dirty="0">
                <a:solidFill>
                  <a:schemeClr val="tx1">
                    <a:lumMod val="95000"/>
                  </a:schemeClr>
                </a:solidFill>
              </a:rPr>
              <a:t> Akt 4)    •    0 × Clean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D85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V.3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Act 3  —  Literal radkum technique (sample 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031486"/>
            <a:ext cx="775629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0" i="1" dirty="0" err="1">
                <a:solidFill>
                  <a:schemeClr val="accent2"/>
                </a:solidFill>
              </a:rPr>
              <a:t>Adaptacja</a:t>
            </a:r>
            <a:r>
              <a:rPr b="0" i="1" dirty="0">
                <a:solidFill>
                  <a:schemeClr val="accent2"/>
                </a:solidFill>
              </a:rPr>
              <a:t> github.com/</a:t>
            </a:r>
            <a:r>
              <a:rPr b="0" i="1" dirty="0" err="1">
                <a:solidFill>
                  <a:schemeClr val="accent2"/>
                </a:solidFill>
              </a:rPr>
              <a:t>radkum</a:t>
            </a:r>
            <a:r>
              <a:rPr b="0" i="1" dirty="0">
                <a:solidFill>
                  <a:schemeClr val="accent2"/>
                </a:solidFill>
              </a:rPr>
              <a:t>/</a:t>
            </a:r>
            <a:r>
              <a:rPr b="0" i="1" dirty="0" err="1">
                <a:solidFill>
                  <a:schemeClr val="accent2"/>
                </a:solidFill>
              </a:rPr>
              <a:t>AmsiProviderScanDisruption</a:t>
            </a:r>
            <a:r>
              <a:rPr b="0" i="1" dirty="0">
                <a:solidFill>
                  <a:schemeClr val="accent2"/>
                </a:solidFill>
              </a:rPr>
              <a:t> — bez </a:t>
            </a:r>
            <a:r>
              <a:rPr b="0" i="1" dirty="0" err="1">
                <a:solidFill>
                  <a:schemeClr val="accent2"/>
                </a:solidFill>
              </a:rPr>
              <a:t>obfuskacji</a:t>
            </a:r>
            <a:r>
              <a:rPr b="0" i="1" dirty="0">
                <a:solidFill>
                  <a:schemeClr val="accent2"/>
                </a:solidFill>
              </a:rPr>
              <a:t>.</a:t>
            </a:r>
          </a:p>
        </p:txBody>
      </p:sp>
      <p:pic>
        <p:nvPicPr>
          <p:cNvPr id="6" name="Picture 5" descr="4_sample26_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554480"/>
            <a:ext cx="9418320" cy="4297680"/>
          </a:xfrm>
          <a:prstGeom prst="rect">
            <a:avLst/>
          </a:prstGeom>
          <a:ln w="6350">
            <a:solidFill>
              <a:srgbClr val="77889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3632904" y="6446520"/>
            <a:ext cx="492314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 dirty="0" err="1">
                <a:solidFill>
                  <a:schemeClr val="tx1">
                    <a:lumMod val="95000"/>
                  </a:schemeClr>
                </a:solidFill>
              </a:rPr>
              <a:t>Literalne</a:t>
            </a:r>
            <a:r>
              <a:rPr sz="1000" b="0" i="1" dirty="0">
                <a:solidFill>
                  <a:schemeClr val="tx1">
                    <a:lumMod val="95000"/>
                  </a:schemeClr>
                </a:solidFill>
              </a:rPr>
              <a:t> </a:t>
            </a:r>
            <a:r>
              <a:rPr sz="1000" b="0" i="1" dirty="0" err="1">
                <a:solidFill>
                  <a:schemeClr val="tx1">
                    <a:lumMod val="95000"/>
                  </a:schemeClr>
                </a:solidFill>
              </a:rPr>
              <a:t>DllGetClassObject</a:t>
            </a:r>
            <a:r>
              <a:rPr sz="1000" b="0" i="1" dirty="0">
                <a:solidFill>
                  <a:schemeClr val="tx1">
                    <a:lumMod val="95000"/>
                  </a:schemeClr>
                </a:solidFill>
              </a:rPr>
              <a:t>, </a:t>
            </a:r>
            <a:r>
              <a:rPr sz="1000" b="0" i="1" dirty="0" err="1">
                <a:solidFill>
                  <a:schemeClr val="tx1">
                    <a:lumMod val="95000"/>
                  </a:schemeClr>
                </a:solidFill>
              </a:rPr>
              <a:t>Marshal.WriteIntPtr</a:t>
            </a:r>
            <a:r>
              <a:rPr sz="1000" b="0" i="1" dirty="0">
                <a:solidFill>
                  <a:schemeClr val="tx1">
                    <a:lumMod val="95000"/>
                  </a:schemeClr>
                </a:solidFill>
              </a:rPr>
              <a:t>, </a:t>
            </a:r>
            <a:r>
              <a:rPr sz="1000" b="0" i="1" dirty="0" err="1">
                <a:solidFill>
                  <a:schemeClr val="tx1">
                    <a:lumMod val="95000"/>
                  </a:schemeClr>
                </a:solidFill>
              </a:rPr>
              <a:t>AllocHGlobal</a:t>
            </a:r>
            <a:r>
              <a:rPr sz="1000" b="0" i="1" dirty="0">
                <a:solidFill>
                  <a:schemeClr val="tx1">
                    <a:lumMod val="95000"/>
                  </a:schemeClr>
                </a:solidFill>
              </a:rPr>
              <a:t> — </a:t>
            </a:r>
            <a:r>
              <a:rPr sz="1000" b="0" i="1" dirty="0" err="1">
                <a:solidFill>
                  <a:schemeClr val="tx1">
                    <a:lumMod val="95000"/>
                  </a:schemeClr>
                </a:solidFill>
              </a:rPr>
              <a:t>wszystko</a:t>
            </a:r>
            <a:r>
              <a:rPr sz="1000" b="0" i="1" dirty="0">
                <a:solidFill>
                  <a:schemeClr val="tx1">
                    <a:lumMod val="95000"/>
                  </a:schemeClr>
                </a:solidFill>
              </a:rPr>
              <a:t> </a:t>
            </a:r>
            <a:r>
              <a:rPr sz="1000" b="0" i="1" dirty="0" err="1">
                <a:solidFill>
                  <a:schemeClr val="tx1">
                    <a:lumMod val="95000"/>
                  </a:schemeClr>
                </a:solidFill>
              </a:rPr>
              <a:t>na</a:t>
            </a:r>
            <a:r>
              <a:rPr sz="1000" b="0" i="1" dirty="0">
                <a:solidFill>
                  <a:schemeClr val="tx1">
                    <a:lumMod val="95000"/>
                  </a:schemeClr>
                </a:solidFill>
              </a:rPr>
              <a:t> </a:t>
            </a:r>
            <a:r>
              <a:rPr sz="1000" b="0" i="1" dirty="0" err="1">
                <a:solidFill>
                  <a:schemeClr val="tx1">
                    <a:lumMod val="95000"/>
                  </a:schemeClr>
                </a:solidFill>
              </a:rPr>
              <a:t>wierzchu</a:t>
            </a:r>
            <a:r>
              <a:rPr sz="1000" b="0" i="1" dirty="0">
                <a:solidFill>
                  <a:schemeClr val="tx1">
                    <a:lumMod val="95000"/>
                  </a:schemeClr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D85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V.3b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Act 3  —  Live block in PowerShell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084564"/>
            <a:ext cx="674191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0" i="1" dirty="0">
                <a:solidFill>
                  <a:schemeClr val="accent2"/>
                </a:solidFill>
              </a:rPr>
              <a:t>Provider </a:t>
            </a:r>
            <a:r>
              <a:rPr b="0" i="1" dirty="0" err="1">
                <a:solidFill>
                  <a:schemeClr val="accent2"/>
                </a:solidFill>
              </a:rPr>
              <a:t>zwraca</a:t>
            </a:r>
            <a:r>
              <a:rPr b="0" i="1" dirty="0">
                <a:solidFill>
                  <a:schemeClr val="accent2"/>
                </a:solidFill>
              </a:rPr>
              <a:t> AMSI_RESULT_DETECTED. PS </a:t>
            </a:r>
            <a:r>
              <a:rPr b="0" i="1" dirty="0" err="1">
                <a:solidFill>
                  <a:schemeClr val="accent2"/>
                </a:solidFill>
              </a:rPr>
              <a:t>odmawia</a:t>
            </a:r>
            <a:r>
              <a:rPr b="0" i="1" dirty="0">
                <a:solidFill>
                  <a:schemeClr val="accent2"/>
                </a:solidFill>
              </a:rPr>
              <a:t> </a:t>
            </a:r>
            <a:r>
              <a:rPr b="0" i="1" dirty="0" err="1">
                <a:solidFill>
                  <a:schemeClr val="accent2"/>
                </a:solidFill>
              </a:rPr>
              <a:t>wykonania</a:t>
            </a:r>
            <a:r>
              <a:rPr b="0" i="1" dirty="0">
                <a:solidFill>
                  <a:schemeClr val="accent2"/>
                </a:solidFill>
              </a:rPr>
              <a:t>.</a:t>
            </a:r>
          </a:p>
        </p:txBody>
      </p:sp>
      <p:pic>
        <p:nvPicPr>
          <p:cNvPr id="6" name="Picture 5" descr="5_amsi_red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554480"/>
            <a:ext cx="9418320" cy="4206240"/>
          </a:xfrm>
          <a:prstGeom prst="rect">
            <a:avLst/>
          </a:prstGeom>
          <a:ln w="6350">
            <a:solidFill>
              <a:srgbClr val="778899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731520" y="5852160"/>
            <a:ext cx="10698480" cy="640080"/>
          </a:xfrm>
          <a:prstGeom prst="rect">
            <a:avLst/>
          </a:prstGeom>
          <a:solidFill>
            <a:srgbClr val="2A3B4D"/>
          </a:solidFill>
          <a:ln w="2540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91468" y="5943600"/>
            <a:ext cx="957858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1" dirty="0" err="1">
                <a:solidFill>
                  <a:srgbClr val="FFFFFF"/>
                </a:solidFill>
              </a:rPr>
              <a:t>Standardowy</a:t>
            </a:r>
            <a:r>
              <a:rPr sz="1400" b="0" i="1" dirty="0">
                <a:solidFill>
                  <a:srgbClr val="FFFFFF"/>
                </a:solidFill>
              </a:rPr>
              <a:t> AMSI block message — </a:t>
            </a:r>
            <a:r>
              <a:rPr sz="1400" b="0" i="1" dirty="0" err="1">
                <a:solidFill>
                  <a:srgbClr val="FFFFFF"/>
                </a:solidFill>
              </a:rPr>
              <a:t>nie</a:t>
            </a:r>
            <a:r>
              <a:rPr sz="1400" b="0" i="1" dirty="0">
                <a:solidFill>
                  <a:srgbClr val="FFFFFF"/>
                </a:solidFill>
              </a:rPr>
              <a:t> </a:t>
            </a:r>
            <a:r>
              <a:rPr sz="1400" b="0" i="1" dirty="0" err="1">
                <a:solidFill>
                  <a:srgbClr val="FFFFFF"/>
                </a:solidFill>
              </a:rPr>
              <a:t>nasza</a:t>
            </a:r>
            <a:r>
              <a:rPr sz="1400" b="0" i="1" dirty="0">
                <a:solidFill>
                  <a:srgbClr val="FFFFFF"/>
                </a:solidFill>
              </a:rPr>
              <a:t> </a:t>
            </a:r>
            <a:r>
              <a:rPr sz="1400" b="0" i="1" dirty="0" err="1">
                <a:solidFill>
                  <a:srgbClr val="FFFFFF"/>
                </a:solidFill>
              </a:rPr>
              <a:t>nakładka</a:t>
            </a:r>
            <a:r>
              <a:rPr sz="1400" b="0" i="1" dirty="0">
                <a:solidFill>
                  <a:srgbClr val="FFFFFF"/>
                </a:solidFill>
              </a:rPr>
              <a:t>.  </a:t>
            </a:r>
            <a:r>
              <a:rPr sz="1400" b="0" i="1" dirty="0" err="1">
                <a:solidFill>
                  <a:srgbClr val="FFFFFF"/>
                </a:solidFill>
              </a:rPr>
              <a:t>Skrypt</a:t>
            </a:r>
            <a:r>
              <a:rPr sz="1400" b="0" i="1" dirty="0">
                <a:solidFill>
                  <a:srgbClr val="FFFFFF"/>
                </a:solidFill>
              </a:rPr>
              <a:t> </a:t>
            </a:r>
            <a:r>
              <a:rPr sz="1400" b="0" i="1" dirty="0" err="1">
                <a:solidFill>
                  <a:srgbClr val="FFFFFF"/>
                </a:solidFill>
              </a:rPr>
              <a:t>sprzed</a:t>
            </a:r>
            <a:r>
              <a:rPr sz="1400" b="0" i="1" dirty="0">
                <a:solidFill>
                  <a:srgbClr val="FFFFFF"/>
                </a:solidFill>
              </a:rPr>
              <a:t> 5 </a:t>
            </a:r>
            <a:r>
              <a:rPr sz="1400" b="0" i="1" dirty="0" err="1">
                <a:solidFill>
                  <a:srgbClr val="FFFFFF"/>
                </a:solidFill>
              </a:rPr>
              <a:t>lat</a:t>
            </a:r>
            <a:r>
              <a:rPr sz="1400" b="0" i="1" dirty="0">
                <a:solidFill>
                  <a:srgbClr val="FFFFFF"/>
                </a:solidFill>
              </a:rPr>
              <a:t> → </a:t>
            </a:r>
            <a:r>
              <a:rPr sz="1400" b="0" i="1" dirty="0" err="1">
                <a:solidFill>
                  <a:srgbClr val="FFFFFF"/>
                </a:solidFill>
              </a:rPr>
              <a:t>blokowany</a:t>
            </a:r>
            <a:r>
              <a:rPr sz="1400" b="0" i="1" dirty="0">
                <a:solidFill>
                  <a:srgbClr val="FFFFFF"/>
                </a:solidFill>
              </a:rPr>
              <a:t> </a:t>
            </a:r>
            <a:r>
              <a:rPr sz="1400" b="0" i="1" dirty="0" err="1">
                <a:solidFill>
                  <a:srgbClr val="FFFFFF"/>
                </a:solidFill>
              </a:rPr>
              <a:t>dziś</a:t>
            </a:r>
            <a:r>
              <a:rPr sz="1400" b="0" i="1" dirty="0">
                <a:solidFill>
                  <a:srgbClr val="FFFFFF"/>
                </a:solidFill>
              </a:rPr>
              <a:t> </a:t>
            </a:r>
            <a:r>
              <a:rPr sz="1400" b="0" i="1" dirty="0" err="1">
                <a:solidFill>
                  <a:srgbClr val="FFFFFF"/>
                </a:solidFill>
              </a:rPr>
              <a:t>przez</a:t>
            </a:r>
            <a:r>
              <a:rPr sz="1400" b="0" i="1" dirty="0">
                <a:solidFill>
                  <a:srgbClr val="FFFFFF"/>
                </a:solidFill>
              </a:rPr>
              <a:t> </a:t>
            </a:r>
            <a:r>
              <a:rPr sz="1400" b="0" i="1" dirty="0" err="1">
                <a:solidFill>
                  <a:srgbClr val="FFFFFF"/>
                </a:solidFill>
              </a:rPr>
              <a:t>własny</a:t>
            </a:r>
            <a:r>
              <a:rPr sz="1400" b="0" i="1" dirty="0">
                <a:solidFill>
                  <a:srgbClr val="FFFFFF"/>
                </a:solidFill>
              </a:rPr>
              <a:t> detector </a:t>
            </a:r>
            <a:r>
              <a:rPr sz="1400" b="0" i="1" dirty="0" err="1">
                <a:solidFill>
                  <a:srgbClr val="FFFFFF"/>
                </a:solidFill>
              </a:rPr>
              <a:t>autora</a:t>
            </a:r>
            <a:r>
              <a:rPr sz="1400" b="0" i="1" dirty="0">
                <a:solidFill>
                  <a:srgbClr val="FFFFFF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D85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V.4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Act 4  —  Evasive variant (sample 27)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848001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0" i="1" dirty="0">
                <a:solidFill>
                  <a:schemeClr val="accent2"/>
                </a:solidFill>
              </a:rPr>
              <a:t>To </a:t>
            </a:r>
            <a:r>
              <a:rPr b="0" i="1" dirty="0" err="1">
                <a:solidFill>
                  <a:schemeClr val="accent2"/>
                </a:solidFill>
              </a:rPr>
              <a:t>samo</a:t>
            </a:r>
            <a:r>
              <a:rPr b="0" i="1" dirty="0">
                <a:solidFill>
                  <a:schemeClr val="accent2"/>
                </a:solidFill>
              </a:rPr>
              <a:t> </a:t>
            </a:r>
            <a:r>
              <a:rPr b="0" i="1" dirty="0" err="1">
                <a:solidFill>
                  <a:schemeClr val="accent2"/>
                </a:solidFill>
              </a:rPr>
              <a:t>zachowanie</a:t>
            </a:r>
            <a:r>
              <a:rPr b="0" i="1" dirty="0">
                <a:solidFill>
                  <a:schemeClr val="accent2"/>
                </a:solidFill>
              </a:rPr>
              <a:t> co sample 26 — </a:t>
            </a:r>
            <a:r>
              <a:rPr b="0" i="1" dirty="0" err="1">
                <a:solidFill>
                  <a:schemeClr val="accent2"/>
                </a:solidFill>
              </a:rPr>
              <a:t>każdy</a:t>
            </a:r>
            <a:r>
              <a:rPr b="0" i="1" dirty="0">
                <a:solidFill>
                  <a:schemeClr val="accent2"/>
                </a:solidFill>
              </a:rPr>
              <a:t> </a:t>
            </a:r>
            <a:r>
              <a:rPr b="0" i="1" dirty="0" err="1">
                <a:solidFill>
                  <a:schemeClr val="accent2"/>
                </a:solidFill>
              </a:rPr>
              <a:t>identyfikator</a:t>
            </a:r>
            <a:r>
              <a:rPr b="0" i="1" dirty="0">
                <a:solidFill>
                  <a:schemeClr val="accent2"/>
                </a:solidFill>
              </a:rPr>
              <a:t> </a:t>
            </a:r>
            <a:r>
              <a:rPr b="0" i="1" dirty="0" err="1">
                <a:solidFill>
                  <a:schemeClr val="accent2"/>
                </a:solidFill>
              </a:rPr>
              <a:t>zrekonstruowany</a:t>
            </a:r>
            <a:r>
              <a:rPr b="0" i="1" dirty="0">
                <a:solidFill>
                  <a:schemeClr val="accent2"/>
                </a:solidFill>
              </a:rPr>
              <a:t> w runtime.</a:t>
            </a:r>
          </a:p>
        </p:txBody>
      </p:sp>
      <p:pic>
        <p:nvPicPr>
          <p:cNvPr id="6" name="Picture 5" descr="6_sample27_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54480"/>
            <a:ext cx="10332720" cy="4023360"/>
          </a:xfrm>
          <a:prstGeom prst="rect">
            <a:avLst/>
          </a:prstGeom>
          <a:ln w="6350">
            <a:solidFill>
              <a:srgbClr val="77889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133856" y="5669280"/>
            <a:ext cx="8349978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dirty="0">
                <a:solidFill>
                  <a:srgbClr val="D85218"/>
                </a:solidFill>
              </a:rPr>
              <a:t>▸ </a:t>
            </a:r>
            <a:r>
              <a:rPr sz="1600" dirty="0">
                <a:solidFill>
                  <a:srgbClr val="FFFFFF"/>
                </a:solidFill>
              </a:rPr>
              <a:t>Type name z char-code compare:  </a:t>
            </a:r>
            <a:r>
              <a:rPr lang="en-US" sz="1600" dirty="0">
                <a:solidFill>
                  <a:srgbClr val="FFFFFF"/>
                </a:solidFill>
              </a:rPr>
              <a:t>  </a:t>
            </a:r>
            <a:r>
              <a:rPr sz="1600" dirty="0">
                <a:solidFill>
                  <a:srgbClr val="FFFFFF"/>
                </a:solidFill>
                <a:latin typeface="Abadi" panose="020B0604020104020204" pitchFamily="34" charset="0"/>
              </a:rPr>
              <a:t>[int][char]$k[0] -eq 65   (= 'A')</a:t>
            </a:r>
          </a:p>
          <a:p>
            <a:pPr algn="l"/>
            <a:r>
              <a:rPr sz="1600" b="1" dirty="0">
                <a:solidFill>
                  <a:srgbClr val="D85218"/>
                </a:solidFill>
              </a:rPr>
              <a:t>▸ </a:t>
            </a:r>
            <a:r>
              <a:rPr sz="1600" dirty="0">
                <a:solidFill>
                  <a:srgbClr val="FFFFFF"/>
                </a:solidFill>
              </a:rPr>
              <a:t>Method name z base64: </a:t>
            </a:r>
            <a:r>
              <a:rPr lang="en-US" sz="1600" dirty="0">
                <a:solidFill>
                  <a:srgbClr val="FFFFFF"/>
                </a:solidFill>
              </a:rPr>
              <a:t>  		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>
                <a:solidFill>
                  <a:srgbClr val="FFFFFF"/>
                </a:solidFill>
                <a:latin typeface="Abadi" panose="020B0604020104020204" pitchFamily="34" charset="0"/>
              </a:rPr>
              <a:t>'RGxsR2V0Q2xhc3NPYmplY3Q='  →  </a:t>
            </a:r>
            <a:r>
              <a:rPr sz="1600" dirty="0" err="1">
                <a:solidFill>
                  <a:srgbClr val="FFFFFF"/>
                </a:solidFill>
                <a:latin typeface="Abadi" panose="020B0604020104020204" pitchFamily="34" charset="0"/>
              </a:rPr>
              <a:t>DllGetClassObject</a:t>
            </a:r>
            <a:endParaRPr sz="1600" dirty="0">
              <a:solidFill>
                <a:srgbClr val="FFFFFF"/>
              </a:solidFill>
              <a:latin typeface="Abadi" panose="020B0604020104020204" pitchFamily="34" charset="0"/>
            </a:endParaRPr>
          </a:p>
          <a:p>
            <a:pPr algn="l"/>
            <a:r>
              <a:rPr sz="1600" b="1" dirty="0">
                <a:solidFill>
                  <a:srgbClr val="D85218"/>
                </a:solidFill>
              </a:rPr>
              <a:t>▸ </a:t>
            </a:r>
            <a:r>
              <a:rPr sz="1600" dirty="0">
                <a:solidFill>
                  <a:srgbClr val="FFFFFF"/>
                </a:solidFill>
              </a:rPr>
              <a:t>Attribute name z </a:t>
            </a:r>
            <a:r>
              <a:rPr sz="1600" dirty="0" err="1">
                <a:solidFill>
                  <a:srgbClr val="FFFFFF"/>
                </a:solidFill>
              </a:rPr>
              <a:t>konkatenacji</a:t>
            </a:r>
            <a:r>
              <a:rPr sz="1600" dirty="0">
                <a:solidFill>
                  <a:srgbClr val="FFFFFF"/>
                </a:solidFill>
              </a:rPr>
              <a:t>:  </a:t>
            </a:r>
            <a:r>
              <a:rPr lang="en-US" sz="1600" dirty="0">
                <a:solidFill>
                  <a:srgbClr val="FFFFFF"/>
                </a:solidFill>
              </a:rPr>
              <a:t>       </a:t>
            </a:r>
            <a:r>
              <a:rPr sz="1600" dirty="0">
                <a:solidFill>
                  <a:srgbClr val="FFFFFF"/>
                </a:solidFill>
                <a:latin typeface="Abadi" panose="020B060402010402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'Unmanaged' + '</a:t>
            </a:r>
            <a:r>
              <a:rPr sz="1600" dirty="0" err="1">
                <a:solidFill>
                  <a:srgbClr val="FFFFFF"/>
                </a:solidFill>
                <a:latin typeface="Abadi" panose="020B060402010402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FunctionPointer</a:t>
            </a:r>
            <a:r>
              <a:rPr sz="1600" dirty="0">
                <a:solidFill>
                  <a:srgbClr val="FFFFFF"/>
                </a:solidFill>
                <a:latin typeface="Abadi" panose="020B060402010402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'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D85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V.4b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Act 4  —  ⭐ PUNCH  ⭐  ps-parser-cli says 'Suspicious'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060704"/>
            <a:ext cx="8993809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0" i="1" dirty="0">
                <a:solidFill>
                  <a:schemeClr val="accent2"/>
                </a:solidFill>
              </a:rPr>
              <a:t>Best static engine recovers </a:t>
            </a:r>
            <a:r>
              <a:rPr b="0" i="1" dirty="0" err="1">
                <a:solidFill>
                  <a:schemeClr val="accent2"/>
                </a:solidFill>
              </a:rPr>
              <a:t>DllGetClassObject</a:t>
            </a:r>
            <a:r>
              <a:rPr b="0" i="1" dirty="0">
                <a:solidFill>
                  <a:schemeClr val="accent2"/>
                </a:solidFill>
              </a:rPr>
              <a:t> from base64. But cannot reach BYPASS verdict.</a:t>
            </a:r>
          </a:p>
        </p:txBody>
      </p:sp>
      <p:pic>
        <p:nvPicPr>
          <p:cNvPr id="6" name="Picture 5" descr="7_pscli_sample27_suspicio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554480"/>
            <a:ext cx="6675120" cy="4206240"/>
          </a:xfrm>
          <a:prstGeom prst="rect">
            <a:avLst/>
          </a:prstGeom>
          <a:ln w="6350">
            <a:solidFill>
              <a:srgbClr val="778899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731520" y="5852160"/>
            <a:ext cx="10698480" cy="685800"/>
          </a:xfrm>
          <a:prstGeom prst="rect">
            <a:avLst/>
          </a:prstGeom>
          <a:solidFill>
            <a:srgbClr val="2A3B4D"/>
          </a:solidFill>
          <a:ln w="2540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08779" y="5943600"/>
            <a:ext cx="8143961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 dirty="0">
                <a:solidFill>
                  <a:schemeClr val="tx1">
                    <a:lumMod val="85000"/>
                  </a:schemeClr>
                </a:solidFill>
              </a:rPr>
              <a:t>status = Suspicious    •    confidence = 24    •    </a:t>
            </a:r>
            <a:r>
              <a:rPr sz="1300" b="1" i="0" dirty="0" err="1">
                <a:solidFill>
                  <a:schemeClr val="tx1">
                    <a:lumMod val="85000"/>
                  </a:schemeClr>
                </a:solidFill>
              </a:rPr>
              <a:t>is_amsi_bypass</a:t>
            </a:r>
            <a:r>
              <a:rPr sz="1300" b="1" i="0" dirty="0">
                <a:solidFill>
                  <a:schemeClr val="tx1">
                    <a:lumMod val="85000"/>
                  </a:schemeClr>
                </a:solidFill>
              </a:rPr>
              <a:t> = false    •    indicators: </a:t>
            </a:r>
            <a:r>
              <a:rPr sz="1300" b="1" i="0" dirty="0" err="1">
                <a:solidFill>
                  <a:schemeClr val="tx1">
                    <a:lumMod val="85000"/>
                  </a:schemeClr>
                </a:solidFill>
              </a:rPr>
              <a:t>ComManipulation</a:t>
            </a:r>
            <a:r>
              <a:rPr sz="1300" b="1" i="0" dirty="0">
                <a:solidFill>
                  <a:schemeClr val="tx1">
                    <a:lumMod val="85000"/>
                  </a:schemeClr>
                </a:solidFill>
              </a:rPr>
              <a:t> ×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D85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V.4c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Act 4  —  Suspicious is NOT a block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066276"/>
            <a:ext cx="852387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0" i="1" dirty="0">
                <a:solidFill>
                  <a:schemeClr val="accent2"/>
                </a:solidFill>
              </a:rPr>
              <a:t>Provider returns CLEAN to AMSI (</a:t>
            </a:r>
            <a:r>
              <a:rPr b="0" i="1" dirty="0" err="1">
                <a:solidFill>
                  <a:schemeClr val="accent2"/>
                </a:solidFill>
              </a:rPr>
              <a:t>is_amsi_bypass</a:t>
            </a:r>
            <a:r>
              <a:rPr b="0" i="1" dirty="0">
                <a:solidFill>
                  <a:schemeClr val="accent2"/>
                </a:solidFill>
              </a:rPr>
              <a:t>=false). PowerShell executes the script.</a:t>
            </a:r>
          </a:p>
        </p:txBody>
      </p:sp>
      <p:pic>
        <p:nvPicPr>
          <p:cNvPr id="6" name="Picture 5" descr="7_pscli_sample27_not_bloc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554480"/>
            <a:ext cx="9418320" cy="4114800"/>
          </a:xfrm>
          <a:prstGeom prst="rect">
            <a:avLst/>
          </a:prstGeom>
          <a:ln w="6350">
            <a:solidFill>
              <a:srgbClr val="778899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731520" y="5760720"/>
            <a:ext cx="10698480" cy="777240"/>
          </a:xfrm>
          <a:prstGeom prst="rect">
            <a:avLst/>
          </a:prstGeom>
          <a:solidFill>
            <a:srgbClr val="2A3B4D"/>
          </a:solidFill>
          <a:ln w="2540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818809" y="5852160"/>
            <a:ext cx="6523901" cy="292388"/>
          </a:xfrm>
          <a:prstGeom prst="rect">
            <a:avLst/>
          </a:prstGeom>
          <a:noFill/>
          <a:ln>
            <a:solidFill>
              <a:schemeClr val="tx1">
                <a:lumMod val="75000"/>
              </a:schemeClr>
            </a:solidFill>
          </a:ln>
        </p:spPr>
        <p:txBody>
          <a:bodyPr wrap="none">
            <a:spAutoFit/>
          </a:bodyPr>
          <a:lstStyle/>
          <a:p>
            <a:pPr algn="ctr"/>
            <a:r>
              <a:rPr sz="1300" b="1" i="0" dirty="0">
                <a:solidFill>
                  <a:schemeClr val="tx1">
                    <a:lumMod val="95000"/>
                  </a:schemeClr>
                </a:solidFill>
              </a:rPr>
              <a:t>To jest </a:t>
            </a:r>
            <a:r>
              <a:rPr sz="1300" b="1" i="0" dirty="0" err="1">
                <a:solidFill>
                  <a:schemeClr val="tx1">
                    <a:lumMod val="95000"/>
                  </a:schemeClr>
                </a:solidFill>
              </a:rPr>
              <a:t>pułap</a:t>
            </a:r>
            <a:r>
              <a:rPr sz="1300" b="1" i="0" dirty="0">
                <a:solidFill>
                  <a:schemeClr val="tx1">
                    <a:lumMod val="95000"/>
                  </a:schemeClr>
                </a:solidFill>
              </a:rPr>
              <a:t> </a:t>
            </a:r>
            <a:r>
              <a:rPr sz="1300" b="1" i="0" dirty="0" err="1">
                <a:solidFill>
                  <a:schemeClr val="tx1">
                    <a:lumMod val="95000"/>
                  </a:schemeClr>
                </a:solidFill>
              </a:rPr>
              <a:t>statyki</a:t>
            </a:r>
            <a:r>
              <a:rPr sz="1300" b="1" i="0" dirty="0">
                <a:solidFill>
                  <a:schemeClr val="tx1">
                    <a:lumMod val="95000"/>
                  </a:schemeClr>
                </a:solidFill>
              </a:rPr>
              <a:t> w </a:t>
            </a:r>
            <a:r>
              <a:rPr sz="1300" b="1" i="0" dirty="0" err="1">
                <a:solidFill>
                  <a:schemeClr val="tx1">
                    <a:lumMod val="95000"/>
                  </a:schemeClr>
                </a:solidFill>
              </a:rPr>
              <a:t>działaniu</a:t>
            </a:r>
            <a:r>
              <a:rPr sz="1300" b="1" i="0" dirty="0">
                <a:solidFill>
                  <a:schemeClr val="tx1">
                    <a:lumMod val="95000"/>
                  </a:schemeClr>
                </a:solidFill>
              </a:rPr>
              <a:t>.  </a:t>
            </a:r>
            <a:r>
              <a:rPr sz="1300" b="1" i="0" dirty="0" err="1">
                <a:solidFill>
                  <a:schemeClr val="tx1">
                    <a:lumMod val="95000"/>
                  </a:schemeClr>
                </a:solidFill>
              </a:rPr>
              <a:t>Silnik</a:t>
            </a:r>
            <a:r>
              <a:rPr sz="1300" b="1" i="0" dirty="0">
                <a:solidFill>
                  <a:schemeClr val="tx1">
                    <a:lumMod val="95000"/>
                  </a:schemeClr>
                </a:solidFill>
              </a:rPr>
              <a:t> </a:t>
            </a:r>
            <a:r>
              <a:rPr sz="1300" b="1" i="0" dirty="0" err="1">
                <a:solidFill>
                  <a:schemeClr val="tx1">
                    <a:lumMod val="95000"/>
                  </a:schemeClr>
                </a:solidFill>
              </a:rPr>
              <a:t>widzi</a:t>
            </a:r>
            <a:r>
              <a:rPr sz="1300" b="1" i="0" dirty="0">
                <a:solidFill>
                  <a:schemeClr val="tx1">
                    <a:lumMod val="95000"/>
                  </a:schemeClr>
                </a:solidFill>
              </a:rPr>
              <a:t> </a:t>
            </a:r>
            <a:r>
              <a:rPr sz="1300" b="1" i="0" dirty="0" err="1">
                <a:solidFill>
                  <a:schemeClr val="tx1">
                    <a:lumMod val="95000"/>
                  </a:schemeClr>
                </a:solidFill>
              </a:rPr>
              <a:t>pęknięcie</a:t>
            </a:r>
            <a:r>
              <a:rPr sz="1300" b="1" i="0" dirty="0">
                <a:solidFill>
                  <a:schemeClr val="tx1">
                    <a:lumMod val="95000"/>
                  </a:schemeClr>
                </a:solidFill>
              </a:rPr>
              <a:t>, </a:t>
            </a:r>
            <a:r>
              <a:rPr sz="1300" b="1" i="0" dirty="0" err="1">
                <a:solidFill>
                  <a:schemeClr val="tx1">
                    <a:lumMod val="95000"/>
                  </a:schemeClr>
                </a:solidFill>
              </a:rPr>
              <a:t>nie</a:t>
            </a:r>
            <a:r>
              <a:rPr sz="1300" b="1" i="0" dirty="0">
                <a:solidFill>
                  <a:schemeClr val="tx1">
                    <a:lumMod val="95000"/>
                  </a:schemeClr>
                </a:solidFill>
              </a:rPr>
              <a:t> ma </a:t>
            </a:r>
            <a:r>
              <a:rPr sz="1300" b="1" i="0" dirty="0" err="1">
                <a:solidFill>
                  <a:schemeClr val="tx1">
                    <a:lumMod val="95000"/>
                  </a:schemeClr>
                </a:solidFill>
              </a:rPr>
              <a:t>dowodu</a:t>
            </a:r>
            <a:r>
              <a:rPr sz="1300" b="1" i="0" dirty="0">
                <a:solidFill>
                  <a:schemeClr val="tx1">
                    <a:lumMod val="95000"/>
                  </a:schemeClr>
                </a:solidFill>
              </a:rPr>
              <a:t> </a:t>
            </a:r>
            <a:r>
              <a:rPr sz="1300" b="1" i="0" dirty="0" err="1">
                <a:solidFill>
                  <a:schemeClr val="tx1">
                    <a:lumMod val="95000"/>
                  </a:schemeClr>
                </a:solidFill>
              </a:rPr>
              <a:t>na</a:t>
            </a:r>
            <a:r>
              <a:rPr sz="1300" b="1" i="0" dirty="0">
                <a:solidFill>
                  <a:schemeClr val="tx1">
                    <a:lumMod val="95000"/>
                  </a:schemeClr>
                </a:solidFill>
              </a:rPr>
              <a:t> bypass.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722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1">
                <a:solidFill>
                  <a:srgbClr val="FFFFFF"/>
                </a:solidFill>
              </a:rPr>
              <a:t>Behavioral observation closes the gap.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D85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V.5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Act 5  —  Layer 2 (kernel) catches the recon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750269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0" i="1" dirty="0" err="1">
                <a:solidFill>
                  <a:schemeClr val="accent2"/>
                </a:solidFill>
              </a:rPr>
              <a:t>Każdy</a:t>
            </a:r>
            <a:r>
              <a:rPr b="0" i="1" dirty="0">
                <a:solidFill>
                  <a:schemeClr val="accent2"/>
                </a:solidFill>
              </a:rPr>
              <a:t> </a:t>
            </a:r>
            <a:r>
              <a:rPr b="0" i="1" dirty="0" err="1">
                <a:solidFill>
                  <a:schemeClr val="accent2"/>
                </a:solidFill>
              </a:rPr>
              <a:t>OpenSubKey</a:t>
            </a:r>
            <a:r>
              <a:rPr b="0" i="1" dirty="0">
                <a:solidFill>
                  <a:schemeClr val="accent2"/>
                </a:solidFill>
              </a:rPr>
              <a:t> z \AMSI\ w </a:t>
            </a:r>
            <a:r>
              <a:rPr b="0" i="1" dirty="0" err="1">
                <a:solidFill>
                  <a:schemeClr val="accent2"/>
                </a:solidFill>
              </a:rPr>
              <a:t>ścieżce</a:t>
            </a:r>
            <a:r>
              <a:rPr b="0" i="1" dirty="0">
                <a:solidFill>
                  <a:schemeClr val="accent2"/>
                </a:solidFill>
              </a:rPr>
              <a:t>  →  event AMSI-RECON w </a:t>
            </a:r>
            <a:r>
              <a:rPr b="0" i="1" dirty="0" err="1">
                <a:solidFill>
                  <a:schemeClr val="accent2"/>
                </a:solidFill>
              </a:rPr>
              <a:t>sysmon</a:t>
            </a:r>
            <a:r>
              <a:rPr b="0" i="1" dirty="0">
                <a:solidFill>
                  <a:schemeClr val="accent2"/>
                </a:solidFill>
              </a:rPr>
              <a:t>-um.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5172" y="5226528"/>
            <a:ext cx="10698480" cy="502920"/>
          </a:xfrm>
          <a:prstGeom prst="rect">
            <a:avLst/>
          </a:prstGeom>
          <a:solidFill>
            <a:srgbClr val="2A3B4D"/>
          </a:solidFill>
          <a:ln w="2540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80915" y="5331794"/>
            <a:ext cx="6599692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 dirty="0" err="1">
                <a:solidFill>
                  <a:schemeClr val="tx1">
                    <a:lumMod val="85000"/>
                  </a:schemeClr>
                </a:solidFill>
              </a:rPr>
              <a:t>Żadna</a:t>
            </a:r>
            <a:r>
              <a:rPr sz="1300" b="1" i="0" dirty="0">
                <a:solidFill>
                  <a:schemeClr val="tx1">
                    <a:lumMod val="85000"/>
                  </a:schemeClr>
                </a:solidFill>
              </a:rPr>
              <a:t> </a:t>
            </a:r>
            <a:r>
              <a:rPr lang="en-US" sz="1300" b="1" i="0" dirty="0" err="1">
                <a:solidFill>
                  <a:schemeClr val="tx1">
                    <a:lumMod val="85000"/>
                  </a:schemeClr>
                </a:solidFill>
              </a:rPr>
              <a:t>legalna</a:t>
            </a:r>
            <a:r>
              <a:rPr lang="en-US" sz="1300" b="1" i="0" dirty="0">
                <a:solidFill>
                  <a:schemeClr val="tx1">
                    <a:lumMod val="85000"/>
                  </a:schemeClr>
                </a:solidFill>
              </a:rPr>
              <a:t>/</a:t>
            </a:r>
            <a:r>
              <a:rPr lang="en-US" sz="1300" b="1" i="0" dirty="0" err="1">
                <a:solidFill>
                  <a:schemeClr val="tx1">
                    <a:lumMod val="85000"/>
                  </a:schemeClr>
                </a:solidFill>
              </a:rPr>
              <a:t>czysta</a:t>
            </a:r>
            <a:r>
              <a:rPr sz="1300" b="1" i="0" dirty="0">
                <a:solidFill>
                  <a:schemeClr val="tx1">
                    <a:lumMod val="85000"/>
                  </a:schemeClr>
                </a:solidFill>
              </a:rPr>
              <a:t> </a:t>
            </a:r>
            <a:r>
              <a:rPr sz="1300" b="1" i="0" dirty="0" err="1">
                <a:solidFill>
                  <a:schemeClr val="tx1">
                    <a:lumMod val="85000"/>
                  </a:schemeClr>
                </a:solidFill>
              </a:rPr>
              <a:t>aplikacja</a:t>
            </a:r>
            <a:r>
              <a:rPr sz="1300" b="1" i="0" dirty="0">
                <a:solidFill>
                  <a:schemeClr val="tx1">
                    <a:lumMod val="85000"/>
                  </a:schemeClr>
                </a:solidFill>
              </a:rPr>
              <a:t> </a:t>
            </a:r>
            <a:r>
              <a:rPr sz="1300" b="1" i="0" dirty="0" err="1">
                <a:solidFill>
                  <a:schemeClr val="tx1">
                    <a:lumMod val="85000"/>
                  </a:schemeClr>
                </a:solidFill>
              </a:rPr>
              <a:t>nie</a:t>
            </a:r>
            <a:r>
              <a:rPr sz="1300" b="1" i="0" dirty="0">
                <a:solidFill>
                  <a:schemeClr val="tx1">
                    <a:lumMod val="85000"/>
                  </a:schemeClr>
                </a:solidFill>
              </a:rPr>
              <a:t> </a:t>
            </a:r>
            <a:r>
              <a:rPr sz="1300" b="1" i="0" dirty="0" err="1">
                <a:solidFill>
                  <a:schemeClr val="tx1">
                    <a:lumMod val="85000"/>
                  </a:schemeClr>
                </a:solidFill>
              </a:rPr>
              <a:t>czyta</a:t>
            </a:r>
            <a:r>
              <a:rPr sz="1300" b="1" i="0" dirty="0">
                <a:solidFill>
                  <a:schemeClr val="tx1">
                    <a:lumMod val="85000"/>
                  </a:schemeClr>
                </a:solidFill>
              </a:rPr>
              <a:t> </a:t>
            </a:r>
            <a:r>
              <a:rPr sz="1300" b="1" i="0" dirty="0" err="1">
                <a:solidFill>
                  <a:schemeClr val="tx1">
                    <a:lumMod val="85000"/>
                  </a:schemeClr>
                </a:solidFill>
              </a:rPr>
              <a:t>tych</a:t>
            </a:r>
            <a:r>
              <a:rPr sz="1300" b="1" i="0" dirty="0">
                <a:solidFill>
                  <a:schemeClr val="tx1">
                    <a:lumMod val="85000"/>
                  </a:schemeClr>
                </a:solidFill>
              </a:rPr>
              <a:t> </a:t>
            </a:r>
            <a:r>
              <a:rPr sz="1300" b="1" i="0" dirty="0" err="1">
                <a:solidFill>
                  <a:schemeClr val="tx1">
                    <a:lumMod val="85000"/>
                  </a:schemeClr>
                </a:solidFill>
              </a:rPr>
              <a:t>kluczy</a:t>
            </a:r>
            <a:r>
              <a:rPr sz="1300" b="1" i="0" dirty="0">
                <a:solidFill>
                  <a:schemeClr val="tx1">
                    <a:lumMod val="85000"/>
                  </a:schemeClr>
                </a:solidFill>
              </a:rPr>
              <a:t>.  </a:t>
            </a:r>
            <a:r>
              <a:rPr sz="1300" b="1" i="0" dirty="0" err="1">
                <a:solidFill>
                  <a:schemeClr val="tx1">
                    <a:lumMod val="85000"/>
                  </a:schemeClr>
                </a:solidFill>
              </a:rPr>
              <a:t>Decyzja</a:t>
            </a:r>
            <a:r>
              <a:rPr sz="1300" b="1" i="0" dirty="0">
                <a:solidFill>
                  <a:schemeClr val="tx1">
                    <a:lumMod val="85000"/>
                  </a:schemeClr>
                </a:solidFill>
              </a:rPr>
              <a:t> w 10 </a:t>
            </a:r>
            <a:r>
              <a:rPr sz="1300" b="1" i="0" dirty="0" err="1">
                <a:solidFill>
                  <a:schemeClr val="tx1">
                    <a:lumMod val="85000"/>
                  </a:schemeClr>
                </a:solidFill>
              </a:rPr>
              <a:t>ms.</a:t>
            </a:r>
            <a:r>
              <a:rPr sz="1300" b="1" i="0" dirty="0">
                <a:solidFill>
                  <a:schemeClr val="tx1">
                    <a:lumMod val="85000"/>
                  </a:schemeClr>
                </a:solidFill>
              </a:rPr>
              <a:t>  </a:t>
            </a:r>
            <a:r>
              <a:rPr sz="1300" b="1" i="0" dirty="0" err="1">
                <a:solidFill>
                  <a:schemeClr val="tx1">
                    <a:lumMod val="85000"/>
                  </a:schemeClr>
                </a:solidFill>
              </a:rPr>
              <a:t>Definitywna</a:t>
            </a:r>
            <a:r>
              <a:rPr sz="1300" b="1" i="0" dirty="0">
                <a:solidFill>
                  <a:schemeClr val="tx1">
                    <a:lumMod val="85000"/>
                  </a:schemeClr>
                </a:solidFill>
              </a:rPr>
              <a:t>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C37F17C-1F44-524C-518E-C863A57C3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" y="2028504"/>
            <a:ext cx="12188825" cy="284671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D85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Summary — detection gradient on sample 27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657600" cy="4572000"/>
          </a:xfrm>
          <a:prstGeom prst="rect">
            <a:avLst/>
          </a:prstGeom>
          <a:solidFill>
            <a:srgbClr val="2A3B4D"/>
          </a:solidFill>
          <a:ln w="25400">
            <a:solidFill>
              <a:srgbClr val="778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778899"/>
                </a:solidFill>
              </a:rPr>
              <a:t>Naive static parser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78899"/>
                </a:solidFill>
              </a:rPr>
              <a:t>AST + literal-string 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329184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D85218"/>
                </a:solidFill>
              </a:rPr>
              <a:t>▸ </a:t>
            </a:r>
            <a:r>
              <a:rPr sz="1200">
                <a:solidFill>
                  <a:srgbClr val="AABBCC"/>
                </a:solidFill>
              </a:rPr>
              <a:t>Widzi: literal AMSI</a:t>
            </a:r>
          </a:p>
          <a:p>
            <a:pPr algn="l"/>
            <a:r>
              <a:rPr sz="1200" b="1">
                <a:solidFill>
                  <a:srgbClr val="D85218"/>
                </a:solidFill>
              </a:rPr>
              <a:t>▸ </a:t>
            </a:r>
            <a:r>
              <a:rPr sz="1200">
                <a:solidFill>
                  <a:srgbClr val="AABBCC"/>
                </a:solidFill>
              </a:rPr>
              <a:t>Widzi: literal AmsiUtils</a:t>
            </a:r>
          </a:p>
          <a:p>
            <a:pPr algn="l"/>
            <a:r>
              <a:rPr sz="1200" b="1">
                <a:solidFill>
                  <a:srgbClr val="D85218"/>
                </a:solidFill>
              </a:rPr>
              <a:t>▸ </a:t>
            </a:r>
            <a:r>
              <a:rPr sz="1200">
                <a:solidFill>
                  <a:srgbClr val="AABBCC"/>
                </a:solidFill>
              </a:rPr>
              <a:t>Widzi: amsiInitFailed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937760"/>
            <a:ext cx="3291840" cy="777240"/>
          </a:xfrm>
          <a:prstGeom prst="rect">
            <a:avLst/>
          </a:prstGeom>
          <a:solidFill>
            <a:srgbClr val="1A2B3C"/>
          </a:solidFill>
          <a:ln w="12700">
            <a:solidFill>
              <a:srgbClr val="778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4983480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 i="0">
                <a:solidFill>
                  <a:srgbClr val="778899"/>
                </a:solidFill>
              </a:rPr>
              <a:t>Clean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44068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778899"/>
                </a:solidFill>
              </a:rPr>
              <a:t>no signal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1371600"/>
            <a:ext cx="3657600" cy="4572000"/>
          </a:xfrm>
          <a:prstGeom prst="rect">
            <a:avLst/>
          </a:prstGeom>
          <a:solidFill>
            <a:srgbClr val="2A3B4D"/>
          </a:solidFill>
          <a:ln w="25400">
            <a:solidFill>
              <a:srgbClr val="D85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0" y="155448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D85218"/>
                </a:solidFill>
              </a:rPr>
              <a:t>ps-parser-cli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96596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D85218"/>
                </a:solidFill>
              </a:rPr>
              <a:t>Rust + recursive base64 + 30 predykatów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468880"/>
            <a:ext cx="329184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D85218"/>
                </a:solidFill>
              </a:rPr>
              <a:t>▸ </a:t>
            </a:r>
            <a:r>
              <a:rPr sz="1200">
                <a:solidFill>
                  <a:srgbClr val="FFFFFF"/>
                </a:solidFill>
              </a:rPr>
              <a:t>Wyciąga DllGetClassObject z b64</a:t>
            </a:r>
          </a:p>
          <a:p>
            <a:pPr algn="l"/>
            <a:r>
              <a:rPr sz="1200" b="1">
                <a:solidFill>
                  <a:srgbClr val="D85218"/>
                </a:solidFill>
              </a:rPr>
              <a:t>▸ </a:t>
            </a:r>
            <a:r>
              <a:rPr sz="1200">
                <a:solidFill>
                  <a:srgbClr val="FFFFFF"/>
                </a:solidFill>
              </a:rPr>
              <a:t>Łapie ComManipulation</a:t>
            </a:r>
          </a:p>
          <a:p>
            <a:pPr algn="l"/>
            <a:r>
              <a:rPr sz="1200" b="1">
                <a:solidFill>
                  <a:srgbClr val="D85218"/>
                </a:solidFill>
              </a:rPr>
              <a:t>▸ </a:t>
            </a:r>
            <a:r>
              <a:rPr sz="1200">
                <a:solidFill>
                  <a:srgbClr val="FFFFFF"/>
                </a:solidFill>
              </a:rPr>
              <a:t>Sygnał — ale bez literalnego</a:t>
            </a:r>
          </a:p>
          <a:p>
            <a:pPr algn="l"/>
            <a:r>
              <a:rPr sz="1200" b="1">
                <a:solidFill>
                  <a:srgbClr val="D85218"/>
                </a:solidFill>
              </a:rPr>
              <a:t>▸ </a:t>
            </a:r>
            <a:r>
              <a:rPr sz="1200">
                <a:solidFill>
                  <a:srgbClr val="FFFFFF"/>
                </a:solidFill>
              </a:rPr>
              <a:t>AMSI w żadnej formie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4937760"/>
            <a:ext cx="3291840" cy="777240"/>
          </a:xfrm>
          <a:prstGeom prst="rect">
            <a:avLst/>
          </a:prstGeom>
          <a:solidFill>
            <a:srgbClr val="1A2B3C"/>
          </a:solidFill>
          <a:ln w="12700">
            <a:solidFill>
              <a:srgbClr val="D85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0" y="4983480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 i="0">
                <a:solidFill>
                  <a:srgbClr val="D85218"/>
                </a:solidFill>
              </a:rPr>
              <a:t>Suspicious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44068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D85218"/>
                </a:solidFill>
              </a:rPr>
              <a:t>widzi pęknięcie — ale nie dowód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1371600"/>
            <a:ext cx="3657600" cy="4572000"/>
          </a:xfrm>
          <a:prstGeom prst="rect">
            <a:avLst/>
          </a:prstGeom>
          <a:solidFill>
            <a:srgbClr val="2A3B4D"/>
          </a:solidFill>
          <a:ln w="25400">
            <a:solidFill>
              <a:srgbClr val="7BA7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03919" y="155448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7BA79D"/>
                </a:solidFill>
              </a:rPr>
              <a:t>Layer 2 (kernel)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196596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BA79D"/>
                </a:solidFill>
              </a:rPr>
              <a:t>Behavioral — runtime observation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2468880"/>
            <a:ext cx="329184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D85218"/>
                </a:solidFill>
              </a:rPr>
              <a:t>▸ </a:t>
            </a:r>
            <a:r>
              <a:rPr sz="1200">
                <a:solidFill>
                  <a:srgbClr val="FFFFFF"/>
                </a:solidFill>
              </a:rPr>
              <a:t>Process otwiera \AMSI\ key</a:t>
            </a:r>
          </a:p>
          <a:p>
            <a:pPr algn="l"/>
            <a:r>
              <a:rPr sz="1200" b="1">
                <a:solidFill>
                  <a:srgbClr val="D85218"/>
                </a:solidFill>
              </a:rPr>
              <a:t>▸ </a:t>
            </a:r>
            <a:r>
              <a:rPr sz="1200">
                <a:solidFill>
                  <a:srgbClr val="FFFFFF"/>
                </a:solidFill>
              </a:rPr>
              <a:t>Niezależne od literałów</a:t>
            </a:r>
          </a:p>
          <a:p>
            <a:pPr algn="l"/>
            <a:r>
              <a:rPr sz="1200" b="1">
                <a:solidFill>
                  <a:srgbClr val="D85218"/>
                </a:solidFill>
              </a:rPr>
              <a:t>▸ </a:t>
            </a:r>
            <a:r>
              <a:rPr sz="1200">
                <a:solidFill>
                  <a:srgbClr val="FFFFFF"/>
                </a:solidFill>
              </a:rPr>
              <a:t>Niezależne od obfuskacji</a:t>
            </a:r>
          </a:p>
          <a:p>
            <a:pPr algn="l"/>
            <a:r>
              <a:rPr sz="1200" b="1">
                <a:solidFill>
                  <a:srgbClr val="D85218"/>
                </a:solidFill>
              </a:rPr>
              <a:t>▸ </a:t>
            </a:r>
            <a:r>
              <a:rPr sz="1200">
                <a:solidFill>
                  <a:srgbClr val="FFFFFF"/>
                </a:solidFill>
              </a:rPr>
              <a:t>Widzi realny dostęp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19" y="4937760"/>
            <a:ext cx="3291840" cy="777240"/>
          </a:xfrm>
          <a:prstGeom prst="rect">
            <a:avLst/>
          </a:prstGeom>
          <a:solidFill>
            <a:srgbClr val="1A2B3C"/>
          </a:solidFill>
          <a:ln w="12700">
            <a:solidFill>
              <a:srgbClr val="7BA7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503919" y="4983480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 i="0">
                <a:solidFill>
                  <a:srgbClr val="7BA79D"/>
                </a:solidFill>
              </a:rPr>
              <a:t>AMSI BYPASS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9" y="544068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7BA79D"/>
                </a:solidFill>
              </a:rPr>
              <a:t>definitive, 10 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08076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Statyka ma fundamentalny pułap.  Każda warstwa ma swoje miejsce.</a:t>
            </a:r>
          </a:p>
          <a:p>
            <a:pPr algn="ctr"/>
            <a:r>
              <a:rPr sz="1400" b="1" i="0">
                <a:solidFill>
                  <a:srgbClr val="FFFFFF"/>
                </a:solidFill>
              </a:rPr>
              <a:t>Defense in depth nie jest opcjonalne — jest konieczne.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97280"/>
            <a:ext cx="12188952" cy="1371600"/>
          </a:xfrm>
          <a:prstGeom prst="rect">
            <a:avLst/>
          </a:prstGeom>
          <a:solidFill>
            <a:srgbClr val="D85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1234440"/>
            <a:ext cx="121889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</a:rPr>
              <a:t>Q &amp;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1509003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 dirty="0">
                <a:solidFill>
                  <a:schemeClr val="accent2"/>
                </a:solidFill>
              </a:rPr>
              <a:t>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0457"/>
            <a:ext cx="10092315" cy="1477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dirty="0" err="1">
                <a:solidFill>
                  <a:srgbClr val="FFFFFF"/>
                </a:solidFill>
              </a:rPr>
              <a:t>ps</a:t>
            </a:r>
            <a:r>
              <a:rPr dirty="0">
                <a:solidFill>
                  <a:srgbClr val="FFFFFF"/>
                </a:solidFill>
              </a:rPr>
              <a:t>-parser   </a:t>
            </a:r>
            <a:r>
              <a:rPr lang="en-US" dirty="0">
                <a:solidFill>
                  <a:srgbClr val="FFFFFF"/>
                </a:solidFill>
              </a:rPr>
              <a:t>		</a:t>
            </a:r>
            <a:r>
              <a:rPr dirty="0">
                <a:solidFill>
                  <a:srgbClr val="FFFFFF"/>
                </a:solidFill>
              </a:rPr>
              <a:t>—  </a:t>
            </a:r>
            <a:r>
              <a:rPr lang="en-US" dirty="0">
                <a:solidFill>
                  <a:srgbClr val="FFFFFF"/>
                </a:solidFill>
              </a:rPr>
              <a:t> 			</a:t>
            </a:r>
            <a:r>
              <a:rPr lang="en-US" dirty="0">
                <a:solidFill>
                  <a:srgbClr val="FFFFFF"/>
                </a:solidFill>
                <a:hlinkClick r:id="rId2"/>
              </a:rPr>
              <a:t>https://crates.io/crates/ps-parser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dirty="0">
                <a:solidFill>
                  <a:srgbClr val="FFFFFF"/>
                </a:solidFill>
              </a:rPr>
              <a:t>(Rust PowerShell evaluator)</a:t>
            </a:r>
            <a:endParaRPr lang="en-US" dirty="0">
              <a:solidFill>
                <a:srgbClr val="FFFFFF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rgbClr val="FFFFFF"/>
                </a:solidFill>
              </a:rPr>
              <a:t>AmsiProviderScanDisruption</a:t>
            </a:r>
            <a:r>
              <a:rPr lang="en-US" dirty="0">
                <a:solidFill>
                  <a:srgbClr val="FFFFFF"/>
                </a:solidFill>
              </a:rPr>
              <a:t>   —   </a:t>
            </a:r>
            <a:r>
              <a:rPr lang="en-US" dirty="0">
                <a:solidFill>
                  <a:srgbClr val="FFFFFF"/>
                </a:solidFill>
                <a:hlinkClick r:id="rId3"/>
              </a:rPr>
              <a:t>https://github.com/radkum/AmsiProviderScanDisruption</a:t>
            </a:r>
            <a:r>
              <a:rPr lang="en-US" dirty="0">
                <a:solidFill>
                  <a:srgbClr val="FFFFFF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rgbClr val="FFFFFF"/>
                </a:solidFill>
              </a:rPr>
              <a:t>sysmon-rs</a:t>
            </a:r>
            <a:r>
              <a:rPr lang="en-US" dirty="0">
                <a:solidFill>
                  <a:srgbClr val="FFFFFF"/>
                </a:solidFill>
              </a:rPr>
              <a:t>   		—			</a:t>
            </a:r>
            <a:r>
              <a:rPr lang="en-US" dirty="0">
                <a:solidFill>
                  <a:srgbClr val="FFFFFF"/>
                </a:solidFill>
                <a:hlinkClick r:id="rId4"/>
              </a:rPr>
              <a:t>https://github.com/radkum/sysmon-rs</a:t>
            </a:r>
            <a:r>
              <a:rPr lang="en-US" dirty="0">
                <a:solidFill>
                  <a:srgbClr val="FFFFFF"/>
                </a:solidFill>
              </a:rPr>
              <a:t> (Rust Sysmon driver)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FFFF"/>
                </a:solidFill>
              </a:rPr>
              <a:t>Confidence   		— 			</a:t>
            </a:r>
            <a:r>
              <a:rPr lang="en-US" dirty="0">
                <a:solidFill>
                  <a:srgbClr val="FFFFFF"/>
                </a:solidFill>
                <a:hlinkClick r:id="rId5"/>
              </a:rPr>
              <a:t>https://github.com/radkum/confidence_2026</a:t>
            </a:r>
            <a:r>
              <a:rPr lang="en-US" dirty="0">
                <a:solidFill>
                  <a:srgbClr val="FFFFFF"/>
                </a:solidFill>
              </a:rPr>
              <a:t> (Presentation)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FFFF"/>
                </a:solidFill>
              </a:rPr>
              <a:t>AMSI documentation   	—  		</a:t>
            </a:r>
            <a:r>
              <a:rPr lang="en-US" dirty="0">
                <a:solidFill>
                  <a:srgbClr val="FFFFFF"/>
                </a:solidFill>
                <a:hlinkClick r:id="rId6"/>
              </a:rPr>
              <a:t>https://learn.microsoft.com/en-us/windows/win32/AMSI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562120" y="6217920"/>
            <a:ext cx="506472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 dirty="0">
                <a:solidFill>
                  <a:srgbClr val="AABBCC"/>
                </a:solidFill>
              </a:rPr>
              <a:t>Radosław Kumorek   •   </a:t>
            </a:r>
            <a:r>
              <a:rPr lang="en-US" sz="1300" b="0" i="0" dirty="0">
                <a:solidFill>
                  <a:srgbClr val="AABBCC"/>
                </a:solidFill>
              </a:rPr>
              <a:t>github.com/</a:t>
            </a:r>
            <a:r>
              <a:rPr lang="en-US" sz="1300" b="0" i="0" dirty="0" err="1">
                <a:solidFill>
                  <a:srgbClr val="AABBCC"/>
                </a:solidFill>
              </a:rPr>
              <a:t>radkum</a:t>
            </a:r>
            <a:r>
              <a:rPr lang="en-US" sz="1300" b="0" i="0" dirty="0">
                <a:solidFill>
                  <a:srgbClr val="AABBCC"/>
                </a:solidFill>
              </a:rPr>
              <a:t>   •   </a:t>
            </a:r>
            <a:r>
              <a:rPr sz="1300" b="0" i="0" dirty="0">
                <a:solidFill>
                  <a:srgbClr val="AABBCC"/>
                </a:solidFill>
              </a:rPr>
              <a:t>radoslaw</a:t>
            </a:r>
            <a:r>
              <a:rPr lang="en-US" sz="1300" dirty="0">
                <a:solidFill>
                  <a:srgbClr val="AABBCC"/>
                </a:solidFill>
              </a:rPr>
              <a:t>kumorek.pl</a:t>
            </a:r>
            <a:endParaRPr sz="1300" b="0" i="0" dirty="0">
              <a:solidFill>
                <a:srgbClr val="AABBCC"/>
              </a:solidFill>
            </a:endParaRP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ambria">
      <a:majorFont>
        <a:latin typeface="Cambria" panose="02040503050406030204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mbria" panose="02040503050406030204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Metadata/LabelInfo.xml><?xml version="1.0" encoding="utf-8"?>
<clbl:labelList xmlns:clbl="http://schemas.microsoft.com/office/2020/mipLabelMetadata">
  <clbl:label id="{f1a113a7-9828-4336-bec1-94a336dde9ee}" enabled="1" method="Standard" siteId="{a1cd3436-6062-4169-a1bd-79efdcfd8a5e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99</TotalTime>
  <Words>2228</Words>
  <Application>Microsoft Office PowerPoint</Application>
  <PresentationFormat>Custom</PresentationFormat>
  <Paragraphs>348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Abadi</vt:lpstr>
      <vt:lpstr>Arial</vt:lpstr>
      <vt:lpstr>Cambria</vt:lpstr>
      <vt:lpstr>Circuit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Radosław Kumorek</cp:lastModifiedBy>
  <cp:revision>24</cp:revision>
  <dcterms:created xsi:type="dcterms:W3CDTF">2013-01-27T09:14:16Z</dcterms:created>
  <dcterms:modified xsi:type="dcterms:W3CDTF">2026-05-20T15:33:49Z</dcterms:modified>
  <cp:category/>
</cp:coreProperties>
</file>